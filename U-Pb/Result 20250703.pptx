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g"/>
  <Default Extension="mov" ContentType="application/movie"/>
  <Default Extension="pdf" ContentType="application/pdf"/>
  <Default Extension="png" ContentType="image/png"/>
  <Default Extension="rels" ContentType="application/vnd.openxmlformats-package.relationships+xml"/>
  <Default Extension="tif" ContentType="image/tif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media/image1.jpeg" ContentType="image/jpeg"/>
  <Override PartName="/ppt/media/image2.jpeg" ContentType="image/jpeg"/>
  <Override PartName="/ppt/media/image3.jpeg" ContentType="image/jpeg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12858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customXml" Target="../customXml/item2.xml"/><Relationship Id="rId3" Type="http://schemas.openxmlformats.org/officeDocument/2006/relationships/commentAuthors" Target="commentAuthors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7" Type="http://schemas.openxmlformats.org/officeDocument/2006/relationships/customXml" Target="../customXml/item1.xml"/><Relationship Id="rId2" Type="http://schemas.openxmlformats.org/officeDocument/2006/relationships/viewProps" Target="viewProps.xml"/><Relationship Id="rId16" Type="http://schemas.openxmlformats.org/officeDocument/2006/relationships/slide" Target="slides/slide9.xml"/><Relationship Id="rId1" Type="http://schemas.openxmlformats.org/officeDocument/2006/relationships/presProps" Target="presProps.xml"/><Relationship Id="rId6" Type="http://schemas.openxmlformats.org/officeDocument/2006/relationships/theme" Target="theme/theme1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customXml" Target="../customXml/item3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" name="Shape 6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85875" latinLnBrk="0">
      <a:defRPr sz="1600">
        <a:latin typeface="+mn-lt"/>
        <a:ea typeface="+mn-ea"/>
        <a:cs typeface="+mn-cs"/>
        <a:sym typeface="Helvetica Neue"/>
      </a:defRPr>
    </a:lvl1pPr>
    <a:lvl2pPr indent="228600" defTabSz="1285875" latinLnBrk="0">
      <a:defRPr sz="1600">
        <a:latin typeface="+mn-lt"/>
        <a:ea typeface="+mn-ea"/>
        <a:cs typeface="+mn-cs"/>
        <a:sym typeface="Helvetica Neue"/>
      </a:defRPr>
    </a:lvl2pPr>
    <a:lvl3pPr indent="457200" defTabSz="1285875" latinLnBrk="0">
      <a:defRPr sz="1600">
        <a:latin typeface="+mn-lt"/>
        <a:ea typeface="+mn-ea"/>
        <a:cs typeface="+mn-cs"/>
        <a:sym typeface="Helvetica Neue"/>
      </a:defRPr>
    </a:lvl3pPr>
    <a:lvl4pPr indent="685800" defTabSz="1285875" latinLnBrk="0">
      <a:defRPr sz="1600">
        <a:latin typeface="+mn-lt"/>
        <a:ea typeface="+mn-ea"/>
        <a:cs typeface="+mn-cs"/>
        <a:sym typeface="Helvetica Neue"/>
      </a:defRPr>
    </a:lvl4pPr>
    <a:lvl5pPr indent="914400" defTabSz="1285875" latinLnBrk="0">
      <a:defRPr sz="1600">
        <a:latin typeface="+mn-lt"/>
        <a:ea typeface="+mn-ea"/>
        <a:cs typeface="+mn-cs"/>
        <a:sym typeface="Helvetica Neue"/>
      </a:defRPr>
    </a:lvl5pPr>
    <a:lvl6pPr indent="1143000" defTabSz="1285875" latinLnBrk="0">
      <a:defRPr sz="1600">
        <a:latin typeface="+mn-lt"/>
        <a:ea typeface="+mn-ea"/>
        <a:cs typeface="+mn-cs"/>
        <a:sym typeface="Helvetica Neue"/>
      </a:defRPr>
    </a:lvl6pPr>
    <a:lvl7pPr indent="1371600" defTabSz="1285875" latinLnBrk="0">
      <a:defRPr sz="1600">
        <a:latin typeface="+mn-lt"/>
        <a:ea typeface="+mn-ea"/>
        <a:cs typeface="+mn-cs"/>
        <a:sym typeface="Helvetica Neue"/>
      </a:defRPr>
    </a:lvl7pPr>
    <a:lvl8pPr indent="1600200" defTabSz="1285875" latinLnBrk="0">
      <a:defRPr sz="1600">
        <a:latin typeface="+mn-lt"/>
        <a:ea typeface="+mn-ea"/>
        <a:cs typeface="+mn-cs"/>
        <a:sym typeface="Helvetica Neue"/>
      </a:defRPr>
    </a:lvl8pPr>
    <a:lvl9pPr indent="1828800" defTabSz="1285875" latinLnBrk="0">
      <a:defRPr sz="16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3308086" y="1864518"/>
            <a:ext cx="7174112" cy="144750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5791200" y="7680959"/>
            <a:ext cx="12801600" cy="34290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3962400" y="3154679"/>
            <a:ext cx="7955281" cy="905256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465817" y="2545280"/>
            <a:ext cx="12761418" cy="3448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962400" y="3154679"/>
            <a:ext cx="16459200" cy="9052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0069869" y="12755879"/>
            <a:ext cx="351731" cy="368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ransition xmlns:p14="http://schemas.microsoft.com/office/powerpoint/2010/main" spd="med" advClick="1"/>
  <p:txStyles>
    <p:titleStyle>
      <a:lvl1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8400" u="none">
          <a:solidFill>
            <a:srgbClr val="004D7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1285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object 2"/>
          <p:cNvSpPr txBox="1"/>
          <p:nvPr>
            <p:ph type="title"/>
          </p:nvPr>
        </p:nvSpPr>
        <p:spPr>
          <a:xfrm>
            <a:off x="4465817" y="2545279"/>
            <a:ext cx="14042487" cy="7804255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12700">
              <a:spcBef>
                <a:spcPts val="100"/>
              </a:spcBef>
              <a:defRPr spc="-140"/>
            </a:pPr>
            <a:r>
              <a:t>Result</a:t>
            </a:r>
            <a:r>
              <a:rPr spc="-560"/>
              <a:t> </a:t>
            </a:r>
            <a:r>
              <a:t>from</a:t>
            </a:r>
            <a:r>
              <a:rPr spc="-560"/>
              <a:t> July</a:t>
            </a:r>
            <a:r>
              <a:t> 3rd,</a:t>
            </a:r>
            <a:r>
              <a:rPr spc="-560"/>
              <a:t> </a:t>
            </a:r>
            <a:r>
              <a:rPr spc="-280"/>
              <a:t>2025</a:t>
            </a:r>
            <a:endParaRPr spc="-280"/>
          </a:p>
          <a:p>
            <a:pPr indent="12700">
              <a:spcBef>
                <a:spcPts val="6600"/>
              </a:spcBef>
              <a:defRPr spc="-140"/>
            </a:pPr>
            <a:r>
              <a:t>SHRIMP</a:t>
            </a:r>
            <a:r>
              <a:rPr spc="-560"/>
              <a:t> </a:t>
            </a:r>
            <a:r>
              <a:rPr spc="-280"/>
              <a:t>U-</a:t>
            </a:r>
            <a:r>
              <a:rPr spc="0"/>
              <a:t>Pb</a:t>
            </a:r>
            <a:r>
              <a:rPr spc="-560"/>
              <a:t> </a:t>
            </a:r>
            <a:r>
              <a:t>dating</a:t>
            </a:r>
          </a:p>
          <a:p>
            <a:pPr indent="12700">
              <a:spcBef>
                <a:spcPts val="6600"/>
              </a:spcBef>
              <a:defRPr spc="-140"/>
            </a:pPr>
            <a:r>
              <a:t>2nd try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object 2"/>
          <p:cNvGrpSpPr/>
          <p:nvPr/>
        </p:nvGrpSpPr>
        <p:grpSpPr>
          <a:xfrm>
            <a:off x="1439814" y="341302"/>
            <a:ext cx="10451857" cy="13033396"/>
            <a:chOff x="0" y="0"/>
            <a:chExt cx="10451855" cy="13033395"/>
          </a:xfrm>
        </p:grpSpPr>
        <p:pic>
          <p:nvPicPr>
            <p:cNvPr id="72" name="object 3" descr="object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0451856" cy="130333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3" name="object 4"/>
            <p:cNvSpPr/>
            <p:nvPr/>
          </p:nvSpPr>
          <p:spPr>
            <a:xfrm>
              <a:off x="2618094" y="6264026"/>
              <a:ext cx="2642888" cy="2019389"/>
            </a:xfrm>
            <a:prstGeom prst="rect">
              <a:avLst/>
            </a:prstGeom>
            <a:noFill/>
            <a:ln w="152400" cap="flat">
              <a:solidFill>
                <a:srgbClr val="FFF056"/>
              </a:solidFill>
              <a:prstDash val="solid"/>
              <a:round/>
            </a:ln>
            <a:effectLst/>
          </p:spPr>
          <p:txBody>
            <a:bodyPr wrap="square" lIns="64293" tIns="64293" rIns="64293" bIns="64293" numCol="1" anchor="t">
              <a:noAutofit/>
            </a:bodyPr>
            <a:lstStyle/>
            <a:p>
              <a:pPr/>
            </a:p>
          </p:txBody>
        </p:sp>
      </p:grpSp>
      <p:sp>
        <p:nvSpPr>
          <p:cNvPr id="75" name="object 6"/>
          <p:cNvSpPr txBox="1"/>
          <p:nvPr/>
        </p:nvSpPr>
        <p:spPr>
          <a:xfrm>
            <a:off x="12406241" y="1445630"/>
            <a:ext cx="5810548" cy="202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sz="4200">
                <a:solidFill>
                  <a:srgbClr val="004D7F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FC-1: 1099 </a:t>
            </a:r>
            <a:r>
              <a:rPr spc="-35"/>
              <a:t>Ma</a:t>
            </a:r>
          </a:p>
          <a:p>
            <a:pPr marR="7143" indent="12700">
              <a:lnSpc>
                <a:spcPts val="5400"/>
              </a:lnSpc>
              <a:spcBef>
                <a:spcPts val="100"/>
              </a:spcBef>
              <a:defRPr sz="4200">
                <a:solidFill>
                  <a:srgbClr val="004D7F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primary</a:t>
            </a:r>
            <a:r>
              <a:rPr spc="-91"/>
              <a:t> </a:t>
            </a:r>
            <a:r>
              <a:t>reference</a:t>
            </a:r>
            <a:r>
              <a:rPr spc="-77"/>
              <a:t> </a:t>
            </a:r>
            <a:r>
              <a:rPr spc="-35"/>
              <a:t>zircon </a:t>
            </a:r>
            <a:r>
              <a:t>from</a:t>
            </a:r>
            <a:r>
              <a:rPr spc="-42"/>
              <a:t> </a:t>
            </a:r>
            <a:r>
              <a:t>Duluth</a:t>
            </a:r>
            <a:r>
              <a:rPr spc="-35"/>
              <a:t> </a:t>
            </a:r>
            <a:r>
              <a:rPr spc="-14"/>
              <a:t>complex</a:t>
            </a:r>
          </a:p>
        </p:txBody>
      </p:sp>
      <p:sp>
        <p:nvSpPr>
          <p:cNvPr id="76" name="object 8"/>
          <p:cNvSpPr txBox="1"/>
          <p:nvPr/>
        </p:nvSpPr>
        <p:spPr>
          <a:xfrm>
            <a:off x="13149637" y="9283482"/>
            <a:ext cx="4323756" cy="3688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7143" indent="12700">
              <a:lnSpc>
                <a:spcPct val="109800"/>
              </a:lnSpc>
              <a:defRPr sz="3800">
                <a:solidFill>
                  <a:srgbClr val="004D7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some drift in second day, but the uncertainty of each spot was much better than the 1st analysis </a:t>
            </a:r>
          </a:p>
        </p:txBody>
      </p:sp>
      <p:pic>
        <p:nvPicPr>
          <p:cNvPr id="7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60924" y="4147177"/>
            <a:ext cx="7101183" cy="5072274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Screenshot 2025-07-05 at 11.21.22.png" descr="Screenshot 2025-07-05 at 11.21.2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958586" y="22136"/>
            <a:ext cx="3417933" cy="136717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1259022" y="190189"/>
            <a:ext cx="10695490" cy="13335621"/>
            <a:chOff x="0" y="0"/>
            <a:chExt cx="10695489" cy="13335620"/>
          </a:xfrm>
        </p:grpSpPr>
        <p:pic>
          <p:nvPicPr>
            <p:cNvPr id="80" name="object 4" descr="object 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0695490" cy="133356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1" name="object 5"/>
            <p:cNvSpPr/>
            <p:nvPr/>
          </p:nvSpPr>
          <p:spPr>
            <a:xfrm>
              <a:off x="5091691" y="6358552"/>
              <a:ext cx="3076554" cy="2350746"/>
            </a:xfrm>
            <a:prstGeom prst="rect">
              <a:avLst/>
            </a:prstGeom>
            <a:noFill/>
            <a:ln w="152400" cap="flat">
              <a:solidFill>
                <a:srgbClr val="FFF056"/>
              </a:solidFill>
              <a:prstDash val="solid"/>
              <a:round/>
            </a:ln>
            <a:effectLst/>
          </p:spPr>
          <p:txBody>
            <a:bodyPr wrap="square" lIns="64293" tIns="64293" rIns="64293" bIns="64293" numCol="1" anchor="t">
              <a:noAutofit/>
            </a:bodyPr>
            <a:lstStyle/>
            <a:p>
              <a:pPr/>
            </a:p>
          </p:txBody>
        </p:sp>
      </p:grpSp>
      <p:sp>
        <p:nvSpPr>
          <p:cNvPr id="83" name="object 6"/>
          <p:cNvSpPr txBox="1"/>
          <p:nvPr/>
        </p:nvSpPr>
        <p:spPr>
          <a:xfrm>
            <a:off x="13396785" y="979666"/>
            <a:ext cx="9499336" cy="333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500"/>
              </a:spcBef>
              <a:defRPr sz="4200">
                <a:solidFill>
                  <a:srgbClr val="004D7F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91500: 1062 </a:t>
            </a:r>
            <a:r>
              <a:rPr spc="-35"/>
              <a:t>Ma</a:t>
            </a:r>
          </a:p>
          <a:p>
            <a:pPr indent="12700">
              <a:spcBef>
                <a:spcPts val="400"/>
              </a:spcBef>
              <a:defRPr sz="4200">
                <a:solidFill>
                  <a:srgbClr val="004D7F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secondary</a:t>
            </a:r>
            <a:r>
              <a:rPr spc="-91"/>
              <a:t> </a:t>
            </a:r>
            <a:r>
              <a:t>reference</a:t>
            </a:r>
            <a:r>
              <a:rPr spc="-77"/>
              <a:t> </a:t>
            </a:r>
            <a:r>
              <a:rPr spc="-14"/>
              <a:t>zircon</a:t>
            </a:r>
          </a:p>
          <a:p>
            <a:pPr>
              <a:defRPr sz="4600">
                <a:latin typeface="+mn-lt"/>
                <a:ea typeface="+mn-ea"/>
                <a:cs typeface="+mn-cs"/>
                <a:sym typeface="Helvetica Neue"/>
              </a:defRPr>
            </a:pPr>
          </a:p>
          <a:p>
            <a:pPr marR="7143" indent="12700">
              <a:lnSpc>
                <a:spcPct val="109800"/>
              </a:lnSpc>
              <a:defRPr sz="4200">
                <a:solidFill>
                  <a:srgbClr val="004D7F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ages</a:t>
            </a:r>
            <a:r>
              <a:rPr spc="-21"/>
              <a:t> </a:t>
            </a:r>
            <a:r>
              <a:t>were</a:t>
            </a:r>
            <a:r>
              <a:rPr spc="-21"/>
              <a:t> </a:t>
            </a:r>
            <a:r>
              <a:t>older</a:t>
            </a:r>
            <a:r>
              <a:rPr spc="-21"/>
              <a:t> </a:t>
            </a:r>
            <a:r>
              <a:t>than</a:t>
            </a:r>
            <a:r>
              <a:rPr spc="-14"/>
              <a:t> suggested value. 1076 Ma = same as last time</a:t>
            </a:r>
          </a:p>
        </p:txBody>
      </p:sp>
      <p:pic>
        <p:nvPicPr>
          <p:cNvPr id="84" name="Screenshot 2025-07-05 at 11.23.36.png" descr="Screenshot 2025-07-05 at 11.23.3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555403" y="5217959"/>
            <a:ext cx="9182101" cy="8013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 2"/>
          <p:cNvSpPr txBox="1"/>
          <p:nvPr>
            <p:ph type="ctrTitle"/>
          </p:nvPr>
        </p:nvSpPr>
        <p:spPr>
          <a:xfrm>
            <a:off x="13357049" y="1252470"/>
            <a:ext cx="7174112" cy="1447503"/>
          </a:xfrm>
          <a:prstGeom prst="rect">
            <a:avLst/>
          </a:prstGeom>
        </p:spPr>
        <p:txBody>
          <a:bodyPr/>
          <a:lstStyle/>
          <a:p>
            <a:pPr marR="7143" indent="12700">
              <a:lnSpc>
                <a:spcPct val="109800"/>
              </a:lnSpc>
              <a:defRPr b="0" sz="4200"/>
            </a:pPr>
            <a:r>
              <a:t>Mud</a:t>
            </a:r>
            <a:r>
              <a:rPr spc="-140"/>
              <a:t> </a:t>
            </a:r>
            <a:r>
              <a:t>tank: 701-722 or 731 </a:t>
            </a:r>
            <a:r>
              <a:rPr spc="-140"/>
              <a:t>Ma </a:t>
            </a:r>
            <a:r>
              <a:t>secondary</a:t>
            </a:r>
            <a:r>
              <a:rPr spc="-140"/>
              <a:t> </a:t>
            </a:r>
            <a:r>
              <a:t>reference</a:t>
            </a:r>
            <a:r>
              <a:rPr spc="-140"/>
              <a:t> zircon</a:t>
            </a:r>
          </a:p>
        </p:txBody>
      </p:sp>
      <p:sp>
        <p:nvSpPr>
          <p:cNvPr id="87" name="object 3"/>
          <p:cNvSpPr txBox="1"/>
          <p:nvPr/>
        </p:nvSpPr>
        <p:spPr>
          <a:xfrm>
            <a:off x="13308086" y="3307245"/>
            <a:ext cx="8774537" cy="1315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7143" indent="12700">
              <a:lnSpc>
                <a:spcPct val="109800"/>
              </a:lnSpc>
              <a:defRPr sz="4200">
                <a:solidFill>
                  <a:srgbClr val="004D7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I have to remove one outlier here (but not yet).</a:t>
            </a:r>
          </a:p>
        </p:txBody>
      </p:sp>
      <p:grpSp>
        <p:nvGrpSpPr>
          <p:cNvPr id="90" name="Group"/>
          <p:cNvGrpSpPr/>
          <p:nvPr/>
        </p:nvGrpSpPr>
        <p:grpSpPr>
          <a:xfrm>
            <a:off x="1581087" y="371987"/>
            <a:ext cx="10263301" cy="12796748"/>
            <a:chOff x="0" y="0"/>
            <a:chExt cx="10263299" cy="12796747"/>
          </a:xfrm>
        </p:grpSpPr>
        <p:pic>
          <p:nvPicPr>
            <p:cNvPr id="88" name="bg object 16" descr="bg object 1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0263300" cy="127967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9" name="bg object 17"/>
            <p:cNvSpPr/>
            <p:nvPr/>
          </p:nvSpPr>
          <p:spPr>
            <a:xfrm>
              <a:off x="5025592" y="3927084"/>
              <a:ext cx="2952235" cy="2255756"/>
            </a:xfrm>
            <a:prstGeom prst="rect">
              <a:avLst/>
            </a:prstGeom>
            <a:noFill/>
            <a:ln w="152400" cap="flat">
              <a:solidFill>
                <a:srgbClr val="FFF056"/>
              </a:solidFill>
              <a:prstDash val="solid"/>
              <a:round/>
            </a:ln>
            <a:effectLst/>
          </p:spPr>
          <p:txBody>
            <a:bodyPr wrap="square" lIns="64293" tIns="64293" rIns="64293" bIns="64293" numCol="1" anchor="t">
              <a:noAutofit/>
            </a:bodyPr>
            <a:lstStyle/>
            <a:p>
              <a:pPr/>
            </a:p>
          </p:txBody>
        </p:sp>
      </p:grpSp>
      <p:pic>
        <p:nvPicPr>
          <p:cNvPr id="91" name="Screenshot 2025-07-05 at 11.26.05.png" descr="Screenshot 2025-07-05 at 11.26.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37491" y="5034494"/>
            <a:ext cx="10115727" cy="83886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object 3"/>
          <p:cNvGrpSpPr/>
          <p:nvPr/>
        </p:nvGrpSpPr>
        <p:grpSpPr>
          <a:xfrm>
            <a:off x="1262822" y="396468"/>
            <a:ext cx="10364608" cy="12923064"/>
            <a:chOff x="0" y="0"/>
            <a:chExt cx="10364606" cy="12923062"/>
          </a:xfrm>
        </p:grpSpPr>
        <p:pic>
          <p:nvPicPr>
            <p:cNvPr id="93" name="object 4" descr="object 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0364607" cy="129230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4" name="object 5"/>
            <p:cNvSpPr/>
            <p:nvPr/>
          </p:nvSpPr>
          <p:spPr>
            <a:xfrm>
              <a:off x="2556859" y="3945701"/>
              <a:ext cx="2981376" cy="2278023"/>
            </a:xfrm>
            <a:prstGeom prst="rect">
              <a:avLst/>
            </a:prstGeom>
            <a:noFill/>
            <a:ln w="152400" cap="flat">
              <a:solidFill>
                <a:srgbClr val="FFF056"/>
              </a:solidFill>
              <a:prstDash val="solid"/>
              <a:round/>
            </a:ln>
            <a:effectLst/>
          </p:spPr>
          <p:txBody>
            <a:bodyPr wrap="square" lIns="64293" tIns="64293" rIns="64293" bIns="64293" numCol="1" anchor="t">
              <a:noAutofit/>
            </a:bodyPr>
            <a:lstStyle/>
            <a:p>
              <a:pPr/>
            </a:p>
          </p:txBody>
        </p:sp>
      </p:grpSp>
      <p:sp>
        <p:nvSpPr>
          <p:cNvPr id="96" name="object 6"/>
          <p:cNvSpPr txBox="1"/>
          <p:nvPr/>
        </p:nvSpPr>
        <p:spPr>
          <a:xfrm>
            <a:off x="13681938" y="1007396"/>
            <a:ext cx="2437806" cy="632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z="4200" u="sng">
                <a:solidFill>
                  <a:srgbClr val="004D7F"/>
                </a:solidFill>
                <a:uFill>
                  <a:solidFill>
                    <a:srgbClr val="004D7F"/>
                  </a:solidFill>
                </a:uFill>
                <a:latin typeface="+mn-lt"/>
                <a:ea typeface="+mn-ea"/>
                <a:cs typeface="+mn-cs"/>
                <a:sym typeface="Helvetica Neue"/>
              </a:defRPr>
            </a:pPr>
            <a:r>
              <a:t>AFG-z-</a:t>
            </a:r>
            <a:r>
              <a:rPr spc="-35"/>
              <a:t>10</a:t>
            </a:r>
          </a:p>
        </p:txBody>
      </p:sp>
      <p:pic>
        <p:nvPicPr>
          <p:cNvPr id="97" name="Screenshot 2025-07-05 at 11.27.39.png" descr="Screenshot 2025-07-05 at 11.27.3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96941" y="3754188"/>
            <a:ext cx="12827001" cy="875030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object 6"/>
          <p:cNvSpPr txBox="1"/>
          <p:nvPr/>
        </p:nvSpPr>
        <p:spPr>
          <a:xfrm>
            <a:off x="13460775" y="2386873"/>
            <a:ext cx="9499336" cy="620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7143" indent="12700">
              <a:lnSpc>
                <a:spcPct val="109800"/>
              </a:lnSpc>
              <a:defRPr sz="4200">
                <a:solidFill>
                  <a:srgbClr val="004D7F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similar</a:t>
            </a:r>
            <a:r>
              <a:rPr spc="-14"/>
              <a:t> as last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Screenshot 2025-07-05 at 11.29.13.png" descr="Screenshot 2025-07-05 at 11.29.13.png"/>
          <p:cNvPicPr>
            <a:picLocks noChangeAspect="1"/>
          </p:cNvPicPr>
          <p:nvPr/>
        </p:nvPicPr>
        <p:blipFill>
          <a:blip r:embed="rId2">
            <a:extLst/>
          </a:blip>
          <a:srcRect l="0" t="4357" r="2838" b="0"/>
          <a:stretch>
            <a:fillRect/>
          </a:stretch>
        </p:blipFill>
        <p:spPr>
          <a:xfrm>
            <a:off x="2185" y="2535677"/>
            <a:ext cx="14293587" cy="74783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Screenshot 2025-07-05 at 11.37.20.png" descr="Screenshot 2025-07-05 at 11.37.2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681208" y="2102901"/>
            <a:ext cx="11074401" cy="9004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8432" y="2657624"/>
            <a:ext cx="11451304" cy="8400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Screenshot 2025-07-05 at 11.36.20.png" descr="Screenshot 2025-07-05 at 11.36.2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88119" y="2082800"/>
            <a:ext cx="12953605" cy="104294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1432" y="3130732"/>
            <a:ext cx="11198098" cy="7454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Screenshot 2025-07-05 at 11.38.36.png" descr="Screenshot 2025-07-05 at 11.38.3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899889" y="1807429"/>
            <a:ext cx="12490959" cy="101011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Screenshot 2025-07-05 at 11.39.35.png" descr="Screenshot 2025-07-05 at 11.39.3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74033" y="2286000"/>
            <a:ext cx="12039601" cy="9144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Screenshot 2025-07-05 at 11.51.04.png" descr="Screenshot 2025-07-05 at 11.51.0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615" y="2458342"/>
            <a:ext cx="12138542" cy="87993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4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64293" tIns="64293" rIns="64293" bIns="64293" numCol="1" spcCol="38100" rtlCol="0" anchor="ctr" upright="0">
        <a:spAutoFit/>
      </a:bodyPr>
      <a:lstStyle>
        <a:defPPr marL="0" marR="0" indent="0" algn="l" defTabSz="12858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4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4293" tIns="64293" rIns="64293" bIns="64293" numCol="1" spcCol="38100" rtlCol="0" anchor="t" upright="0">
        <a:spAutoFit/>
      </a:bodyPr>
      <a:lstStyle>
        <a:defPPr marL="0" marR="0" indent="0" algn="l" defTabSz="12858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4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64293" tIns="64293" rIns="64293" bIns="64293" numCol="1" spcCol="38100" rtlCol="0" anchor="ctr" upright="0">
        <a:spAutoFit/>
      </a:bodyPr>
      <a:lstStyle>
        <a:defPPr marL="0" marR="0" indent="0" algn="l" defTabSz="12858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4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4293" tIns="64293" rIns="64293" bIns="64293" numCol="1" spcCol="38100" rtlCol="0" anchor="t" upright="0">
        <a:spAutoFit/>
      </a:bodyPr>
      <a:lstStyle>
        <a:defPPr marL="0" marR="0" indent="0" algn="l" defTabSz="12858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97729A3E6EAA4F9E1C9F13D541663D" ma:contentTypeVersion="14" ma:contentTypeDescription="Create a new document." ma:contentTypeScope="" ma:versionID="c051356ea1710f3fb5d80eaeb75cb6ec">
  <xsd:schema xmlns:xsd="http://www.w3.org/2001/XMLSchema" xmlns:xs="http://www.w3.org/2001/XMLSchema" xmlns:p="http://schemas.microsoft.com/office/2006/metadata/properties" xmlns:ns2="734d9d5b-bad1-43ae-a310-979dd75c40ab" xmlns:ns3="ad78e214-34d5-4fdd-b75d-5961e8c71fd9" targetNamespace="http://schemas.microsoft.com/office/2006/metadata/properties" ma:root="true" ma:fieldsID="1b8103a8cf90e9c87e2e092ffa6eae69" ns2:_="" ns3:_="">
    <xsd:import namespace="734d9d5b-bad1-43ae-a310-979dd75c40ab"/>
    <xsd:import namespace="ad78e214-34d5-4fdd-b75d-5961e8c71f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d9d5b-bad1-43ae-a310-979dd75c40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dc383c50-2e5a-4ee2-a287-62075b1c8a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8e214-34d5-4fdd-b75d-5961e8c71fd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7d803d5-033d-4c9d-afec-10d151e44ed4}" ma:internalName="TaxCatchAll" ma:showField="CatchAllData" ma:web="ad78e214-34d5-4fdd-b75d-5961e8c71f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4d9d5b-bad1-43ae-a310-979dd75c40ab">
      <Terms xmlns="http://schemas.microsoft.com/office/infopath/2007/PartnerControls"/>
    </lcf76f155ced4ddcb4097134ff3c332f>
    <TaxCatchAll xmlns="ad78e214-34d5-4fdd-b75d-5961e8c71fd9" xsi:nil="true"/>
  </documentManagement>
</p:properties>
</file>

<file path=customXml/itemProps1.xml><?xml version="1.0" encoding="utf-8"?>
<ds:datastoreItem xmlns:ds="http://schemas.openxmlformats.org/officeDocument/2006/customXml" ds:itemID="{115A8504-FA64-4D99-BCC9-921E9AFDBC24}"/>
</file>

<file path=customXml/itemProps2.xml><?xml version="1.0" encoding="utf-8"?>
<ds:datastoreItem xmlns:ds="http://schemas.openxmlformats.org/officeDocument/2006/customXml" ds:itemID="{73C54FDD-CFD4-4AB9-B35F-4D62B656DAF8}"/>
</file>

<file path=customXml/itemProps3.xml><?xml version="1.0" encoding="utf-8"?>
<ds:datastoreItem xmlns:ds="http://schemas.openxmlformats.org/officeDocument/2006/customXml" ds:itemID="{D70F735F-0499-4493-B59E-89EC84098309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0x0101004E97729A3E6EAA4F9E1C9F13D541663D</vt:lpwstr>
  </property>
</Properties>
</file>