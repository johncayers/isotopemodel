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png" ContentType="image/png"/>
  <Default Extension="rels" ContentType="application/vnd.openxmlformats-package.relationships+xml"/>
  <Default Extension="svg" ContentType="image/svg+xml"/>
  <Default Extension="tif" ContentType="image/tiff"/>
  <Default Extension="tiff" ContentType="image/tiff"/>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omments/modernComment_11F_929CA37E.xml" ContentType="application/vnd.ms-powerpoint.comments+xml"/>
  <Override PartName="/ppt/notesSlides/notesSlide3.xml" ContentType="application/vnd.openxmlformats-officedocument.presentationml.notesSlide+xml"/>
  <Override PartName="/ppt/notesSlides/notesSlide4.xml" ContentType="application/vnd.openxmlformats-officedocument.presentationml.notesSlide+xml"/>
  <Override PartName="/ppt/comments/modernComment_144_38647347.xml" ContentType="application/vnd.ms-powerpoint.comments+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7.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style1.xml" ContentType="application/vnd.ms-office.chartstyle+xml"/>
  <Override PartName="/ppt/charts/colors1.xml" ContentType="application/vnd.ms-office.chartcolorstyle+xml"/>
  <Override PartName="/ppt/theme/themeOverride1.xml" ContentType="application/vnd.openxmlformats-officedocument.themeOverride+xml"/>
  <Override PartName="/ppt/notesSlides/notesSlide8.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 id="2147483698" r:id="rId5"/>
  </p:sldMasterIdLst>
  <p:notesMasterIdLst>
    <p:notesMasterId r:id="rId32"/>
  </p:notesMasterIdLst>
  <p:handoutMasterIdLst>
    <p:handoutMasterId r:id="rId33"/>
  </p:handoutMasterIdLst>
  <p:sldIdLst>
    <p:sldId id="322" r:id="rId6"/>
    <p:sldId id="321" r:id="rId7"/>
    <p:sldId id="325" r:id="rId8"/>
    <p:sldId id="261" r:id="rId9"/>
    <p:sldId id="287" r:id="rId10"/>
    <p:sldId id="330" r:id="rId11"/>
    <p:sldId id="303" r:id="rId12"/>
    <p:sldId id="336" r:id="rId13"/>
    <p:sldId id="326" r:id="rId14"/>
    <p:sldId id="262" r:id="rId15"/>
    <p:sldId id="324" r:id="rId16"/>
    <p:sldId id="263" r:id="rId17"/>
    <p:sldId id="264" r:id="rId18"/>
    <p:sldId id="327" r:id="rId19"/>
    <p:sldId id="328" r:id="rId20"/>
    <p:sldId id="329" r:id="rId21"/>
    <p:sldId id="331" r:id="rId22"/>
    <p:sldId id="306" r:id="rId23"/>
    <p:sldId id="339" r:id="rId24"/>
    <p:sldId id="335" r:id="rId25"/>
    <p:sldId id="334" r:id="rId26"/>
    <p:sldId id="338" r:id="rId27"/>
    <p:sldId id="332" r:id="rId28"/>
    <p:sldId id="311" r:id="rId29"/>
    <p:sldId id="333" r:id="rId30"/>
    <p:sldId id="337"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 id="{4B81E6FB-4FB3-2EC9-FC5E-2B38A3B2749C}" name="John Ayers" initials="JA" userId="55fd3f8ffa58db1a"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5B8BF"/>
    <a:srgbClr val="58696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0E3FDE45-AF77-4B5C-9715-49D594BDF05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7456" autoAdjust="0"/>
  </p:normalViewPr>
  <p:slideViewPr>
    <p:cSldViewPr snapToGrid="0">
      <p:cViewPr varScale="1">
        <p:scale>
          <a:sx n="100" d="100"/>
          <a:sy n="100" d="100"/>
        </p:scale>
        <p:origin x="954" y="78"/>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microsoft.com/office/2018/10/relationships/authors" Target="authors.xml"/><Relationship Id="rId21" Type="http://schemas.openxmlformats.org/officeDocument/2006/relationships/slide" Target="slides/slide16.xml"/><Relationship Id="rId34" Type="http://schemas.openxmlformats.org/officeDocument/2006/relationships/presProps" Target="presProp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handoutMaster" Target="handoutMasters/handoutMaster1.xml"/><Relationship Id="rId38"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theme" Target="theme/theme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viewProps" Target="viewProps.xml"/><Relationship Id="rId8" Type="http://schemas.openxmlformats.org/officeDocument/2006/relationships/slide" Target="slides/slide3.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hn Ayers" userId="55fd3f8ffa58db1a" providerId="LiveId" clId="{B7B9D2B2-70FD-4F47-A29D-0524988626AC}"/>
    <pc:docChg chg="modSld">
      <pc:chgData name="John Ayers" userId="55fd3f8ffa58db1a" providerId="LiveId" clId="{B7B9D2B2-70FD-4F47-A29D-0524988626AC}" dt="2026-08-10T15:37:36.007" v="0" actId="1076"/>
      <pc:docMkLst>
        <pc:docMk/>
      </pc:docMkLst>
      <pc:sldChg chg="modSp mod">
        <pc:chgData name="John Ayers" userId="55fd3f8ffa58db1a" providerId="LiveId" clId="{B7B9D2B2-70FD-4F47-A29D-0524988626AC}" dt="2026-08-10T15:37:36.007" v="0" actId="1076"/>
        <pc:sldMkLst>
          <pc:docMk/>
          <pc:sldMk cId="1786720868" sldId="332"/>
        </pc:sldMkLst>
        <pc:picChg chg="mod">
          <ac:chgData name="John Ayers" userId="55fd3f8ffa58db1a" providerId="LiveId" clId="{B7B9D2B2-70FD-4F47-A29D-0524988626AC}" dt="2026-08-10T15:37:36.007" v="0" actId="1076"/>
          <ac:picMkLst>
            <pc:docMk/>
            <pc:sldMk cId="1786720868" sldId="332"/>
            <ac:picMk id="12" creationId="{E66E2369-8DA5-6DB5-C5D9-224A890A17CB}"/>
          </ac:picMkLst>
        </pc:pic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oleObject" Target="file:///C:\refs\zircon%20recrystalization\Caltech%20SIMS\KDE.xlsx" TargetMode="External"/></Relationships>
</file>

<file path=ppt/charts/_rels/chart2.xml.rels><?xml version="1.0" encoding="UTF-8" standalone="yes"?>
<Relationships xmlns="http://schemas.openxmlformats.org/package/2006/relationships"><Relationship Id="rId1" Type="http://schemas.openxmlformats.org/officeDocument/2006/relationships/oleObject" Target="file:///C:\refs\zircon%20recrystalization\Caltech%20SIMS\KDE.xlsx" TargetMode="External"/></Relationships>
</file>

<file path=ppt/charts/_rels/chart3.xml.rels><?xml version="1.0" encoding="UTF-8" standalone="yes"?>
<Relationships xmlns="http://schemas.openxmlformats.org/package/2006/relationships"><Relationship Id="rId3" Type="http://schemas.openxmlformats.org/officeDocument/2006/relationships/themeOverride" Target="../theme/themeOverride1.xml"/><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sz="1200" baseline="0"/>
            </a:pPr>
            <a:r>
              <a:rPr lang="en-US" altLang="zh-CN" sz="1200" baseline="0"/>
              <a:t>O isotope KDE</a:t>
            </a:r>
          </a:p>
        </c:rich>
      </c:tx>
      <c:overlay val="0"/>
    </c:title>
    <c:autoTitleDeleted val="0"/>
    <c:plotArea>
      <c:layout/>
      <c:scatterChart>
        <c:scatterStyle val="lineMarker"/>
        <c:varyColors val="0"/>
        <c:ser>
          <c:idx val="0"/>
          <c:order val="0"/>
          <c:spPr>
            <a:ln w="19050"/>
          </c:spPr>
          <c:marker>
            <c:symbol val="none"/>
          </c:marker>
          <c:xVal>
            <c:numRef>
              <c:f>'Zircon 015'!$E$18:$E$67</c:f>
              <c:numCache>
                <c:formatCode>0.0</c:formatCode>
                <c:ptCount val="50"/>
                <c:pt idx="0">
                  <c:v>-48.659374543719267</c:v>
                </c:pt>
                <c:pt idx="1">
                  <c:v>-47.671118316495182</c:v>
                </c:pt>
                <c:pt idx="2">
                  <c:v>-46.682862089271097</c:v>
                </c:pt>
                <c:pt idx="3">
                  <c:v>-45.694605862047013</c:v>
                </c:pt>
                <c:pt idx="4">
                  <c:v>-44.706349634822928</c:v>
                </c:pt>
                <c:pt idx="5">
                  <c:v>-43.718093407598843</c:v>
                </c:pt>
                <c:pt idx="6">
                  <c:v>-42.729837180374759</c:v>
                </c:pt>
                <c:pt idx="7">
                  <c:v>-41.741580953150674</c:v>
                </c:pt>
                <c:pt idx="8">
                  <c:v>-40.753324725926589</c:v>
                </c:pt>
                <c:pt idx="9">
                  <c:v>-39.765068498702504</c:v>
                </c:pt>
                <c:pt idx="10">
                  <c:v>-38.77681227147842</c:v>
                </c:pt>
                <c:pt idx="11">
                  <c:v>-37.788556044254335</c:v>
                </c:pt>
                <c:pt idx="12">
                  <c:v>-36.80029981703025</c:v>
                </c:pt>
                <c:pt idx="13">
                  <c:v>-35.812043589806166</c:v>
                </c:pt>
                <c:pt idx="14">
                  <c:v>-34.823787362582081</c:v>
                </c:pt>
                <c:pt idx="15">
                  <c:v>-33.835531135357996</c:v>
                </c:pt>
                <c:pt idx="16">
                  <c:v>-32.847274908133912</c:v>
                </c:pt>
                <c:pt idx="17">
                  <c:v>-31.859018680909827</c:v>
                </c:pt>
                <c:pt idx="18">
                  <c:v>-30.870762453685742</c:v>
                </c:pt>
                <c:pt idx="19">
                  <c:v>-29.882506226461658</c:v>
                </c:pt>
                <c:pt idx="20">
                  <c:v>-28.894249999237573</c:v>
                </c:pt>
                <c:pt idx="21">
                  <c:v>-27.905993772013488</c:v>
                </c:pt>
                <c:pt idx="22">
                  <c:v>-26.917737544789404</c:v>
                </c:pt>
                <c:pt idx="23">
                  <c:v>-25.929481317565319</c:v>
                </c:pt>
                <c:pt idx="24">
                  <c:v>-24.941225090341234</c:v>
                </c:pt>
                <c:pt idx="25">
                  <c:v>-23.95296886311715</c:v>
                </c:pt>
                <c:pt idx="26">
                  <c:v>-22.964712635893065</c:v>
                </c:pt>
                <c:pt idx="27">
                  <c:v>-21.97645640866898</c:v>
                </c:pt>
                <c:pt idx="28">
                  <c:v>-20.988200181444896</c:v>
                </c:pt>
                <c:pt idx="29">
                  <c:v>-19.999943954220811</c:v>
                </c:pt>
                <c:pt idx="30">
                  <c:v>-19.011687726996726</c:v>
                </c:pt>
                <c:pt idx="31">
                  <c:v>-18.023431499772641</c:v>
                </c:pt>
                <c:pt idx="32">
                  <c:v>-17.035175272548557</c:v>
                </c:pt>
                <c:pt idx="33">
                  <c:v>-16.046919045324472</c:v>
                </c:pt>
                <c:pt idx="34">
                  <c:v>-15.058662818100387</c:v>
                </c:pt>
                <c:pt idx="35">
                  <c:v>-14.070406590876303</c:v>
                </c:pt>
                <c:pt idx="36">
                  <c:v>-13.082150363652218</c:v>
                </c:pt>
                <c:pt idx="37">
                  <c:v>-12.093894136428133</c:v>
                </c:pt>
                <c:pt idx="38">
                  <c:v>-11.105637909204049</c:v>
                </c:pt>
                <c:pt idx="39">
                  <c:v>-10.117381681979964</c:v>
                </c:pt>
                <c:pt idx="40">
                  <c:v>-9.1291254547558793</c:v>
                </c:pt>
                <c:pt idx="41">
                  <c:v>-8.1408692275317946</c:v>
                </c:pt>
                <c:pt idx="42">
                  <c:v>-7.15261300030771</c:v>
                </c:pt>
                <c:pt idx="43">
                  <c:v>-6.1643567730836253</c:v>
                </c:pt>
                <c:pt idx="44">
                  <c:v>-5.1761005458595406</c:v>
                </c:pt>
                <c:pt idx="45">
                  <c:v>-4.1878443186354559</c:v>
                </c:pt>
                <c:pt idx="46">
                  <c:v>-3.1995880914113717</c:v>
                </c:pt>
                <c:pt idx="47">
                  <c:v>-2.2113318641872874</c:v>
                </c:pt>
                <c:pt idx="48">
                  <c:v>-1.2230756369632032</c:v>
                </c:pt>
                <c:pt idx="49">
                  <c:v>-0.23481940973911886</c:v>
                </c:pt>
              </c:numCache>
            </c:numRef>
          </c:xVal>
          <c:yVal>
            <c:numRef>
              <c:f>'Zircon 015'!$F$18:$F$67</c:f>
              <c:numCache>
                <c:formatCode>#0.00%</c:formatCode>
                <c:ptCount val="50"/>
                <c:pt idx="0">
                  <c:v>4.4737578847938102E-2</c:v>
                </c:pt>
                <c:pt idx="1">
                  <c:v>5.3530404016226246E-2</c:v>
                </c:pt>
                <c:pt idx="2">
                  <c:v>5.8776406327701022E-2</c:v>
                </c:pt>
                <c:pt idx="3">
                  <c:v>5.2980534330112732E-2</c:v>
                </c:pt>
                <c:pt idx="4">
                  <c:v>2.9028353388389303E-2</c:v>
                </c:pt>
                <c:pt idx="5">
                  <c:v>7.3227968931227801E-3</c:v>
                </c:pt>
                <c:pt idx="6">
                  <c:v>7.3926595779345362E-4</c:v>
                </c:pt>
                <c:pt idx="7">
                  <c:v>2.8556746882966988E-5</c:v>
                </c:pt>
                <c:pt idx="8">
                  <c:v>4.1706861687407646E-7</c:v>
                </c:pt>
                <c:pt idx="9">
                  <c:v>2.2960750103157225E-9</c:v>
                </c:pt>
                <c:pt idx="10">
                  <c:v>4.7612200528882471E-12</c:v>
                </c:pt>
                <c:pt idx="11">
                  <c:v>4.5633622413040341E-15</c:v>
                </c:pt>
                <c:pt idx="12">
                  <c:v>1.3049081278334416E-12</c:v>
                </c:pt>
                <c:pt idx="13">
                  <c:v>7.5861767678465602E-10</c:v>
                </c:pt>
                <c:pt idx="14">
                  <c:v>1.66078141875961E-7</c:v>
                </c:pt>
                <c:pt idx="15">
                  <c:v>1.3691408537914812E-5</c:v>
                </c:pt>
                <c:pt idx="16">
                  <c:v>4.2504010991272487E-4</c:v>
                </c:pt>
                <c:pt idx="17">
                  <c:v>4.9688722840726847E-3</c:v>
                </c:pt>
                <c:pt idx="18">
                  <c:v>2.1874185277561634E-2</c:v>
                </c:pt>
                <c:pt idx="19">
                  <c:v>3.6262026572515919E-2</c:v>
                </c:pt>
                <c:pt idx="20">
                  <c:v>2.2636974966376941E-2</c:v>
                </c:pt>
                <c:pt idx="21">
                  <c:v>5.321460497348586E-3</c:v>
                </c:pt>
                <c:pt idx="22">
                  <c:v>4.7107431787728665E-4</c:v>
                </c:pt>
                <c:pt idx="23">
                  <c:v>1.5703416389454873E-5</c:v>
                </c:pt>
                <c:pt idx="24">
                  <c:v>1.9712649426612871E-7</c:v>
                </c:pt>
                <c:pt idx="25">
                  <c:v>9.318413616267148E-10</c:v>
                </c:pt>
                <c:pt idx="26">
                  <c:v>1.6587659122266205E-12</c:v>
                </c:pt>
                <c:pt idx="27">
                  <c:v>1.1119220784370221E-15</c:v>
                </c:pt>
                <c:pt idx="28">
                  <c:v>2.8067888246936481E-19</c:v>
                </c:pt>
                <c:pt idx="29">
                  <c:v>2.6680333689581348E-23</c:v>
                </c:pt>
                <c:pt idx="30">
                  <c:v>9.5503416586948498E-28</c:v>
                </c:pt>
                <c:pt idx="31">
                  <c:v>1.2929335927247267E-32</c:v>
                </c:pt>
                <c:pt idx="32">
                  <c:v>6.4800486825281786E-30</c:v>
                </c:pt>
                <c:pt idx="33">
                  <c:v>2.8260546744366115E-25</c:v>
                </c:pt>
                <c:pt idx="34">
                  <c:v>4.6411861595266321E-21</c:v>
                </c:pt>
                <c:pt idx="35">
                  <c:v>2.8702752794066521E-17</c:v>
                </c:pt>
                <c:pt idx="36">
                  <c:v>6.6844279572131294E-14</c:v>
                </c:pt>
                <c:pt idx="37">
                  <c:v>5.8620711669164187E-11</c:v>
                </c:pt>
                <c:pt idx="38">
                  <c:v>1.9359055534134287E-8</c:v>
                </c:pt>
                <c:pt idx="39">
                  <c:v>2.4074900855619807E-6</c:v>
                </c:pt>
                <c:pt idx="40">
                  <c:v>1.1274647990001256E-4</c:v>
                </c:pt>
                <c:pt idx="41">
                  <c:v>1.9889108094113292E-3</c:v>
                </c:pt>
                <c:pt idx="42">
                  <c:v>1.3253460449015502E-2</c:v>
                </c:pt>
                <c:pt idx="43">
                  <c:v>3.435643497974878E-2</c:v>
                </c:pt>
                <c:pt idx="44">
                  <c:v>4.4555412986070332E-2</c:v>
                </c:pt>
                <c:pt idx="45">
                  <c:v>6.3095068887518119E-2</c:v>
                </c:pt>
                <c:pt idx="46">
                  <c:v>8.8958442870719578E-2</c:v>
                </c:pt>
                <c:pt idx="47">
                  <c:v>0.10609523638364013</c:v>
                </c:pt>
                <c:pt idx="48">
                  <c:v>0.13415665473964089</c:v>
                </c:pt>
                <c:pt idx="49">
                  <c:v>0.107675546661436</c:v>
                </c:pt>
              </c:numCache>
            </c:numRef>
          </c:yVal>
          <c:smooth val="1"/>
          <c:extLst>
            <c:ext xmlns:c16="http://schemas.microsoft.com/office/drawing/2014/chart" uri="{C3380CC4-5D6E-409C-BE32-E72D297353CC}">
              <c16:uniqueId val="{00000000-82B7-4986-AA78-EBE49D23DADD}"/>
            </c:ext>
          </c:extLst>
        </c:ser>
        <c:dLbls>
          <c:showLegendKey val="0"/>
          <c:showVal val="0"/>
          <c:showCatName val="0"/>
          <c:showSerName val="0"/>
          <c:showPercent val="0"/>
          <c:showBubbleSize val="0"/>
        </c:dLbls>
        <c:axId val="1905362415"/>
        <c:axId val="1905372815"/>
      </c:scatterChart>
      <c:valAx>
        <c:axId val="1905362415"/>
        <c:scaling>
          <c:orientation val="minMax"/>
          <c:max val="10"/>
        </c:scaling>
        <c:delete val="0"/>
        <c:axPos val="b"/>
        <c:numFmt formatCode="0.0" sourceLinked="1"/>
        <c:majorTickMark val="out"/>
        <c:minorTickMark val="none"/>
        <c:tickLblPos val="low"/>
        <c:spPr>
          <a:ln w="6350">
            <a:noFill/>
          </a:ln>
        </c:spPr>
        <c:crossAx val="1905372815"/>
        <c:crosses val="autoZero"/>
        <c:crossBetween val="midCat"/>
        <c:majorUnit val="10"/>
      </c:valAx>
      <c:valAx>
        <c:axId val="1905372815"/>
        <c:scaling>
          <c:orientation val="minMax"/>
        </c:scaling>
        <c:delete val="0"/>
        <c:axPos val="l"/>
        <c:numFmt formatCode="0.0%" sourceLinked="0"/>
        <c:majorTickMark val="out"/>
        <c:minorTickMark val="none"/>
        <c:tickLblPos val="low"/>
        <c:spPr>
          <a:ln w="6350">
            <a:noFill/>
          </a:ln>
        </c:spPr>
        <c:crossAx val="1905362415"/>
        <c:crosses val="autoZero"/>
        <c:crossBetween val="midCat"/>
      </c:valAx>
      <c:spPr>
        <a:noFill/>
        <a:ln w="12700">
          <a:solidFill>
            <a:srgbClr val="808080"/>
          </a:solidFill>
          <a:prstDash val="solid"/>
        </a:ln>
        <a:extLst>
          <a:ext uri="{909E8E84-426E-40DD-AFC4-6F175D3DCCD1}">
            <a14:hiddenFill xmlns:a14="http://schemas.microsoft.com/office/drawing/2010/main">
              <a:solidFill>
                <a:sysClr val="window" lastClr="FFFFFF"/>
              </a:solidFill>
            </a14:hiddenFill>
          </a:ext>
        </a:extLst>
      </c:spPr>
    </c:plotArea>
    <c:plotVisOnly val="1"/>
    <c:dispBlanksAs val="gap"/>
    <c:showDLblsOverMax val="0"/>
  </c:chart>
  <c:spPr>
    <a:noFill/>
    <a:ln w="6350">
      <a:noFill/>
    </a:ln>
    <a:extLst>
      <a:ext uri="{909E8E84-426E-40DD-AFC4-6F175D3DCCD1}">
        <a14:hiddenFill xmlns:a14="http://schemas.microsoft.com/office/drawing/2010/main">
          <a:solidFill>
            <a:sysClr val="window" lastClr="FFFFFF"/>
          </a:solidFill>
        </a14:hiddenFill>
      </a:ext>
    </a:ex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sz="1200" baseline="0"/>
            </a:pPr>
            <a:r>
              <a:rPr lang="en-US" altLang="zh-CN" sz="1200" baseline="0"/>
              <a:t>Si isotope KDE</a:t>
            </a:r>
          </a:p>
        </c:rich>
      </c:tx>
      <c:overlay val="0"/>
    </c:title>
    <c:autoTitleDeleted val="0"/>
    <c:plotArea>
      <c:layout/>
      <c:scatterChart>
        <c:scatterStyle val="lineMarker"/>
        <c:varyColors val="0"/>
        <c:ser>
          <c:idx val="0"/>
          <c:order val="0"/>
          <c:spPr>
            <a:ln w="19050"/>
          </c:spPr>
          <c:marker>
            <c:symbol val="none"/>
          </c:marker>
          <c:xVal>
            <c:numRef>
              <c:f>'Zircon 015'!$E$87:$E$136</c:f>
              <c:numCache>
                <c:formatCode>0.00</c:formatCode>
                <c:ptCount val="50"/>
                <c:pt idx="0">
                  <c:v>-0.25623151858167326</c:v>
                </c:pt>
                <c:pt idx="1">
                  <c:v>408.95822939269124</c:v>
                </c:pt>
                <c:pt idx="2">
                  <c:v>818.17269030396415</c:v>
                </c:pt>
                <c:pt idx="3">
                  <c:v>1227.3871512152371</c:v>
                </c:pt>
                <c:pt idx="4">
                  <c:v>1636.60161212651</c:v>
                </c:pt>
                <c:pt idx="5">
                  <c:v>2045.8160730377829</c:v>
                </c:pt>
                <c:pt idx="6">
                  <c:v>2455.030533949056</c:v>
                </c:pt>
                <c:pt idx="7">
                  <c:v>2864.2449948603289</c:v>
                </c:pt>
                <c:pt idx="8">
                  <c:v>3273.4594557716018</c:v>
                </c:pt>
                <c:pt idx="9">
                  <c:v>3682.6739166828747</c:v>
                </c:pt>
                <c:pt idx="10">
                  <c:v>4091.8883775941476</c:v>
                </c:pt>
                <c:pt idx="11">
                  <c:v>4501.1028385054206</c:v>
                </c:pt>
                <c:pt idx="12">
                  <c:v>4910.3172994166935</c:v>
                </c:pt>
                <c:pt idx="13">
                  <c:v>5319.5317603279664</c:v>
                </c:pt>
                <c:pt idx="14">
                  <c:v>5728.7462212392393</c:v>
                </c:pt>
                <c:pt idx="15">
                  <c:v>6137.9606821505122</c:v>
                </c:pt>
                <c:pt idx="16">
                  <c:v>6547.1751430617851</c:v>
                </c:pt>
                <c:pt idx="17">
                  <c:v>6956.389603973058</c:v>
                </c:pt>
                <c:pt idx="18">
                  <c:v>7365.6040648843309</c:v>
                </c:pt>
                <c:pt idx="19">
                  <c:v>7774.8185257956038</c:v>
                </c:pt>
                <c:pt idx="20">
                  <c:v>8184.0329867068767</c:v>
                </c:pt>
                <c:pt idx="21">
                  <c:v>8593.2474476181487</c:v>
                </c:pt>
                <c:pt idx="22">
                  <c:v>9002.4619085294216</c:v>
                </c:pt>
                <c:pt idx="23">
                  <c:v>9411.6763694406945</c:v>
                </c:pt>
                <c:pt idx="24">
                  <c:v>9820.8908303519675</c:v>
                </c:pt>
                <c:pt idx="25">
                  <c:v>10230.10529126324</c:v>
                </c:pt>
                <c:pt idx="26">
                  <c:v>10639.319752174513</c:v>
                </c:pt>
                <c:pt idx="27">
                  <c:v>11048.534213085786</c:v>
                </c:pt>
                <c:pt idx="28">
                  <c:v>11457.748673997059</c:v>
                </c:pt>
                <c:pt idx="29">
                  <c:v>11866.963134908332</c:v>
                </c:pt>
                <c:pt idx="30">
                  <c:v>12276.177595819605</c:v>
                </c:pt>
                <c:pt idx="31">
                  <c:v>12685.392056730878</c:v>
                </c:pt>
                <c:pt idx="32">
                  <c:v>13094.606517642151</c:v>
                </c:pt>
                <c:pt idx="33">
                  <c:v>13503.820978553424</c:v>
                </c:pt>
                <c:pt idx="34">
                  <c:v>13913.035439464697</c:v>
                </c:pt>
                <c:pt idx="35">
                  <c:v>14322.249900375969</c:v>
                </c:pt>
                <c:pt idx="36">
                  <c:v>14731.464361287242</c:v>
                </c:pt>
                <c:pt idx="37">
                  <c:v>15140.678822198515</c:v>
                </c:pt>
                <c:pt idx="38">
                  <c:v>15549.893283109788</c:v>
                </c:pt>
                <c:pt idx="39">
                  <c:v>15959.107744021061</c:v>
                </c:pt>
                <c:pt idx="40">
                  <c:v>16368.322204932334</c:v>
                </c:pt>
                <c:pt idx="41">
                  <c:v>16777.536665843607</c:v>
                </c:pt>
                <c:pt idx="42">
                  <c:v>17186.75112675488</c:v>
                </c:pt>
                <c:pt idx="43">
                  <c:v>17595.965587666153</c:v>
                </c:pt>
                <c:pt idx="44">
                  <c:v>18005.180048577426</c:v>
                </c:pt>
                <c:pt idx="45">
                  <c:v>18414.394509488699</c:v>
                </c:pt>
                <c:pt idx="46">
                  <c:v>18823.608970399971</c:v>
                </c:pt>
                <c:pt idx="47">
                  <c:v>19232.823431311244</c:v>
                </c:pt>
                <c:pt idx="48">
                  <c:v>19642.037892222517</c:v>
                </c:pt>
                <c:pt idx="49">
                  <c:v>20051.25235313379</c:v>
                </c:pt>
              </c:numCache>
            </c:numRef>
          </c:xVal>
          <c:yVal>
            <c:numRef>
              <c:f>'Zircon 015'!$F$87:$F$136</c:f>
              <c:numCache>
                <c:formatCode>#0.00%</c:formatCode>
                <c:ptCount val="50"/>
                <c:pt idx="0">
                  <c:v>1.973324106672363E-3</c:v>
                </c:pt>
                <c:pt idx="1">
                  <c:v>3.8597160326791688E-4</c:v>
                </c:pt>
                <c:pt idx="2">
                  <c:v>2.4997477831516182E-7</c:v>
                </c:pt>
                <c:pt idx="3">
                  <c:v>1.0839151138217962E-15</c:v>
                </c:pt>
                <c:pt idx="4">
                  <c:v>2.130844778039609E-29</c:v>
                </c:pt>
                <c:pt idx="5">
                  <c:v>1.887936451171938E-48</c:v>
                </c:pt>
                <c:pt idx="6">
                  <c:v>7.5380923981509541E-73</c:v>
                </c:pt>
                <c:pt idx="7">
                  <c:v>1.3563551593311002E-102</c:v>
                </c:pt>
                <c:pt idx="8">
                  <c:v>1.0998241784256312E-137</c:v>
                </c:pt>
                <c:pt idx="9">
                  <c:v>4.018934924355866E-178</c:v>
                </c:pt>
                <c:pt idx="10">
                  <c:v>6.6181492504475224E-224</c:v>
                </c:pt>
                <c:pt idx="11">
                  <c:v>4.9113401304302472E-275</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8.4178850957938762E-301</c:v>
                </c:pt>
                <c:pt idx="27">
                  <c:v>3.6043683006525682E-247</c:v>
                </c:pt>
                <c:pt idx="28">
                  <c:v>6.9549370201097027E-199</c:v>
                </c:pt>
                <c:pt idx="29">
                  <c:v>6.0477678725385774E-156</c:v>
                </c:pt>
                <c:pt idx="30">
                  <c:v>2.3699266103338247E-118</c:v>
                </c:pt>
                <c:pt idx="31">
                  <c:v>4.1851646951523811E-86</c:v>
                </c:pt>
                <c:pt idx="32">
                  <c:v>3.3306429689894458E-59</c:v>
                </c:pt>
                <c:pt idx="33">
                  <c:v>1.1944871444320565E-37</c:v>
                </c:pt>
                <c:pt idx="34">
                  <c:v>1.9305130926784649E-21</c:v>
                </c:pt>
                <c:pt idx="35">
                  <c:v>1.4060536576624762E-10</c:v>
                </c:pt>
                <c:pt idx="36">
                  <c:v>4.6149702902898851E-5</c:v>
                </c:pt>
                <c:pt idx="37">
                  <c:v>6.826118077862585E-5</c:v>
                </c:pt>
                <c:pt idx="38">
                  <c:v>4.5500540448521993E-10</c:v>
                </c:pt>
                <c:pt idx="39">
                  <c:v>1.3667755015896624E-20</c:v>
                </c:pt>
                <c:pt idx="40">
                  <c:v>8.548265413370616E-30</c:v>
                </c:pt>
                <c:pt idx="41">
                  <c:v>5.8511812231250075E-16</c:v>
                </c:pt>
                <c:pt idx="42">
                  <c:v>1.8048747384457551E-7</c:v>
                </c:pt>
                <c:pt idx="43">
                  <c:v>2.5089294856886339E-4</c:v>
                </c:pt>
                <c:pt idx="44">
                  <c:v>1.5716929908494225E-6</c:v>
                </c:pt>
                <c:pt idx="45">
                  <c:v>4.4369532127179657E-14</c:v>
                </c:pt>
                <c:pt idx="46">
                  <c:v>5.8750510964459864E-27</c:v>
                </c:pt>
                <c:pt idx="47">
                  <c:v>5.3434332876531163E-15</c:v>
                </c:pt>
                <c:pt idx="48">
                  <c:v>5.5855196476342101E-7</c:v>
                </c:pt>
                <c:pt idx="49">
                  <c:v>2.6311441855919875E-4</c:v>
                </c:pt>
              </c:numCache>
            </c:numRef>
          </c:yVal>
          <c:smooth val="1"/>
          <c:extLst>
            <c:ext xmlns:c16="http://schemas.microsoft.com/office/drawing/2014/chart" uri="{C3380CC4-5D6E-409C-BE32-E72D297353CC}">
              <c16:uniqueId val="{00000000-4C1A-4FA4-9B18-F3385CC7E702}"/>
            </c:ext>
          </c:extLst>
        </c:ser>
        <c:dLbls>
          <c:showLegendKey val="0"/>
          <c:showVal val="0"/>
          <c:showCatName val="0"/>
          <c:showSerName val="0"/>
          <c:showPercent val="0"/>
          <c:showBubbleSize val="0"/>
        </c:dLbls>
        <c:axId val="1649969631"/>
        <c:axId val="1649978783"/>
      </c:scatterChart>
      <c:valAx>
        <c:axId val="1649969631"/>
        <c:scaling>
          <c:orientation val="minMax"/>
        </c:scaling>
        <c:delete val="0"/>
        <c:axPos val="b"/>
        <c:numFmt formatCode="0.0E+0" sourceLinked="0"/>
        <c:majorTickMark val="out"/>
        <c:minorTickMark val="none"/>
        <c:tickLblPos val="low"/>
        <c:spPr>
          <a:ln w="6350">
            <a:noFill/>
          </a:ln>
        </c:spPr>
        <c:crossAx val="1649978783"/>
        <c:crosses val="autoZero"/>
        <c:crossBetween val="midCat"/>
        <c:majorUnit val="10000"/>
      </c:valAx>
      <c:valAx>
        <c:axId val="1649978783"/>
        <c:scaling>
          <c:orientation val="minMax"/>
        </c:scaling>
        <c:delete val="0"/>
        <c:axPos val="l"/>
        <c:numFmt formatCode="0.0%" sourceLinked="0"/>
        <c:majorTickMark val="out"/>
        <c:minorTickMark val="none"/>
        <c:tickLblPos val="low"/>
        <c:spPr>
          <a:ln w="6350">
            <a:noFill/>
          </a:ln>
        </c:spPr>
        <c:crossAx val="1649969631"/>
        <c:crosses val="autoZero"/>
        <c:crossBetween val="midCat"/>
      </c:valAx>
      <c:spPr>
        <a:noFill/>
        <a:ln w="12700">
          <a:solidFill>
            <a:srgbClr val="808080"/>
          </a:solidFill>
          <a:prstDash val="solid"/>
        </a:ln>
        <a:extLst>
          <a:ext uri="{909E8E84-426E-40DD-AFC4-6F175D3DCCD1}">
            <a14:hiddenFill xmlns:a14="http://schemas.microsoft.com/office/drawing/2010/main">
              <a:solidFill>
                <a:sysClr val="window" lastClr="FFFFFF"/>
              </a:solidFill>
            </a14:hiddenFill>
          </a:ext>
        </a:extLst>
      </c:spPr>
    </c:plotArea>
    <c:plotVisOnly val="1"/>
    <c:dispBlanksAs val="gap"/>
    <c:showDLblsOverMax val="0"/>
  </c:chart>
  <c:spPr>
    <a:noFill/>
    <a:ln w="6350">
      <a:noFill/>
    </a:ln>
    <a:extLst>
      <a:ext uri="{909E8E84-426E-40DD-AFC4-6F175D3DCCD1}">
        <a14:hiddenFill xmlns:a14="http://schemas.microsoft.com/office/drawing/2010/main">
          <a:solidFill>
            <a:sysClr val="window" lastClr="FFFFFF"/>
          </a:solidFill>
        </a14:hiddenFill>
      </a:ext>
    </a:ex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0"/>
    <c:plotArea>
      <c:layout/>
      <c:scatterChart>
        <c:scatterStyle val="lineMarker"/>
        <c:varyColors val="0"/>
        <c:ser>
          <c:idx val="0"/>
          <c:order val="0"/>
          <c:tx>
            <c:strRef>
              <c:f>Sheet2!$H$1</c:f>
              <c:strCache>
                <c:ptCount val="1"/>
                <c:pt idx="0">
                  <c:v>δ29Si of solids</c:v>
                </c:pt>
              </c:strCache>
            </c:strRef>
          </c:tx>
          <c:spPr>
            <a:ln w="19050" cap="rnd">
              <a:solidFill>
                <a:schemeClr val="accent1"/>
              </a:solidFill>
              <a:round/>
            </a:ln>
            <a:effectLst/>
          </c:spPr>
          <c:marker>
            <c:symbol val="circle"/>
            <c:size val="5"/>
            <c:spPr>
              <a:solidFill>
                <a:schemeClr val="accent1"/>
              </a:solidFill>
              <a:ln w="9525">
                <a:solidFill>
                  <a:schemeClr val="accent1"/>
                </a:solidFill>
              </a:ln>
              <a:effectLst/>
            </c:spPr>
          </c:marker>
          <c:xVal>
            <c:numRef>
              <c:f>Sheet2!$G$2:$G$4</c:f>
              <c:numCache>
                <c:formatCode>General</c:formatCode>
                <c:ptCount val="3"/>
                <c:pt idx="0">
                  <c:v>3</c:v>
                </c:pt>
                <c:pt idx="1">
                  <c:v>7</c:v>
                </c:pt>
                <c:pt idx="2">
                  <c:v>19</c:v>
                </c:pt>
              </c:numCache>
            </c:numRef>
          </c:xVal>
          <c:yVal>
            <c:numRef>
              <c:f>Sheet2!$H$2:$H$4</c:f>
              <c:numCache>
                <c:formatCode>0.0</c:formatCode>
                <c:ptCount val="3"/>
                <c:pt idx="0">
                  <c:v>6.02</c:v>
                </c:pt>
                <c:pt idx="1">
                  <c:v>26.49</c:v>
                </c:pt>
                <c:pt idx="2">
                  <c:v>19.25</c:v>
                </c:pt>
              </c:numCache>
            </c:numRef>
          </c:yVal>
          <c:smooth val="0"/>
          <c:extLst>
            <c:ext xmlns:c16="http://schemas.microsoft.com/office/drawing/2014/chart" uri="{C3380CC4-5D6E-409C-BE32-E72D297353CC}">
              <c16:uniqueId val="{00000000-B9E7-4F5B-B289-02732897CFCD}"/>
            </c:ext>
          </c:extLst>
        </c:ser>
        <c:ser>
          <c:idx val="1"/>
          <c:order val="1"/>
          <c:tx>
            <c:strRef>
              <c:f>Sheet2!$I$1</c:f>
              <c:strCache>
                <c:ptCount val="1"/>
                <c:pt idx="0">
                  <c:v>δ29Si of solutes</c:v>
                </c:pt>
              </c:strCache>
            </c:strRef>
          </c:tx>
          <c:spPr>
            <a:ln w="19050" cap="rnd">
              <a:solidFill>
                <a:schemeClr val="accent2"/>
              </a:solidFill>
              <a:round/>
            </a:ln>
            <a:effectLst/>
          </c:spPr>
          <c:marker>
            <c:symbol val="circle"/>
            <c:size val="5"/>
            <c:spPr>
              <a:solidFill>
                <a:schemeClr val="accent2"/>
              </a:solidFill>
              <a:ln w="9525">
                <a:solidFill>
                  <a:schemeClr val="accent2"/>
                </a:solidFill>
              </a:ln>
              <a:effectLst/>
            </c:spPr>
          </c:marker>
          <c:xVal>
            <c:numRef>
              <c:f>Sheet2!$G$2:$G$4</c:f>
              <c:numCache>
                <c:formatCode>General</c:formatCode>
                <c:ptCount val="3"/>
                <c:pt idx="0">
                  <c:v>3</c:v>
                </c:pt>
                <c:pt idx="1">
                  <c:v>7</c:v>
                </c:pt>
                <c:pt idx="2">
                  <c:v>19</c:v>
                </c:pt>
              </c:numCache>
            </c:numRef>
          </c:xVal>
          <c:yVal>
            <c:numRef>
              <c:f>Sheet2!$I$2:$I$4</c:f>
              <c:numCache>
                <c:formatCode>0.0</c:formatCode>
                <c:ptCount val="3"/>
                <c:pt idx="0">
                  <c:v>14.8</c:v>
                </c:pt>
                <c:pt idx="1">
                  <c:v>10.199999999999999</c:v>
                </c:pt>
                <c:pt idx="2">
                  <c:v>19.899999999999999</c:v>
                </c:pt>
              </c:numCache>
            </c:numRef>
          </c:yVal>
          <c:smooth val="0"/>
          <c:extLst>
            <c:ext xmlns:c16="http://schemas.microsoft.com/office/drawing/2014/chart" uri="{C3380CC4-5D6E-409C-BE32-E72D297353CC}">
              <c16:uniqueId val="{00000001-B9E7-4F5B-B289-02732897CFCD}"/>
            </c:ext>
          </c:extLst>
        </c:ser>
        <c:ser>
          <c:idx val="2"/>
          <c:order val="2"/>
          <c:tx>
            <c:strRef>
              <c:f>Sheet2!$J$1</c:f>
              <c:strCache>
                <c:ptCount val="1"/>
                <c:pt idx="0">
                  <c:v>Image analysis</c:v>
                </c:pt>
              </c:strCache>
            </c:strRef>
          </c:tx>
          <c:spPr>
            <a:ln w="19050" cap="rnd">
              <a:solidFill>
                <a:schemeClr val="accent3"/>
              </a:solidFill>
              <a:round/>
            </a:ln>
            <a:effectLst/>
          </c:spPr>
          <c:marker>
            <c:symbol val="circle"/>
            <c:size val="5"/>
            <c:spPr>
              <a:solidFill>
                <a:schemeClr val="accent3"/>
              </a:solidFill>
              <a:ln w="9525">
                <a:solidFill>
                  <a:schemeClr val="accent3"/>
                </a:solidFill>
              </a:ln>
              <a:effectLst/>
            </c:spPr>
          </c:marker>
          <c:xVal>
            <c:numRef>
              <c:f>Sheet2!$G$2:$G$4</c:f>
              <c:numCache>
                <c:formatCode>General</c:formatCode>
                <c:ptCount val="3"/>
                <c:pt idx="0">
                  <c:v>3</c:v>
                </c:pt>
                <c:pt idx="1">
                  <c:v>7</c:v>
                </c:pt>
                <c:pt idx="2">
                  <c:v>19</c:v>
                </c:pt>
              </c:numCache>
            </c:numRef>
          </c:xVal>
          <c:yVal>
            <c:numRef>
              <c:f>Sheet2!$J$2:$J$4</c:f>
              <c:numCache>
                <c:formatCode>0.0</c:formatCode>
                <c:ptCount val="3"/>
                <c:pt idx="0">
                  <c:v>15.29</c:v>
                </c:pt>
                <c:pt idx="1">
                  <c:v>17.8</c:v>
                </c:pt>
                <c:pt idx="2">
                  <c:v>18.47</c:v>
                </c:pt>
              </c:numCache>
            </c:numRef>
          </c:yVal>
          <c:smooth val="0"/>
          <c:extLst>
            <c:ext xmlns:c16="http://schemas.microsoft.com/office/drawing/2014/chart" uri="{C3380CC4-5D6E-409C-BE32-E72D297353CC}">
              <c16:uniqueId val="{00000002-B9E7-4F5B-B289-02732897CFCD}"/>
            </c:ext>
          </c:extLst>
        </c:ser>
        <c:dLbls>
          <c:showLegendKey val="0"/>
          <c:showVal val="0"/>
          <c:showCatName val="0"/>
          <c:showSerName val="0"/>
          <c:showPercent val="0"/>
          <c:showBubbleSize val="0"/>
        </c:dLbls>
        <c:axId val="1078279135"/>
        <c:axId val="1078296415"/>
      </c:scatterChart>
      <c:valAx>
        <c:axId val="1078279135"/>
        <c:scaling>
          <c:orientation val="minMax"/>
        </c:scaling>
        <c:delete val="0"/>
        <c:axPos val="b"/>
        <c:title>
          <c:tx>
            <c:rich>
              <a:bodyPr rot="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r>
                  <a:rPr lang="en-US"/>
                  <a:t>Experiment duration (days)</a:t>
                </a:r>
              </a:p>
            </c:rich>
          </c:tx>
          <c:overlay val="0"/>
          <c:spPr>
            <a:noFill/>
            <a:ln>
              <a:noFill/>
            </a:ln>
            <a:effectLst/>
          </c:spPr>
          <c:txPr>
            <a:bodyPr rot="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out"/>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crossAx val="1078296415"/>
        <c:crosses val="autoZero"/>
        <c:crossBetween val="midCat"/>
      </c:valAx>
      <c:valAx>
        <c:axId val="1078296415"/>
        <c:scaling>
          <c:orientation val="minMax"/>
        </c:scaling>
        <c:delete val="0"/>
        <c:axPos val="l"/>
        <c:title>
          <c:tx>
            <c:rich>
              <a:bodyPr rot="-54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r>
                  <a:rPr lang="en-US"/>
                  <a:t>% replacement</a:t>
                </a:r>
              </a:p>
            </c:rich>
          </c:tx>
          <c:overlay val="0"/>
          <c:spPr>
            <a:noFill/>
            <a:ln>
              <a:noFill/>
            </a:ln>
            <a:effectLst/>
          </c:spPr>
          <c:txPr>
            <a:bodyPr rot="-54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title>
        <c:numFmt formatCode="0" sourceLinked="0"/>
        <c:majorTickMark val="out"/>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crossAx val="1078279135"/>
        <c:crosses val="autoZero"/>
        <c:crossBetween val="midCat"/>
      </c:valAx>
      <c:spPr>
        <a:noFill/>
        <a:ln>
          <a:noFill/>
        </a:ln>
        <a:effectLst/>
      </c:spPr>
    </c:plotArea>
    <c:legend>
      <c:legendPos val="t"/>
      <c:overlay val="0"/>
      <c:spPr>
        <a:noFill/>
        <a:ln>
          <a:noFill/>
        </a:ln>
        <a:effectLst/>
      </c:spPr>
      <c:txPr>
        <a:bodyPr rot="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9525" cap="flat" cmpd="sng" algn="ctr">
      <a:noFill/>
      <a:round/>
    </a:ln>
    <a:effectLst/>
  </c:spPr>
  <c:txPr>
    <a:bodyPr/>
    <a:lstStyle/>
    <a:p>
      <a:pPr>
        <a:defRPr sz="1200"/>
      </a:pPr>
      <a:endParaRPr lang="en-US"/>
    </a:p>
  </c:txPr>
  <c:externalData r:id="rId4">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omments/modernComment_11F_929CA37E.xml><?xml version="1.0" encoding="utf-8"?>
<p188:cmLst xmlns:a="http://schemas.openxmlformats.org/drawingml/2006/main" xmlns:r="http://schemas.openxmlformats.org/officeDocument/2006/relationships" xmlns:p188="http://schemas.microsoft.com/office/powerpoint/2018/8/main">
  <p188:cm id="{F365FFE5-9382-4178-930F-F9BD4A4FE078}" authorId="{4B81E6FB-4FB3-2EC9-FC5E-2B38A3B2749C}" created="2025-12-20T16:58:41.264">
    <ac:txMkLst xmlns:ac="http://schemas.microsoft.com/office/drawing/2013/main/command">
      <pc:docMk xmlns:pc="http://schemas.microsoft.com/office/powerpoint/2013/main/command"/>
      <pc:sldMk xmlns:pc="http://schemas.microsoft.com/office/powerpoint/2013/main/command" cId="2459739006" sldId="287"/>
      <ac:spMk id="2" creationId="{401841E3-9C9B-7210-829E-7310193DAA06}"/>
      <ac:txMk cp="0" len="68">
        <ac:context len="69" hash="1894467323"/>
      </ac:txMk>
    </ac:txMkLst>
    <p188:pos x="10148248" y="385502"/>
    <p188:txBody>
      <a:bodyPr/>
      <a:lstStyle/>
      <a:p>
        <a:r>
          <a:rPr lang="en-US"/>
          <a:t>Figure is inaccurate. Initial fluid has less 18O than metamict ZrSiO4. Need to revise in Illustrator.</a:t>
        </a:r>
      </a:p>
    </p188:txBody>
  </p188:cm>
</p188:cmLst>
</file>

<file path=ppt/comments/modernComment_144_38647347.xml><?xml version="1.0" encoding="utf-8"?>
<p188:cmLst xmlns:a="http://schemas.openxmlformats.org/drawingml/2006/main" xmlns:r="http://schemas.openxmlformats.org/officeDocument/2006/relationships" xmlns:p188="http://schemas.microsoft.com/office/powerpoint/2018/8/main">
  <p188:cm id="{BB52E161-E312-4A4E-A0E3-06EFA3D6AEB5}" authorId="{4B81E6FB-4FB3-2EC9-FC5E-2B38A3B2749C}" created="2026-08-10T12:47:54.870">
    <ac:txMkLst xmlns:ac="http://schemas.microsoft.com/office/drawing/2013/main/command">
      <pc:docMk xmlns:pc="http://schemas.microsoft.com/office/powerpoint/2013/main/command"/>
      <pc:sldMk xmlns:pc="http://schemas.microsoft.com/office/powerpoint/2013/main/command" cId="946107207" sldId="324"/>
      <ac:graphicFrameMk id="7" creationId="{274F952D-B324-2AA2-4730-AB0E600AE472}"/>
      <ac:tblMk/>
      <ac:tcMk rowId="2051581651" colId="3318582525"/>
      <ac:txMk cp="0" len="2">
        <ac:context len="3" hash="88618"/>
      </ac:txMk>
    </ac:txMkLst>
    <p188:pos x="8863550" y="1605405"/>
    <p188:txBody>
      <a:bodyPr/>
      <a:lstStyle/>
      <a:p>
        <a:r>
          <a:rPr lang="en-US"/>
          <a:t>Experiment log says “yes”</a:t>
        </a:r>
      </a:p>
    </p188:txBody>
  </p188:cm>
</p188:cmLst>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9C6A90F-967E-4E28-ADFE-8FFD75B65408}"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14B4C52F-959C-4EFC-BCFD-F7098888F08A}">
      <dgm:prSet/>
      <dgm:spPr/>
      <dgm:t>
        <a:bodyPr/>
        <a:lstStyle/>
        <a:p>
          <a:r>
            <a:rPr lang="en-US"/>
            <a:t>The replacement occurs on mineral surface and cracks;</a:t>
          </a:r>
        </a:p>
      </dgm:t>
    </dgm:pt>
    <dgm:pt modelId="{5A97C4AC-70FE-4885-B7F9-3875E6E3B089}" type="parTrans" cxnId="{239A3D99-8479-4F1D-8CCB-2BAB5F68EDBD}">
      <dgm:prSet/>
      <dgm:spPr/>
      <dgm:t>
        <a:bodyPr/>
        <a:lstStyle/>
        <a:p>
          <a:endParaRPr lang="en-US"/>
        </a:p>
      </dgm:t>
    </dgm:pt>
    <dgm:pt modelId="{B1B52DA6-52F6-4EB2-A7F0-B2CA55E7D8BE}" type="sibTrans" cxnId="{239A3D99-8479-4F1D-8CCB-2BAB5F68EDBD}">
      <dgm:prSet/>
      <dgm:spPr/>
      <dgm:t>
        <a:bodyPr/>
        <a:lstStyle/>
        <a:p>
          <a:endParaRPr lang="en-US"/>
        </a:p>
      </dgm:t>
    </dgm:pt>
    <dgm:pt modelId="{ABBC574C-5126-4980-910E-0588FD1D03E9}">
      <dgm:prSet/>
      <dgm:spPr/>
      <dgm:t>
        <a:bodyPr/>
        <a:lstStyle/>
        <a:p>
          <a:r>
            <a:rPr lang="en-US"/>
            <a:t>The replacement domain show porous texture;</a:t>
          </a:r>
        </a:p>
      </dgm:t>
    </dgm:pt>
    <dgm:pt modelId="{6AD5E1F1-81AC-4306-B440-C97CB2ED41F4}" type="parTrans" cxnId="{E5D89DAC-8E08-4356-A85E-39A47A4C5981}">
      <dgm:prSet/>
      <dgm:spPr/>
      <dgm:t>
        <a:bodyPr/>
        <a:lstStyle/>
        <a:p>
          <a:endParaRPr lang="en-US"/>
        </a:p>
      </dgm:t>
    </dgm:pt>
    <dgm:pt modelId="{44775CFD-4F04-4578-8D93-40581955A5A7}" type="sibTrans" cxnId="{E5D89DAC-8E08-4356-A85E-39A47A4C5981}">
      <dgm:prSet/>
      <dgm:spPr/>
      <dgm:t>
        <a:bodyPr/>
        <a:lstStyle/>
        <a:p>
          <a:endParaRPr lang="en-US"/>
        </a:p>
      </dgm:t>
    </dgm:pt>
    <dgm:pt modelId="{D1FA8C5F-A639-4473-BF69-90184F9FF090}">
      <dgm:prSet/>
      <dgm:spPr/>
      <dgm:t>
        <a:bodyPr/>
        <a:lstStyle/>
        <a:p>
          <a:r>
            <a:rPr lang="en-US"/>
            <a:t>Increase in the percentage of replacement through time.</a:t>
          </a:r>
        </a:p>
      </dgm:t>
    </dgm:pt>
    <dgm:pt modelId="{1C0617D9-4E2F-4C21-866C-BA2D1BA92B10}" type="parTrans" cxnId="{292D29FE-AEF8-42FE-962E-2F8A411B4C82}">
      <dgm:prSet/>
      <dgm:spPr/>
      <dgm:t>
        <a:bodyPr/>
        <a:lstStyle/>
        <a:p>
          <a:endParaRPr lang="en-US"/>
        </a:p>
      </dgm:t>
    </dgm:pt>
    <dgm:pt modelId="{8F2DCD78-DDAC-487B-9309-063C4C26D61E}" type="sibTrans" cxnId="{292D29FE-AEF8-42FE-962E-2F8A411B4C82}">
      <dgm:prSet/>
      <dgm:spPr/>
      <dgm:t>
        <a:bodyPr/>
        <a:lstStyle/>
        <a:p>
          <a:endParaRPr lang="en-US"/>
        </a:p>
      </dgm:t>
    </dgm:pt>
    <dgm:pt modelId="{474E4159-3DE1-41C1-A45C-08DCE924F75B}" type="pres">
      <dgm:prSet presAssocID="{89C6A90F-967E-4E28-ADFE-8FFD75B65408}" presName="linear" presStyleCnt="0">
        <dgm:presLayoutVars>
          <dgm:animLvl val="lvl"/>
          <dgm:resizeHandles val="exact"/>
        </dgm:presLayoutVars>
      </dgm:prSet>
      <dgm:spPr/>
    </dgm:pt>
    <dgm:pt modelId="{6516996D-CF90-4912-B764-FE272DFC3951}" type="pres">
      <dgm:prSet presAssocID="{14B4C52F-959C-4EFC-BCFD-F7098888F08A}" presName="parentText" presStyleLbl="node1" presStyleIdx="0" presStyleCnt="3">
        <dgm:presLayoutVars>
          <dgm:chMax val="0"/>
          <dgm:bulletEnabled val="1"/>
        </dgm:presLayoutVars>
      </dgm:prSet>
      <dgm:spPr/>
    </dgm:pt>
    <dgm:pt modelId="{ED776A6E-4781-495C-83C0-D0B64411339F}" type="pres">
      <dgm:prSet presAssocID="{B1B52DA6-52F6-4EB2-A7F0-B2CA55E7D8BE}" presName="spacer" presStyleCnt="0"/>
      <dgm:spPr/>
    </dgm:pt>
    <dgm:pt modelId="{134712B7-5C9A-4BD2-A77F-5BF24855244A}" type="pres">
      <dgm:prSet presAssocID="{ABBC574C-5126-4980-910E-0588FD1D03E9}" presName="parentText" presStyleLbl="node1" presStyleIdx="1" presStyleCnt="3">
        <dgm:presLayoutVars>
          <dgm:chMax val="0"/>
          <dgm:bulletEnabled val="1"/>
        </dgm:presLayoutVars>
      </dgm:prSet>
      <dgm:spPr/>
    </dgm:pt>
    <dgm:pt modelId="{B8C92DCD-A0C6-45A6-BF10-87AE5E4A8BFD}" type="pres">
      <dgm:prSet presAssocID="{44775CFD-4F04-4578-8D93-40581955A5A7}" presName="spacer" presStyleCnt="0"/>
      <dgm:spPr/>
    </dgm:pt>
    <dgm:pt modelId="{2D84ABFB-4582-4F3C-BC89-9C9B614CB4B5}" type="pres">
      <dgm:prSet presAssocID="{D1FA8C5F-A639-4473-BF69-90184F9FF090}" presName="parentText" presStyleLbl="node1" presStyleIdx="2" presStyleCnt="3">
        <dgm:presLayoutVars>
          <dgm:chMax val="0"/>
          <dgm:bulletEnabled val="1"/>
        </dgm:presLayoutVars>
      </dgm:prSet>
      <dgm:spPr/>
    </dgm:pt>
  </dgm:ptLst>
  <dgm:cxnLst>
    <dgm:cxn modelId="{34BCB235-73C2-4537-A19E-E869F7436900}" type="presOf" srcId="{ABBC574C-5126-4980-910E-0588FD1D03E9}" destId="{134712B7-5C9A-4BD2-A77F-5BF24855244A}" srcOrd="0" destOrd="0" presId="urn:microsoft.com/office/officeart/2005/8/layout/vList2"/>
    <dgm:cxn modelId="{239A3D99-8479-4F1D-8CCB-2BAB5F68EDBD}" srcId="{89C6A90F-967E-4E28-ADFE-8FFD75B65408}" destId="{14B4C52F-959C-4EFC-BCFD-F7098888F08A}" srcOrd="0" destOrd="0" parTransId="{5A97C4AC-70FE-4885-B7F9-3875E6E3B089}" sibTransId="{B1B52DA6-52F6-4EB2-A7F0-B2CA55E7D8BE}"/>
    <dgm:cxn modelId="{E5D89DAC-8E08-4356-A85E-39A47A4C5981}" srcId="{89C6A90F-967E-4E28-ADFE-8FFD75B65408}" destId="{ABBC574C-5126-4980-910E-0588FD1D03E9}" srcOrd="1" destOrd="0" parTransId="{6AD5E1F1-81AC-4306-B440-C97CB2ED41F4}" sibTransId="{44775CFD-4F04-4578-8D93-40581955A5A7}"/>
    <dgm:cxn modelId="{84CA70F1-44D8-4369-8C5E-9A9A60A2AEF7}" type="presOf" srcId="{D1FA8C5F-A639-4473-BF69-90184F9FF090}" destId="{2D84ABFB-4582-4F3C-BC89-9C9B614CB4B5}" srcOrd="0" destOrd="0" presId="urn:microsoft.com/office/officeart/2005/8/layout/vList2"/>
    <dgm:cxn modelId="{7678A2F6-BAB3-4527-AA2C-E21DB893D24A}" type="presOf" srcId="{14B4C52F-959C-4EFC-BCFD-F7098888F08A}" destId="{6516996D-CF90-4912-B764-FE272DFC3951}" srcOrd="0" destOrd="0" presId="urn:microsoft.com/office/officeart/2005/8/layout/vList2"/>
    <dgm:cxn modelId="{292D29FE-AEF8-42FE-962E-2F8A411B4C82}" srcId="{89C6A90F-967E-4E28-ADFE-8FFD75B65408}" destId="{D1FA8C5F-A639-4473-BF69-90184F9FF090}" srcOrd="2" destOrd="0" parTransId="{1C0617D9-4E2F-4C21-866C-BA2D1BA92B10}" sibTransId="{8F2DCD78-DDAC-487B-9309-063C4C26D61E}"/>
    <dgm:cxn modelId="{391AD4FE-2B47-4542-9AF8-BCB4F8FCFC3E}" type="presOf" srcId="{89C6A90F-967E-4E28-ADFE-8FFD75B65408}" destId="{474E4159-3DE1-41C1-A45C-08DCE924F75B}" srcOrd="0" destOrd="0" presId="urn:microsoft.com/office/officeart/2005/8/layout/vList2"/>
    <dgm:cxn modelId="{DA270FB6-E73D-4188-8C61-72B875BF4D08}" type="presParOf" srcId="{474E4159-3DE1-41C1-A45C-08DCE924F75B}" destId="{6516996D-CF90-4912-B764-FE272DFC3951}" srcOrd="0" destOrd="0" presId="urn:microsoft.com/office/officeart/2005/8/layout/vList2"/>
    <dgm:cxn modelId="{74A44017-D146-49A6-A628-2ADC3B8F1AB8}" type="presParOf" srcId="{474E4159-3DE1-41C1-A45C-08DCE924F75B}" destId="{ED776A6E-4781-495C-83C0-D0B64411339F}" srcOrd="1" destOrd="0" presId="urn:microsoft.com/office/officeart/2005/8/layout/vList2"/>
    <dgm:cxn modelId="{C2703113-1055-46EA-A5B0-0CC465CDC86A}" type="presParOf" srcId="{474E4159-3DE1-41C1-A45C-08DCE924F75B}" destId="{134712B7-5C9A-4BD2-A77F-5BF24855244A}" srcOrd="2" destOrd="0" presId="urn:microsoft.com/office/officeart/2005/8/layout/vList2"/>
    <dgm:cxn modelId="{E6DF9448-3D44-4B12-96AC-599AB514EC71}" type="presParOf" srcId="{474E4159-3DE1-41C1-A45C-08DCE924F75B}" destId="{B8C92DCD-A0C6-45A6-BF10-87AE5E4A8BFD}" srcOrd="3" destOrd="0" presId="urn:microsoft.com/office/officeart/2005/8/layout/vList2"/>
    <dgm:cxn modelId="{291D6756-3A9A-4D9C-A151-F56B22A7A084}" type="presParOf" srcId="{474E4159-3DE1-41C1-A45C-08DCE924F75B}" destId="{2D84ABFB-4582-4F3C-BC89-9C9B614CB4B5}" srcOrd="4" destOrd="0" presId="urn:microsoft.com/office/officeart/2005/8/layout/vList2"/>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516996D-CF90-4912-B764-FE272DFC3951}">
      <dsp:nvSpPr>
        <dsp:cNvPr id="0" name=""/>
        <dsp:cNvSpPr/>
      </dsp:nvSpPr>
      <dsp:spPr>
        <a:xfrm>
          <a:off x="0" y="198398"/>
          <a:ext cx="5181600" cy="1745493"/>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a:t>The replacement occurs on mineral surface and cracks;</a:t>
          </a:r>
        </a:p>
      </dsp:txBody>
      <dsp:txXfrm>
        <a:off x="85208" y="283606"/>
        <a:ext cx="5011184" cy="1575077"/>
      </dsp:txXfrm>
    </dsp:sp>
    <dsp:sp modelId="{134712B7-5C9A-4BD2-A77F-5BF24855244A}">
      <dsp:nvSpPr>
        <dsp:cNvPr id="0" name=""/>
        <dsp:cNvSpPr/>
      </dsp:nvSpPr>
      <dsp:spPr>
        <a:xfrm>
          <a:off x="0" y="2033172"/>
          <a:ext cx="5181600" cy="1745493"/>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a:t>The replacement domain show porous texture;</a:t>
          </a:r>
        </a:p>
      </dsp:txBody>
      <dsp:txXfrm>
        <a:off x="85208" y="2118380"/>
        <a:ext cx="5011184" cy="1575077"/>
      </dsp:txXfrm>
    </dsp:sp>
    <dsp:sp modelId="{2D84ABFB-4582-4F3C-BC89-9C9B614CB4B5}">
      <dsp:nvSpPr>
        <dsp:cNvPr id="0" name=""/>
        <dsp:cNvSpPr/>
      </dsp:nvSpPr>
      <dsp:spPr>
        <a:xfrm>
          <a:off x="0" y="3867945"/>
          <a:ext cx="5181600" cy="1745493"/>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a:t>Increase in the percentage of replacement through time.</a:t>
          </a:r>
        </a:p>
      </dsp:txBody>
      <dsp:txXfrm>
        <a:off x="85208" y="3953153"/>
        <a:ext cx="5011184" cy="1575077"/>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1A50702-3C68-4B14-B819-72B57D27F94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EF0F4880-E690-44D0-8356-A9E7BDBAB09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BE6205E-B305-4B90-9534-3C5E99A0275E}" type="datetimeFigureOut">
              <a:rPr lang="en-US" smtClean="0"/>
              <a:t>8/10/2026</a:t>
            </a:fld>
            <a:endParaRPr lang="en-US"/>
          </a:p>
        </p:txBody>
      </p:sp>
      <p:sp>
        <p:nvSpPr>
          <p:cNvPr id="4" name="Footer Placeholder 3">
            <a:extLst>
              <a:ext uri="{FF2B5EF4-FFF2-40B4-BE49-F238E27FC236}">
                <a16:creationId xmlns:a16="http://schemas.microsoft.com/office/drawing/2014/main" id="{26B4ACF6-39FD-4B08-A7D5-5BFDC37B4625}"/>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AF7C9FD2-2C57-4DE7-8EA4-86DEE80B988D}"/>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0AC623C-86E0-4A85-83FB-F4A716956FD4}" type="slidenum">
              <a:rPr lang="en-US" smtClean="0"/>
              <a:t>‹#›</a:t>
            </a:fld>
            <a:endParaRPr lang="en-US"/>
          </a:p>
        </p:txBody>
      </p:sp>
    </p:spTree>
    <p:extLst>
      <p:ext uri="{BB962C8B-B14F-4D97-AF65-F5344CB8AC3E}">
        <p14:creationId xmlns:p14="http://schemas.microsoft.com/office/powerpoint/2010/main" val="169395559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33722F1-E430-42A1-A473-1759336AECCE}" type="datetimeFigureOut">
              <a:rPr lang="en-US" smtClean="0"/>
              <a:t>8/10/2026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37D7554-D10C-4E29-B8E6-BB7111FA614F}" type="slidenum">
              <a:rPr lang="en-US" smtClean="0"/>
              <a:t>‹#›</a:t>
            </a:fld>
            <a:endParaRPr lang="en-US"/>
          </a:p>
        </p:txBody>
      </p:sp>
    </p:spTree>
    <p:extLst>
      <p:ext uri="{BB962C8B-B14F-4D97-AF65-F5344CB8AC3E}">
        <p14:creationId xmlns:p14="http://schemas.microsoft.com/office/powerpoint/2010/main" val="35173470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00">
                <a:effectLst/>
                <a:ea typeface="Calibri" panose="020F0502020204030204" pitchFamily="34" charset="0"/>
                <a:cs typeface="Arial" panose="020B0604020202020204" pitchFamily="34" charset="0"/>
              </a:rPr>
              <a:t>Activity-activity diagram comparing the pH-dependent solubilities of zirconium phases at conditions of quartz saturation at 0.2 GPa and 600°C. The fluid is undersaturated in the blue fields that are labeled with the dominant aqueous species and oversaturated in the yellow fields. Diagram of each mineral constructed using the GWB program Act2. The activities on the y-axis are for the dominant Zr species at the specified </a:t>
            </a:r>
            <a:r>
              <a:rPr lang="en-US" sz="1800" kern="100" err="1">
                <a:effectLst/>
                <a:ea typeface="Calibri" panose="020F0502020204030204" pitchFamily="34" charset="0"/>
                <a:cs typeface="Arial" panose="020B0604020202020204" pitchFamily="34" charset="0"/>
              </a:rPr>
              <a:t>pH.</a:t>
            </a:r>
            <a:endParaRPr lang="en-US" sz="1800" kern="100">
              <a:effectLst/>
              <a:ea typeface="Calibri" panose="020F0502020204030204" pitchFamily="34" charset="0"/>
              <a:cs typeface="Arial" panose="020B0604020202020204" pitchFamily="34" charset="0"/>
            </a:endParaRPr>
          </a:p>
        </p:txBody>
      </p:sp>
      <p:sp>
        <p:nvSpPr>
          <p:cNvPr id="4" name="Slide Number Placeholder 3"/>
          <p:cNvSpPr>
            <a:spLocks noGrp="1"/>
          </p:cNvSpPr>
          <p:nvPr>
            <p:ph type="sldNum" sz="quarter" idx="5"/>
          </p:nvPr>
        </p:nvSpPr>
        <p:spPr/>
        <p:txBody>
          <a:bodyPr/>
          <a:lstStyle/>
          <a:p>
            <a:fld id="{DC6B187F-9F96-428F-93C0-109C1D259442}" type="slidenum">
              <a:rPr lang="en-US" smtClean="0"/>
              <a:t>4</a:t>
            </a:fld>
            <a:endParaRPr lang="en-US"/>
          </a:p>
        </p:txBody>
      </p:sp>
    </p:spTree>
    <p:extLst>
      <p:ext uri="{BB962C8B-B14F-4D97-AF65-F5344CB8AC3E}">
        <p14:creationId xmlns:p14="http://schemas.microsoft.com/office/powerpoint/2010/main" val="9458382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a:t>Why isotopic tracing, compared to weight loss and image analysis.</a:t>
            </a:r>
            <a:endParaRPr lang="zh-CN" altLang="en-US"/>
          </a:p>
        </p:txBody>
      </p:sp>
      <p:sp>
        <p:nvSpPr>
          <p:cNvPr id="4" name="灯片编号占位符 3"/>
          <p:cNvSpPr>
            <a:spLocks noGrp="1"/>
          </p:cNvSpPr>
          <p:nvPr>
            <p:ph type="sldNum" sz="quarter" idx="5"/>
          </p:nvPr>
        </p:nvSpPr>
        <p:spPr/>
        <p:txBody>
          <a:bodyPr/>
          <a:lstStyle/>
          <a:p>
            <a:fld id="{1618C26C-7C2D-495C-A01D-6120E3FCC669}" type="slidenum">
              <a:rPr lang="zh-CN" altLang="en-US" smtClean="0"/>
              <a:t>5</a:t>
            </a:fld>
            <a:endParaRPr lang="zh-CN" altLang="en-US"/>
          </a:p>
        </p:txBody>
      </p:sp>
    </p:spTree>
    <p:extLst>
      <p:ext uri="{BB962C8B-B14F-4D97-AF65-F5344CB8AC3E}">
        <p14:creationId xmlns:p14="http://schemas.microsoft.com/office/powerpoint/2010/main" val="363601981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C6B187F-9F96-428F-93C0-109C1D259442}" type="slidenum">
              <a:rPr lang="en-US" smtClean="0"/>
              <a:pPr/>
              <a:t>7</a:t>
            </a:fld>
            <a:endParaRPr lang="en-US"/>
          </a:p>
        </p:txBody>
      </p:sp>
    </p:spTree>
    <p:extLst>
      <p:ext uri="{BB962C8B-B14F-4D97-AF65-F5344CB8AC3E}">
        <p14:creationId xmlns:p14="http://schemas.microsoft.com/office/powerpoint/2010/main" val="22543521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err="1"/>
              <a:t>Picarro</a:t>
            </a:r>
            <a:endParaRPr lang="zh-CN" altLang="en-US"/>
          </a:p>
        </p:txBody>
      </p:sp>
      <p:sp>
        <p:nvSpPr>
          <p:cNvPr id="4" name="灯片编号占位符 3"/>
          <p:cNvSpPr>
            <a:spLocks noGrp="1"/>
          </p:cNvSpPr>
          <p:nvPr>
            <p:ph type="sldNum" sz="quarter" idx="5"/>
          </p:nvPr>
        </p:nvSpPr>
        <p:spPr/>
        <p:txBody>
          <a:bodyPr/>
          <a:lstStyle/>
          <a:p>
            <a:fld id="{1618C26C-7C2D-495C-A01D-6120E3FCC669}" type="slidenum">
              <a:rPr lang="zh-CN" altLang="en-US" smtClean="0"/>
              <a:t>10</a:t>
            </a:fld>
            <a:endParaRPr lang="zh-CN" altLang="en-US"/>
          </a:p>
        </p:txBody>
      </p:sp>
    </p:spTree>
    <p:extLst>
      <p:ext uri="{BB962C8B-B14F-4D97-AF65-F5344CB8AC3E}">
        <p14:creationId xmlns:p14="http://schemas.microsoft.com/office/powerpoint/2010/main" val="7408113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a:t>Porous</a:t>
            </a:r>
          </a:p>
          <a:p>
            <a:r>
              <a:rPr lang="en-US" altLang="zh-CN"/>
              <a:t>Crack</a:t>
            </a:r>
            <a:r>
              <a:rPr lang="zh-CN" altLang="en-US"/>
              <a:t> </a:t>
            </a:r>
            <a:r>
              <a:rPr lang="en-US" altLang="zh-CN"/>
              <a:t>rim</a:t>
            </a:r>
          </a:p>
          <a:p>
            <a:endParaRPr lang="en-US" altLang="zh-CN"/>
          </a:p>
        </p:txBody>
      </p:sp>
      <p:sp>
        <p:nvSpPr>
          <p:cNvPr id="4" name="灯片编号占位符 3"/>
          <p:cNvSpPr>
            <a:spLocks noGrp="1"/>
          </p:cNvSpPr>
          <p:nvPr>
            <p:ph type="sldNum" sz="quarter" idx="5"/>
          </p:nvPr>
        </p:nvSpPr>
        <p:spPr/>
        <p:txBody>
          <a:bodyPr/>
          <a:lstStyle/>
          <a:p>
            <a:fld id="{1618C26C-7C2D-495C-A01D-6120E3FCC669}" type="slidenum">
              <a:rPr lang="zh-CN" altLang="en-US" smtClean="0"/>
              <a:t>13</a:t>
            </a:fld>
            <a:endParaRPr lang="zh-CN" altLang="en-US"/>
          </a:p>
        </p:txBody>
      </p:sp>
    </p:spTree>
    <p:extLst>
      <p:ext uri="{BB962C8B-B14F-4D97-AF65-F5344CB8AC3E}">
        <p14:creationId xmlns:p14="http://schemas.microsoft.com/office/powerpoint/2010/main" val="238759312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1618C26C-7C2D-495C-A01D-6120E3FCC669}" type="slidenum">
              <a:rPr lang="zh-CN" altLang="en-US" smtClean="0"/>
              <a:t>15</a:t>
            </a:fld>
            <a:endParaRPr lang="zh-CN" altLang="en-US"/>
          </a:p>
        </p:txBody>
      </p:sp>
    </p:spTree>
    <p:extLst>
      <p:ext uri="{BB962C8B-B14F-4D97-AF65-F5344CB8AC3E}">
        <p14:creationId xmlns:p14="http://schemas.microsoft.com/office/powerpoint/2010/main" val="222758985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a:t>Add </a:t>
            </a:r>
            <a:r>
              <a:rPr lang="en-US" altLang="zh-CN" err="1"/>
              <a:t>Picarro</a:t>
            </a:r>
            <a:r>
              <a:rPr lang="en-US" altLang="zh-CN"/>
              <a:t> after this</a:t>
            </a:r>
            <a:endParaRPr lang="zh-CN" altLang="en-US"/>
          </a:p>
        </p:txBody>
      </p:sp>
      <p:sp>
        <p:nvSpPr>
          <p:cNvPr id="4" name="灯片编号占位符 3"/>
          <p:cNvSpPr>
            <a:spLocks noGrp="1"/>
          </p:cNvSpPr>
          <p:nvPr>
            <p:ph type="sldNum" sz="quarter" idx="10"/>
          </p:nvPr>
        </p:nvSpPr>
        <p:spPr/>
        <p:txBody>
          <a:bodyPr/>
          <a:lstStyle/>
          <a:p>
            <a:fld id="{DC6B187F-9F96-428F-93C0-109C1D259442}" type="slidenum">
              <a:rPr lang="en-US" smtClean="0"/>
              <a:pPr/>
              <a:t>18</a:t>
            </a:fld>
            <a:endParaRPr lang="en-US"/>
          </a:p>
        </p:txBody>
      </p:sp>
    </p:spTree>
    <p:extLst>
      <p:ext uri="{BB962C8B-B14F-4D97-AF65-F5344CB8AC3E}">
        <p14:creationId xmlns:p14="http://schemas.microsoft.com/office/powerpoint/2010/main" val="269179796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Change to </a:t>
            </a:r>
            <a:r>
              <a:rPr lang="en-US" altLang="zh-CN" dirty="0" err="1"/>
              <a:t>keewooks</a:t>
            </a:r>
            <a:r>
              <a:rPr lang="en-US" altLang="zh-CN" dirty="0"/>
              <a:t> results</a:t>
            </a:r>
            <a:endParaRPr lang="en-US" dirty="0"/>
          </a:p>
        </p:txBody>
      </p:sp>
      <p:sp>
        <p:nvSpPr>
          <p:cNvPr id="4" name="Slide Number Placeholder 3"/>
          <p:cNvSpPr>
            <a:spLocks noGrp="1"/>
          </p:cNvSpPr>
          <p:nvPr>
            <p:ph type="sldNum" sz="quarter" idx="5"/>
          </p:nvPr>
        </p:nvSpPr>
        <p:spPr/>
        <p:txBody>
          <a:bodyPr/>
          <a:lstStyle/>
          <a:p>
            <a:fld id="{DC6B187F-9F96-428F-93C0-109C1D259442}" type="slidenum">
              <a:rPr lang="en-US" smtClean="0"/>
              <a:pPr/>
              <a:t>24</a:t>
            </a:fld>
            <a:endParaRPr lang="en-US" dirty="0"/>
          </a:p>
        </p:txBody>
      </p:sp>
    </p:spTree>
    <p:extLst>
      <p:ext uri="{BB962C8B-B14F-4D97-AF65-F5344CB8AC3E}">
        <p14:creationId xmlns:p14="http://schemas.microsoft.com/office/powerpoint/2010/main" val="37777155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1">
    <p:bg>
      <p:bgPr>
        <a:solidFill>
          <a:schemeClr val="accent2">
            <a:lumMod val="50000"/>
          </a:schemeClr>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1B5E70F-EF03-B535-2505-BC971E3BC36D}"/>
              </a:ext>
              <a:ext uri="{C183D7F6-B498-43B3-948B-1728B52AA6E4}">
                <adec:decorative xmlns:adec="http://schemas.microsoft.com/office/drawing/2017/decorative" val="1"/>
              </a:ext>
            </a:extLst>
          </p:cNvPr>
          <p:cNvSpPr/>
          <p:nvPr userDrawn="1"/>
        </p:nvSpPr>
        <p:spPr>
          <a:xfrm>
            <a:off x="0" y="594360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 name="Straight Connector 2">
            <a:extLst>
              <a:ext uri="{FF2B5EF4-FFF2-40B4-BE49-F238E27FC236}">
                <a16:creationId xmlns:a16="http://schemas.microsoft.com/office/drawing/2014/main" id="{8794424E-93DD-A404-D05E-EF6030A76D3B}"/>
              </a:ext>
              <a:ext uri="{C183D7F6-B498-43B3-948B-1728B52AA6E4}">
                <adec:decorative xmlns:adec="http://schemas.microsoft.com/office/drawing/2017/decorative" val="1"/>
              </a:ext>
            </a:extLst>
          </p:cNvPr>
          <p:cNvCxnSpPr>
            <a:cxnSpLocks/>
          </p:cNvCxnSpPr>
          <p:nvPr userDrawn="1"/>
        </p:nvCxnSpPr>
        <p:spPr>
          <a:xfrm>
            <a:off x="896628" y="0"/>
            <a:ext cx="0" cy="6858000"/>
          </a:xfrm>
          <a:prstGeom prst="line">
            <a:avLst/>
          </a:prstGeom>
          <a:ln w="19050">
            <a:solidFill>
              <a:schemeClr val="accent5">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B03A3B6B-5129-A46A-A20C-5D7BC706C9B1}"/>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itle 7">
            <a:extLst>
              <a:ext uri="{FF2B5EF4-FFF2-40B4-BE49-F238E27FC236}">
                <a16:creationId xmlns:a16="http://schemas.microsoft.com/office/drawing/2014/main" id="{24E401A1-8CEE-5E1B-343B-D737433AE63F}"/>
              </a:ext>
            </a:extLst>
          </p:cNvPr>
          <p:cNvSpPr>
            <a:spLocks noGrp="1"/>
          </p:cNvSpPr>
          <p:nvPr>
            <p:ph type="title" hasCustomPrompt="1"/>
          </p:nvPr>
        </p:nvSpPr>
        <p:spPr>
          <a:xfrm>
            <a:off x="1317615" y="690511"/>
            <a:ext cx="5185821" cy="5253089"/>
          </a:xfrm>
        </p:spPr>
        <p:txBody>
          <a:bodyPr anchor="b">
            <a:normAutofit/>
          </a:bodyPr>
          <a:lstStyle>
            <a:lvl1pPr>
              <a:defRPr sz="6000">
                <a:solidFill>
                  <a:schemeClr val="bg1"/>
                </a:solidFill>
              </a:defRPr>
            </a:lvl1pPr>
          </a:lstStyle>
          <a:p>
            <a:r>
              <a:rPr lang="en-US"/>
              <a:t>Click to add title</a:t>
            </a:r>
          </a:p>
        </p:txBody>
      </p:sp>
    </p:spTree>
    <p:extLst>
      <p:ext uri="{BB962C8B-B14F-4D97-AF65-F5344CB8AC3E}">
        <p14:creationId xmlns:p14="http://schemas.microsoft.com/office/powerpoint/2010/main" val="17845559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1">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5B3424C-4925-A7F7-02CD-84526B2E22EF}"/>
              </a:ext>
            </a:extLst>
          </p:cNvPr>
          <p:cNvSpPr>
            <a:spLocks noGrp="1"/>
          </p:cNvSpPr>
          <p:nvPr>
            <p:ph type="title" hasCustomPrompt="1"/>
          </p:nvPr>
        </p:nvSpPr>
        <p:spPr>
          <a:xfrm>
            <a:off x="1455583" y="737115"/>
            <a:ext cx="4640418" cy="5407091"/>
          </a:xfrm>
        </p:spPr>
        <p:txBody>
          <a:bodyPr lIns="0">
            <a:normAutofit/>
          </a:bodyPr>
          <a:lstStyle>
            <a:lvl1pPr>
              <a:defRPr sz="3600"/>
            </a:lvl1pPr>
          </a:lstStyle>
          <a:p>
            <a:r>
              <a:rPr lang="en-US"/>
              <a:t>Click to add title</a:t>
            </a:r>
          </a:p>
        </p:txBody>
      </p:sp>
      <p:sp>
        <p:nvSpPr>
          <p:cNvPr id="2" name="Content Placeholder 7">
            <a:extLst>
              <a:ext uri="{FF2B5EF4-FFF2-40B4-BE49-F238E27FC236}">
                <a16:creationId xmlns:a16="http://schemas.microsoft.com/office/drawing/2014/main" id="{AEA3C42D-C3E7-4F13-63E2-96D7A3B21113}"/>
              </a:ext>
            </a:extLst>
          </p:cNvPr>
          <p:cNvSpPr>
            <a:spLocks noGrp="1"/>
          </p:cNvSpPr>
          <p:nvPr>
            <p:ph sz="quarter" idx="12" hasCustomPrompt="1"/>
          </p:nvPr>
        </p:nvSpPr>
        <p:spPr>
          <a:xfrm>
            <a:off x="6388461" y="737115"/>
            <a:ext cx="4449712" cy="5407091"/>
          </a:xfrm>
        </p:spPr>
        <p:txBody>
          <a:bodyPr lIns="0" tIns="0" rIns="0" bIns="0" anchor="ctr">
            <a:normAutofit/>
          </a:bodyPr>
          <a:lstStyle>
            <a:lvl1pPr marL="228600" indent="-228600">
              <a:lnSpc>
                <a:spcPct val="100000"/>
              </a:lnSpc>
              <a:spcBef>
                <a:spcPts val="0"/>
              </a:spcBef>
              <a:spcAft>
                <a:spcPts val="1200"/>
              </a:spcAft>
              <a:buFont typeface="Arial" panose="020B0604020202020204" pitchFamily="34" charset="0"/>
              <a:buChar char="•"/>
              <a:defRPr sz="2000"/>
            </a:lvl1pPr>
            <a:lvl2pPr marL="685800" indent="-228600">
              <a:lnSpc>
                <a:spcPct val="100000"/>
              </a:lnSpc>
              <a:spcBef>
                <a:spcPts val="0"/>
              </a:spcBef>
              <a:spcAft>
                <a:spcPts val="1200"/>
              </a:spcAft>
              <a:buFont typeface="Arial" panose="020B0604020202020204" pitchFamily="34" charset="0"/>
              <a:buChar char="•"/>
              <a:defRPr sz="2000"/>
            </a:lvl2pPr>
            <a:lvl3pPr marL="1143000" indent="-228600">
              <a:spcBef>
                <a:spcPts val="0"/>
              </a:spcBef>
              <a:spcAft>
                <a:spcPts val="1200"/>
              </a:spcAft>
              <a:buFont typeface="Arial" panose="020B0604020202020204" pitchFamily="34" charset="0"/>
              <a:buChar char="•"/>
              <a:defRPr sz="2000"/>
            </a:lvl3pPr>
            <a:lvl4pPr marL="1600200" indent="-228600">
              <a:spcBef>
                <a:spcPts val="0"/>
              </a:spcBef>
              <a:spcAft>
                <a:spcPts val="1200"/>
              </a:spcAft>
              <a:buFont typeface="Arial" panose="020B0604020202020204" pitchFamily="34" charset="0"/>
              <a:buChar char="•"/>
              <a:defRPr sz="2000"/>
            </a:lvl4pPr>
            <a:lvl5pPr marL="2057400" indent="-228600">
              <a:spcBef>
                <a:spcPts val="0"/>
              </a:spcBef>
              <a:spcAft>
                <a:spcPts val="1200"/>
              </a:spcAft>
              <a:buFont typeface="Arial" panose="020B0604020202020204" pitchFamily="34" charset="0"/>
              <a:buChar char="•"/>
              <a:defRPr sz="2000"/>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cxnSp>
        <p:nvCxnSpPr>
          <p:cNvPr id="3" name="Straight Connector 2">
            <a:extLst>
              <a:ext uri="{FF2B5EF4-FFF2-40B4-BE49-F238E27FC236}">
                <a16:creationId xmlns:a16="http://schemas.microsoft.com/office/drawing/2014/main" id="{45FE61D9-DA99-9DA5-5DD2-C4118066CA63}"/>
              </a:ext>
              <a:ext uri="{C183D7F6-B498-43B3-948B-1728B52AA6E4}">
                <adec:decorative xmlns:adec="http://schemas.microsoft.com/office/drawing/2017/decorative" val="1"/>
              </a:ext>
            </a:extLst>
          </p:cNvPr>
          <p:cNvCxnSpPr>
            <a:cxnSpLocks/>
          </p:cNvCxnSpPr>
          <p:nvPr userDrawn="1"/>
        </p:nvCxnSpPr>
        <p:spPr>
          <a:xfrm>
            <a:off x="896628" y="0"/>
            <a:ext cx="0" cy="5943600"/>
          </a:xfrm>
          <a:prstGeom prst="line">
            <a:avLst/>
          </a:prstGeom>
          <a:ln w="1905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CE64603E-965E-E3BF-203B-F4D99428203D}"/>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Slide Number Placeholder 5">
            <a:extLst>
              <a:ext uri="{FF2B5EF4-FFF2-40B4-BE49-F238E27FC236}">
                <a16:creationId xmlns:a16="http://schemas.microsoft.com/office/drawing/2014/main" id="{4E9F5D75-1D8F-F695-81F8-4A6D0C678215}"/>
              </a:ext>
            </a:extLst>
          </p:cNvPr>
          <p:cNvSpPr>
            <a:spLocks noGrp="1"/>
          </p:cNvSpPr>
          <p:nvPr>
            <p:ph type="sldNum" sz="quarter" idx="15"/>
          </p:nvPr>
        </p:nvSpPr>
        <p:spPr>
          <a:xfrm>
            <a:off x="412136" y="5943601"/>
            <a:ext cx="968983" cy="651912"/>
          </a:xfrm>
        </p:spPr>
        <p:txBody>
          <a:bodyPr/>
          <a:lstStyle/>
          <a:p>
            <a:fld id="{18D65601-5AE2-46FC-B138-694DDD2B510D}" type="slidenum">
              <a:rPr lang="en-US" smtClean="0"/>
              <a:pPr/>
              <a:t>‹#›</a:t>
            </a:fld>
            <a:endParaRPr lang="en-US"/>
          </a:p>
        </p:txBody>
      </p:sp>
    </p:spTree>
    <p:extLst>
      <p:ext uri="{BB962C8B-B14F-4D97-AF65-F5344CB8AC3E}">
        <p14:creationId xmlns:p14="http://schemas.microsoft.com/office/powerpoint/2010/main" val="32772451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Picture">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BB6B956C-A124-5A7C-EBD4-CBB618B9BC1D}"/>
              </a:ext>
            </a:extLst>
          </p:cNvPr>
          <p:cNvSpPr>
            <a:spLocks noGrp="1"/>
          </p:cNvSpPr>
          <p:nvPr>
            <p:ph type="title" hasCustomPrompt="1"/>
          </p:nvPr>
        </p:nvSpPr>
        <p:spPr>
          <a:xfrm>
            <a:off x="1353827" y="1278294"/>
            <a:ext cx="5000318" cy="4904141"/>
          </a:xfrm>
        </p:spPr>
        <p:txBody>
          <a:bodyPr anchor="b">
            <a:normAutofit/>
          </a:bodyPr>
          <a:lstStyle>
            <a:lvl1pPr>
              <a:defRPr sz="3600"/>
            </a:lvl1pPr>
          </a:lstStyle>
          <a:p>
            <a:r>
              <a:rPr lang="en-US"/>
              <a:t>Click to add title</a:t>
            </a:r>
          </a:p>
        </p:txBody>
      </p:sp>
      <p:sp>
        <p:nvSpPr>
          <p:cNvPr id="12" name="Picture Placeholder 11">
            <a:extLst>
              <a:ext uri="{FF2B5EF4-FFF2-40B4-BE49-F238E27FC236}">
                <a16:creationId xmlns:a16="http://schemas.microsoft.com/office/drawing/2014/main" id="{2B92702B-E14C-886C-445A-349265F37592}"/>
              </a:ext>
            </a:extLst>
          </p:cNvPr>
          <p:cNvSpPr>
            <a:spLocks noGrp="1"/>
          </p:cNvSpPr>
          <p:nvPr>
            <p:ph type="pic" sz="quarter" idx="13"/>
          </p:nvPr>
        </p:nvSpPr>
        <p:spPr>
          <a:xfrm>
            <a:off x="6642169" y="-1"/>
            <a:ext cx="4635426" cy="6857999"/>
          </a:xfrm>
        </p:spPr>
        <p:txBody>
          <a:bodyPr>
            <a:normAutofit/>
          </a:bodyPr>
          <a:lstStyle>
            <a:lvl1pPr marL="0" indent="0" algn="ctr">
              <a:buNone/>
              <a:defRPr sz="2000"/>
            </a:lvl1pPr>
          </a:lstStyle>
          <a:p>
            <a:r>
              <a:rPr lang="en-US"/>
              <a:t>Click icon to add picture</a:t>
            </a:r>
          </a:p>
        </p:txBody>
      </p:sp>
      <p:sp>
        <p:nvSpPr>
          <p:cNvPr id="6" name="Rectangle 5">
            <a:extLst>
              <a:ext uri="{FF2B5EF4-FFF2-40B4-BE49-F238E27FC236}">
                <a16:creationId xmlns:a16="http://schemas.microsoft.com/office/drawing/2014/main" id="{49C76C37-CBD2-36CF-1413-53DD1CB4A545}"/>
              </a:ext>
              <a:ext uri="{C183D7F6-B498-43B3-948B-1728B52AA6E4}">
                <adec:decorative xmlns:adec="http://schemas.microsoft.com/office/drawing/2017/decorative" val="1"/>
              </a:ext>
            </a:extLst>
          </p:cNvPr>
          <p:cNvSpPr/>
          <p:nvPr userDrawn="1"/>
        </p:nvSpPr>
        <p:spPr>
          <a:xfrm>
            <a:off x="0" y="594360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510D1AAD-E663-5B8E-CE72-64C1DBF19CE0}"/>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Connector 7">
            <a:extLst>
              <a:ext uri="{FF2B5EF4-FFF2-40B4-BE49-F238E27FC236}">
                <a16:creationId xmlns:a16="http://schemas.microsoft.com/office/drawing/2014/main" id="{EC250190-89C1-EAA3-6C2A-15A60C6754F5}"/>
              </a:ext>
              <a:ext uri="{C183D7F6-B498-43B3-948B-1728B52AA6E4}">
                <adec:decorative xmlns:adec="http://schemas.microsoft.com/office/drawing/2017/decorative" val="1"/>
              </a:ext>
            </a:extLst>
          </p:cNvPr>
          <p:cNvCxnSpPr>
            <a:cxnSpLocks/>
          </p:cNvCxnSpPr>
          <p:nvPr userDrawn="1"/>
        </p:nvCxnSpPr>
        <p:spPr>
          <a:xfrm>
            <a:off x="896628" y="0"/>
            <a:ext cx="0" cy="6858000"/>
          </a:xfrm>
          <a:prstGeom prst="line">
            <a:avLst/>
          </a:prstGeom>
          <a:ln w="1905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490299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Subtitle">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BB6B956C-A124-5A7C-EBD4-CBB618B9BC1D}"/>
              </a:ext>
            </a:extLst>
          </p:cNvPr>
          <p:cNvSpPr>
            <a:spLocks noGrp="1"/>
          </p:cNvSpPr>
          <p:nvPr>
            <p:ph type="title" hasCustomPrompt="1"/>
          </p:nvPr>
        </p:nvSpPr>
        <p:spPr>
          <a:xfrm>
            <a:off x="1353827" y="3508311"/>
            <a:ext cx="9923770" cy="1438762"/>
          </a:xfrm>
        </p:spPr>
        <p:txBody>
          <a:bodyPr anchor="b">
            <a:normAutofit/>
          </a:bodyPr>
          <a:lstStyle>
            <a:lvl1pPr>
              <a:defRPr sz="3600"/>
            </a:lvl1pPr>
          </a:lstStyle>
          <a:p>
            <a:r>
              <a:rPr lang="en-US"/>
              <a:t>Click to add title</a:t>
            </a:r>
          </a:p>
        </p:txBody>
      </p:sp>
      <p:sp>
        <p:nvSpPr>
          <p:cNvPr id="12" name="Picture Placeholder 11">
            <a:extLst>
              <a:ext uri="{FF2B5EF4-FFF2-40B4-BE49-F238E27FC236}">
                <a16:creationId xmlns:a16="http://schemas.microsoft.com/office/drawing/2014/main" id="{2B92702B-E14C-886C-445A-349265F37592}"/>
              </a:ext>
            </a:extLst>
          </p:cNvPr>
          <p:cNvSpPr>
            <a:spLocks noGrp="1"/>
          </p:cNvSpPr>
          <p:nvPr>
            <p:ph type="pic" sz="quarter" idx="13"/>
          </p:nvPr>
        </p:nvSpPr>
        <p:spPr>
          <a:xfrm>
            <a:off x="915600" y="0"/>
            <a:ext cx="10361995" cy="3429000"/>
          </a:xfrm>
        </p:spPr>
        <p:txBody>
          <a:bodyPr>
            <a:normAutofit/>
          </a:bodyPr>
          <a:lstStyle>
            <a:lvl1pPr marL="0" indent="0" algn="ctr">
              <a:buNone/>
              <a:defRPr sz="2000"/>
            </a:lvl1pPr>
          </a:lstStyle>
          <a:p>
            <a:r>
              <a:rPr lang="en-US"/>
              <a:t>Click icon to add picture</a:t>
            </a:r>
          </a:p>
        </p:txBody>
      </p:sp>
      <p:sp>
        <p:nvSpPr>
          <p:cNvPr id="6" name="Rectangle 5">
            <a:extLst>
              <a:ext uri="{FF2B5EF4-FFF2-40B4-BE49-F238E27FC236}">
                <a16:creationId xmlns:a16="http://schemas.microsoft.com/office/drawing/2014/main" id="{49C76C37-CBD2-36CF-1413-53DD1CB4A545}"/>
              </a:ext>
              <a:ext uri="{C183D7F6-B498-43B3-948B-1728B52AA6E4}">
                <adec:decorative xmlns:adec="http://schemas.microsoft.com/office/drawing/2017/decorative" val="1"/>
              </a:ext>
            </a:extLst>
          </p:cNvPr>
          <p:cNvSpPr/>
          <p:nvPr userDrawn="1"/>
        </p:nvSpPr>
        <p:spPr>
          <a:xfrm>
            <a:off x="0" y="594360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510D1AAD-E663-5B8E-CE72-64C1DBF19CE0}"/>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Connector 7">
            <a:extLst>
              <a:ext uri="{FF2B5EF4-FFF2-40B4-BE49-F238E27FC236}">
                <a16:creationId xmlns:a16="http://schemas.microsoft.com/office/drawing/2014/main" id="{EC250190-89C1-EAA3-6C2A-15A60C6754F5}"/>
              </a:ext>
              <a:ext uri="{C183D7F6-B498-43B3-948B-1728B52AA6E4}">
                <adec:decorative xmlns:adec="http://schemas.microsoft.com/office/drawing/2017/decorative" val="1"/>
              </a:ext>
            </a:extLst>
          </p:cNvPr>
          <p:cNvCxnSpPr>
            <a:cxnSpLocks/>
          </p:cNvCxnSpPr>
          <p:nvPr userDrawn="1"/>
        </p:nvCxnSpPr>
        <p:spPr>
          <a:xfrm>
            <a:off x="896628" y="0"/>
            <a:ext cx="0" cy="6858000"/>
          </a:xfrm>
          <a:prstGeom prst="line">
            <a:avLst/>
          </a:prstGeom>
          <a:ln w="1905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
        <p:nvSpPr>
          <p:cNvPr id="10" name="Text Placeholder 12">
            <a:extLst>
              <a:ext uri="{FF2B5EF4-FFF2-40B4-BE49-F238E27FC236}">
                <a16:creationId xmlns:a16="http://schemas.microsoft.com/office/drawing/2014/main" id="{D179113D-0374-3934-841E-56AD5AFCF977}"/>
              </a:ext>
            </a:extLst>
          </p:cNvPr>
          <p:cNvSpPr>
            <a:spLocks noGrp="1"/>
          </p:cNvSpPr>
          <p:nvPr>
            <p:ph type="body" sz="quarter" idx="12" hasCustomPrompt="1"/>
          </p:nvPr>
        </p:nvSpPr>
        <p:spPr>
          <a:xfrm>
            <a:off x="1353828" y="5228488"/>
            <a:ext cx="9923770" cy="1368256"/>
          </a:xfrm>
          <a:prstGeom prst="rect">
            <a:avLst/>
          </a:prstGeom>
        </p:spPr>
        <p:txBody>
          <a:bodyPr anchor="t">
            <a:normAutofit/>
          </a:bodyPr>
          <a:lstStyle>
            <a:lvl1pPr marL="0" indent="0" algn="l">
              <a:lnSpc>
                <a:spcPct val="80000"/>
              </a:lnSpc>
              <a:spcBef>
                <a:spcPts val="0"/>
              </a:spcBef>
              <a:buNone/>
              <a:defRPr sz="2000" spc="0" baseline="0">
                <a:solidFill>
                  <a:schemeClr val="tx1"/>
                </a:solidFill>
                <a:latin typeface="+mn-lt"/>
              </a:defRPr>
            </a:lvl1pPr>
          </a:lstStyle>
          <a:p>
            <a:pPr lvl="0"/>
            <a:r>
              <a:rPr lang="en-US"/>
              <a:t>Click to add subtitle</a:t>
            </a:r>
          </a:p>
        </p:txBody>
      </p:sp>
    </p:spTree>
    <p:extLst>
      <p:ext uri="{BB962C8B-B14F-4D97-AF65-F5344CB8AC3E}">
        <p14:creationId xmlns:p14="http://schemas.microsoft.com/office/powerpoint/2010/main" val="32272241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5B3424C-4925-A7F7-02CD-84526B2E22EF}"/>
              </a:ext>
            </a:extLst>
          </p:cNvPr>
          <p:cNvSpPr>
            <a:spLocks noGrp="1"/>
          </p:cNvSpPr>
          <p:nvPr>
            <p:ph type="title" hasCustomPrompt="1"/>
          </p:nvPr>
        </p:nvSpPr>
        <p:spPr>
          <a:xfrm>
            <a:off x="1468815" y="503852"/>
            <a:ext cx="9150675" cy="1427585"/>
          </a:xfrm>
        </p:spPr>
        <p:txBody>
          <a:bodyPr lIns="0">
            <a:normAutofit/>
          </a:bodyPr>
          <a:lstStyle>
            <a:lvl1pPr>
              <a:defRPr sz="3600"/>
            </a:lvl1pPr>
          </a:lstStyle>
          <a:p>
            <a:r>
              <a:rPr lang="en-US"/>
              <a:t>Click to add title</a:t>
            </a:r>
          </a:p>
        </p:txBody>
      </p:sp>
      <p:sp>
        <p:nvSpPr>
          <p:cNvPr id="2" name="Content Placeholder 7">
            <a:extLst>
              <a:ext uri="{FF2B5EF4-FFF2-40B4-BE49-F238E27FC236}">
                <a16:creationId xmlns:a16="http://schemas.microsoft.com/office/drawing/2014/main" id="{AEA3C42D-C3E7-4F13-63E2-96D7A3B21113}"/>
              </a:ext>
            </a:extLst>
          </p:cNvPr>
          <p:cNvSpPr>
            <a:spLocks noGrp="1"/>
          </p:cNvSpPr>
          <p:nvPr>
            <p:ph sz="quarter" idx="12" hasCustomPrompt="1"/>
          </p:nvPr>
        </p:nvSpPr>
        <p:spPr>
          <a:xfrm>
            <a:off x="1450153" y="2108722"/>
            <a:ext cx="8552264" cy="4119463"/>
          </a:xfrm>
        </p:spPr>
        <p:txBody>
          <a:bodyPr lIns="0" tIns="0" rIns="0" bIns="0">
            <a:normAutofit/>
          </a:bodyPr>
          <a:lstStyle>
            <a:lvl1pPr marL="228600" indent="-228600">
              <a:lnSpc>
                <a:spcPct val="100000"/>
              </a:lnSpc>
              <a:spcBef>
                <a:spcPts val="0"/>
              </a:spcBef>
              <a:spcAft>
                <a:spcPts val="1200"/>
              </a:spcAft>
              <a:buFont typeface="Arial" panose="020B0604020202020204" pitchFamily="34" charset="0"/>
              <a:buChar char="•"/>
              <a:defRPr sz="2000"/>
            </a:lvl1pPr>
            <a:lvl2pPr marL="685800" indent="-228600">
              <a:lnSpc>
                <a:spcPct val="100000"/>
              </a:lnSpc>
              <a:spcBef>
                <a:spcPts val="0"/>
              </a:spcBef>
              <a:spcAft>
                <a:spcPts val="1200"/>
              </a:spcAft>
              <a:buFont typeface="Arial" panose="020B0604020202020204" pitchFamily="34" charset="0"/>
              <a:buChar char="•"/>
              <a:defRPr sz="2000"/>
            </a:lvl2pPr>
            <a:lvl3pPr marL="1143000" indent="-228600">
              <a:spcBef>
                <a:spcPts val="0"/>
              </a:spcBef>
              <a:spcAft>
                <a:spcPts val="1200"/>
              </a:spcAft>
              <a:buFont typeface="Arial" panose="020B0604020202020204" pitchFamily="34" charset="0"/>
              <a:buChar char="•"/>
              <a:defRPr sz="2000"/>
            </a:lvl3pPr>
            <a:lvl4pPr marL="1600200" indent="-228600">
              <a:spcBef>
                <a:spcPts val="0"/>
              </a:spcBef>
              <a:spcAft>
                <a:spcPts val="1200"/>
              </a:spcAft>
              <a:buFont typeface="Arial" panose="020B0604020202020204" pitchFamily="34" charset="0"/>
              <a:buChar char="•"/>
              <a:defRPr sz="2000"/>
            </a:lvl4pPr>
            <a:lvl5pPr marL="2057400" indent="-228600">
              <a:spcBef>
                <a:spcPts val="0"/>
              </a:spcBef>
              <a:spcAft>
                <a:spcPts val="1200"/>
              </a:spcAft>
              <a:buFont typeface="Arial" panose="020B0604020202020204" pitchFamily="34" charset="0"/>
              <a:buChar char="•"/>
              <a:defRPr sz="2000"/>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cxnSp>
        <p:nvCxnSpPr>
          <p:cNvPr id="3" name="Straight Connector 2">
            <a:extLst>
              <a:ext uri="{FF2B5EF4-FFF2-40B4-BE49-F238E27FC236}">
                <a16:creationId xmlns:a16="http://schemas.microsoft.com/office/drawing/2014/main" id="{45FE61D9-DA99-9DA5-5DD2-C4118066CA63}"/>
              </a:ext>
              <a:ext uri="{C183D7F6-B498-43B3-948B-1728B52AA6E4}">
                <adec:decorative xmlns:adec="http://schemas.microsoft.com/office/drawing/2017/decorative" val="1"/>
              </a:ext>
            </a:extLst>
          </p:cNvPr>
          <p:cNvCxnSpPr>
            <a:cxnSpLocks/>
          </p:cNvCxnSpPr>
          <p:nvPr userDrawn="1"/>
        </p:nvCxnSpPr>
        <p:spPr>
          <a:xfrm>
            <a:off x="896628" y="0"/>
            <a:ext cx="0" cy="5943600"/>
          </a:xfrm>
          <a:prstGeom prst="line">
            <a:avLst/>
          </a:prstGeom>
          <a:ln w="1905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CE64603E-965E-E3BF-203B-F4D99428203D}"/>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Slide Number Placeholder 5">
            <a:extLst>
              <a:ext uri="{FF2B5EF4-FFF2-40B4-BE49-F238E27FC236}">
                <a16:creationId xmlns:a16="http://schemas.microsoft.com/office/drawing/2014/main" id="{5DABAFC1-3E76-DCE6-3A6D-E0020C5BE864}"/>
              </a:ext>
            </a:extLst>
          </p:cNvPr>
          <p:cNvSpPr>
            <a:spLocks noGrp="1"/>
          </p:cNvSpPr>
          <p:nvPr>
            <p:ph type="sldNum" sz="quarter" idx="15"/>
          </p:nvPr>
        </p:nvSpPr>
        <p:spPr>
          <a:xfrm>
            <a:off x="412136" y="5943601"/>
            <a:ext cx="968983" cy="651912"/>
          </a:xfrm>
        </p:spPr>
        <p:txBody>
          <a:bodyPr/>
          <a:lstStyle/>
          <a:p>
            <a:fld id="{18D65601-5AE2-46FC-B138-694DDD2B510D}" type="slidenum">
              <a:rPr lang="en-US" smtClean="0"/>
              <a:pPr/>
              <a:t>‹#›</a:t>
            </a:fld>
            <a:endParaRPr lang="en-US"/>
          </a:p>
        </p:txBody>
      </p:sp>
    </p:spTree>
    <p:extLst>
      <p:ext uri="{BB962C8B-B14F-4D97-AF65-F5344CB8AC3E}">
        <p14:creationId xmlns:p14="http://schemas.microsoft.com/office/powerpoint/2010/main" val="13735965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Title">
    <p:bg>
      <p:bgPr>
        <a:solidFill>
          <a:schemeClr val="accent6"/>
        </a:solidFill>
        <a:effectLst/>
      </p:bgPr>
    </p:bg>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507175C5-CB2F-2BAC-3704-54DCD1BF043F}"/>
              </a:ext>
            </a:extLst>
          </p:cNvPr>
          <p:cNvSpPr>
            <a:spLocks noGrp="1"/>
          </p:cNvSpPr>
          <p:nvPr>
            <p:ph type="title" hasCustomPrompt="1"/>
          </p:nvPr>
        </p:nvSpPr>
        <p:spPr>
          <a:xfrm>
            <a:off x="1038031" y="1068169"/>
            <a:ext cx="10115939" cy="2681549"/>
          </a:xfrm>
        </p:spPr>
        <p:txBody>
          <a:bodyPr anchor="b"/>
          <a:lstStyle>
            <a:lvl1pPr algn="ctr">
              <a:defRPr>
                <a:solidFill>
                  <a:schemeClr val="bg1"/>
                </a:solidFill>
              </a:defRPr>
            </a:lvl1pPr>
          </a:lstStyle>
          <a:p>
            <a:r>
              <a:rPr lang="en-US"/>
              <a:t>Click to add title</a:t>
            </a:r>
          </a:p>
        </p:txBody>
      </p:sp>
      <p:sp>
        <p:nvSpPr>
          <p:cNvPr id="5" name="Rectangle 4">
            <a:extLst>
              <a:ext uri="{FF2B5EF4-FFF2-40B4-BE49-F238E27FC236}">
                <a16:creationId xmlns:a16="http://schemas.microsoft.com/office/drawing/2014/main" id="{3901905E-33E7-852F-94E3-8E100B3D1E4A}"/>
              </a:ext>
              <a:ext uri="{C183D7F6-B498-43B3-948B-1728B52AA6E4}">
                <adec:decorative xmlns:adec="http://schemas.microsoft.com/office/drawing/2017/decorative" val="1"/>
              </a:ext>
            </a:extLst>
          </p:cNvPr>
          <p:cNvSpPr/>
          <p:nvPr userDrawn="1"/>
        </p:nvSpPr>
        <p:spPr>
          <a:xfrm>
            <a:off x="914400" y="914400"/>
            <a:ext cx="10363200" cy="5029200"/>
          </a:xfrm>
          <a:prstGeom prst="rect">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1B7799F7-CBB1-9649-7D06-F7EEFD4F0183}"/>
              </a:ext>
              <a:ext uri="{C183D7F6-B498-43B3-948B-1728B52AA6E4}">
                <adec:decorative xmlns:adec="http://schemas.microsoft.com/office/drawing/2017/decorative" val="1"/>
              </a:ext>
            </a:extLst>
          </p:cNvPr>
          <p:cNvSpPr/>
          <p:nvPr userDrawn="1"/>
        </p:nvSpPr>
        <p:spPr>
          <a:xfrm>
            <a:off x="0" y="5943600"/>
            <a:ext cx="914400" cy="9144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B1AFC5CA-DB29-4B8C-C004-72E4EC761C3B}"/>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 Placeholder 12">
            <a:extLst>
              <a:ext uri="{FF2B5EF4-FFF2-40B4-BE49-F238E27FC236}">
                <a16:creationId xmlns:a16="http://schemas.microsoft.com/office/drawing/2014/main" id="{E3CB2D2A-7172-87CE-D493-DAF52D62EBFC}"/>
              </a:ext>
            </a:extLst>
          </p:cNvPr>
          <p:cNvSpPr>
            <a:spLocks noGrp="1"/>
          </p:cNvSpPr>
          <p:nvPr>
            <p:ph type="body" sz="quarter" idx="12" hasCustomPrompt="1"/>
          </p:nvPr>
        </p:nvSpPr>
        <p:spPr>
          <a:xfrm>
            <a:off x="1038031" y="4027047"/>
            <a:ext cx="10115939" cy="1762783"/>
          </a:xfrm>
          <a:prstGeom prst="rect">
            <a:avLst/>
          </a:prstGeom>
        </p:spPr>
        <p:txBody>
          <a:bodyPr anchor="t">
            <a:normAutofit/>
          </a:bodyPr>
          <a:lstStyle>
            <a:lvl1pPr marL="0" indent="0" algn="ctr">
              <a:lnSpc>
                <a:spcPct val="80000"/>
              </a:lnSpc>
              <a:spcBef>
                <a:spcPts val="0"/>
              </a:spcBef>
              <a:buNone/>
              <a:defRPr sz="2000" spc="0" baseline="0">
                <a:solidFill>
                  <a:schemeClr val="bg1"/>
                </a:solidFill>
                <a:latin typeface="+mn-lt"/>
              </a:defRPr>
            </a:lvl1pPr>
          </a:lstStyle>
          <a:p>
            <a:pPr lvl="0"/>
            <a:r>
              <a:rPr lang="en-US"/>
              <a:t>Click to add subtitle</a:t>
            </a:r>
          </a:p>
        </p:txBody>
      </p:sp>
    </p:spTree>
    <p:extLst>
      <p:ext uri="{BB962C8B-B14F-4D97-AF65-F5344CB8AC3E}">
        <p14:creationId xmlns:p14="http://schemas.microsoft.com/office/powerpoint/2010/main" val="20695361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2 Content ">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5B3424C-4925-A7F7-02CD-84526B2E22EF}"/>
              </a:ext>
            </a:extLst>
          </p:cNvPr>
          <p:cNvSpPr>
            <a:spLocks noGrp="1"/>
          </p:cNvSpPr>
          <p:nvPr>
            <p:ph type="title" hasCustomPrompt="1"/>
          </p:nvPr>
        </p:nvSpPr>
        <p:spPr>
          <a:xfrm>
            <a:off x="1468814" y="503852"/>
            <a:ext cx="9808773" cy="1427585"/>
          </a:xfrm>
        </p:spPr>
        <p:txBody>
          <a:bodyPr lIns="0">
            <a:normAutofit/>
          </a:bodyPr>
          <a:lstStyle>
            <a:lvl1pPr>
              <a:defRPr sz="3600"/>
            </a:lvl1pPr>
          </a:lstStyle>
          <a:p>
            <a:r>
              <a:rPr lang="en-US"/>
              <a:t>Click to add title</a:t>
            </a:r>
          </a:p>
        </p:txBody>
      </p:sp>
      <p:sp>
        <p:nvSpPr>
          <p:cNvPr id="2" name="Content Placeholder 7">
            <a:extLst>
              <a:ext uri="{FF2B5EF4-FFF2-40B4-BE49-F238E27FC236}">
                <a16:creationId xmlns:a16="http://schemas.microsoft.com/office/drawing/2014/main" id="{AEA3C42D-C3E7-4F13-63E2-96D7A3B21113}"/>
              </a:ext>
            </a:extLst>
          </p:cNvPr>
          <p:cNvSpPr>
            <a:spLocks noGrp="1"/>
          </p:cNvSpPr>
          <p:nvPr>
            <p:ph sz="quarter" idx="12" hasCustomPrompt="1"/>
          </p:nvPr>
        </p:nvSpPr>
        <p:spPr>
          <a:xfrm>
            <a:off x="1468814" y="2057401"/>
            <a:ext cx="4627186" cy="4119463"/>
          </a:xfrm>
        </p:spPr>
        <p:txBody>
          <a:bodyPr lIns="0">
            <a:normAutofit/>
          </a:bodyPr>
          <a:lstStyle>
            <a:lvl1pPr marL="0" indent="0">
              <a:lnSpc>
                <a:spcPct val="100000"/>
              </a:lnSpc>
              <a:spcBef>
                <a:spcPts val="1000"/>
              </a:spcBef>
              <a:spcAft>
                <a:spcPts val="1200"/>
              </a:spcAft>
              <a:buNone/>
              <a:defRPr sz="2000"/>
            </a:lvl1pPr>
            <a:lvl2pPr marL="228600" indent="-228600">
              <a:lnSpc>
                <a:spcPct val="100000"/>
              </a:lnSpc>
              <a:spcBef>
                <a:spcPts val="0"/>
              </a:spcBef>
              <a:spcAft>
                <a:spcPts val="1200"/>
              </a:spcAft>
              <a:buFont typeface="Arial" panose="020B0604020202020204" pitchFamily="34" charset="0"/>
              <a:buChar char="•"/>
              <a:defRPr sz="2000"/>
            </a:lvl2pPr>
            <a:lvl3pPr marL="685800" indent="-228600">
              <a:spcBef>
                <a:spcPts val="1000"/>
              </a:spcBef>
              <a:spcAft>
                <a:spcPts val="1200"/>
              </a:spcAft>
              <a:buFont typeface="Arial" panose="020B0604020202020204" pitchFamily="34" charset="0"/>
              <a:buChar char="•"/>
              <a:defRPr sz="2000"/>
            </a:lvl3pPr>
            <a:lvl4pPr marL="1143000" indent="-228600">
              <a:spcBef>
                <a:spcPts val="1000"/>
              </a:spcBef>
              <a:spcAft>
                <a:spcPts val="1200"/>
              </a:spcAft>
              <a:buFont typeface="Arial" panose="020B0604020202020204" pitchFamily="34" charset="0"/>
              <a:buChar char="•"/>
              <a:defRPr sz="2000"/>
            </a:lvl4pPr>
            <a:lvl5pPr marL="1600200" indent="-228600">
              <a:spcBef>
                <a:spcPts val="1000"/>
              </a:spcBef>
              <a:spcAft>
                <a:spcPts val="1200"/>
              </a:spcAft>
              <a:buFont typeface="Arial" panose="020B0604020202020204" pitchFamily="34" charset="0"/>
              <a:buChar char="•"/>
              <a:defRPr sz="2000"/>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12" name="Content Placeholder 7">
            <a:extLst>
              <a:ext uri="{FF2B5EF4-FFF2-40B4-BE49-F238E27FC236}">
                <a16:creationId xmlns:a16="http://schemas.microsoft.com/office/drawing/2014/main" id="{617CE1C3-9892-2E23-986F-80ABB41823D6}"/>
              </a:ext>
            </a:extLst>
          </p:cNvPr>
          <p:cNvSpPr>
            <a:spLocks noGrp="1"/>
          </p:cNvSpPr>
          <p:nvPr>
            <p:ph sz="quarter" idx="11" hasCustomPrompt="1"/>
          </p:nvPr>
        </p:nvSpPr>
        <p:spPr>
          <a:xfrm>
            <a:off x="6668185" y="2057401"/>
            <a:ext cx="4609399" cy="4119463"/>
          </a:xfrm>
        </p:spPr>
        <p:txBody>
          <a:bodyPr lIns="0">
            <a:normAutofit/>
          </a:bodyPr>
          <a:lstStyle>
            <a:lvl1pPr marL="0" indent="0">
              <a:lnSpc>
                <a:spcPct val="100000"/>
              </a:lnSpc>
              <a:spcBef>
                <a:spcPts val="1000"/>
              </a:spcBef>
              <a:spcAft>
                <a:spcPts val="1200"/>
              </a:spcAft>
              <a:buNone/>
              <a:defRPr sz="2000"/>
            </a:lvl1pPr>
            <a:lvl2pPr marL="228600" indent="-228600">
              <a:lnSpc>
                <a:spcPct val="100000"/>
              </a:lnSpc>
              <a:spcBef>
                <a:spcPts val="1000"/>
              </a:spcBef>
              <a:spcAft>
                <a:spcPts val="1200"/>
              </a:spcAft>
              <a:buFont typeface="Arial" panose="020B0604020202020204" pitchFamily="34" charset="0"/>
              <a:buChar char="•"/>
              <a:defRPr sz="2000"/>
            </a:lvl2pPr>
            <a:lvl3pPr marL="685800" indent="-228600">
              <a:spcBef>
                <a:spcPts val="1000"/>
              </a:spcBef>
              <a:spcAft>
                <a:spcPts val="1200"/>
              </a:spcAft>
              <a:buFont typeface="Arial" panose="020B0604020202020204" pitchFamily="34" charset="0"/>
              <a:buChar char="•"/>
              <a:defRPr sz="2000"/>
            </a:lvl3pPr>
            <a:lvl4pPr marL="1143000" indent="-228600">
              <a:spcBef>
                <a:spcPts val="1000"/>
              </a:spcBef>
              <a:spcAft>
                <a:spcPts val="1200"/>
              </a:spcAft>
              <a:buFont typeface="Arial" panose="020B0604020202020204" pitchFamily="34" charset="0"/>
              <a:buChar char="•"/>
              <a:defRPr sz="2000"/>
            </a:lvl4pPr>
            <a:lvl5pPr marL="1600200" indent="-228600">
              <a:spcBef>
                <a:spcPts val="1000"/>
              </a:spcBef>
              <a:spcAft>
                <a:spcPts val="1200"/>
              </a:spcAft>
              <a:buFont typeface="Arial" panose="020B0604020202020204" pitchFamily="34" charset="0"/>
              <a:buChar char="•"/>
              <a:defRPr sz="2000"/>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94389812-0415-9025-AB21-4503F7DF3AB5}"/>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Connector 5">
            <a:extLst>
              <a:ext uri="{FF2B5EF4-FFF2-40B4-BE49-F238E27FC236}">
                <a16:creationId xmlns:a16="http://schemas.microsoft.com/office/drawing/2014/main" id="{6459A5A0-86AD-344B-A0E4-6C55958151EE}"/>
              </a:ext>
              <a:ext uri="{C183D7F6-B498-43B3-948B-1728B52AA6E4}">
                <adec:decorative xmlns:adec="http://schemas.microsoft.com/office/drawing/2017/decorative" val="1"/>
              </a:ext>
            </a:extLst>
          </p:cNvPr>
          <p:cNvCxnSpPr>
            <a:cxnSpLocks/>
          </p:cNvCxnSpPr>
          <p:nvPr userDrawn="1"/>
        </p:nvCxnSpPr>
        <p:spPr>
          <a:xfrm>
            <a:off x="896628" y="0"/>
            <a:ext cx="0" cy="5943600"/>
          </a:xfrm>
          <a:prstGeom prst="line">
            <a:avLst/>
          </a:prstGeom>
          <a:ln w="1905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617208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2 Content 3">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5B3424C-4925-A7F7-02CD-84526B2E22EF}"/>
              </a:ext>
            </a:extLst>
          </p:cNvPr>
          <p:cNvSpPr>
            <a:spLocks noGrp="1"/>
          </p:cNvSpPr>
          <p:nvPr>
            <p:ph type="title" hasCustomPrompt="1"/>
          </p:nvPr>
        </p:nvSpPr>
        <p:spPr>
          <a:xfrm>
            <a:off x="1468814" y="503852"/>
            <a:ext cx="9808773" cy="1427585"/>
          </a:xfrm>
        </p:spPr>
        <p:txBody>
          <a:bodyPr lIns="0">
            <a:normAutofit/>
          </a:bodyPr>
          <a:lstStyle>
            <a:lvl1pPr>
              <a:defRPr sz="3600"/>
            </a:lvl1pPr>
          </a:lstStyle>
          <a:p>
            <a:r>
              <a:rPr lang="en-US"/>
              <a:t>Click to add title</a:t>
            </a:r>
          </a:p>
        </p:txBody>
      </p:sp>
      <p:sp>
        <p:nvSpPr>
          <p:cNvPr id="4" name="Content Placeholder 7">
            <a:extLst>
              <a:ext uri="{FF2B5EF4-FFF2-40B4-BE49-F238E27FC236}">
                <a16:creationId xmlns:a16="http://schemas.microsoft.com/office/drawing/2014/main" id="{C355854D-70C0-E6E1-2A0C-284D00A21AEC}"/>
              </a:ext>
            </a:extLst>
          </p:cNvPr>
          <p:cNvSpPr>
            <a:spLocks noGrp="1"/>
          </p:cNvSpPr>
          <p:nvPr>
            <p:ph sz="quarter" idx="12" hasCustomPrompt="1"/>
          </p:nvPr>
        </p:nvSpPr>
        <p:spPr>
          <a:xfrm>
            <a:off x="1468815" y="2057401"/>
            <a:ext cx="3068678" cy="4119463"/>
          </a:xfrm>
        </p:spPr>
        <p:txBody>
          <a:bodyPr lIns="0">
            <a:normAutofit/>
          </a:bodyPr>
          <a:lstStyle>
            <a:lvl1pPr marL="320040" indent="-320040">
              <a:lnSpc>
                <a:spcPct val="100000"/>
              </a:lnSpc>
              <a:spcBef>
                <a:spcPts val="0"/>
              </a:spcBef>
              <a:spcAft>
                <a:spcPts val="1200"/>
              </a:spcAft>
              <a:buFont typeface="+mj-lt"/>
              <a:buAutoNum type="arabicPeriod"/>
              <a:defRPr sz="2000"/>
            </a:lvl1pPr>
            <a:lvl2pPr marL="457200" indent="-320040">
              <a:lnSpc>
                <a:spcPct val="100000"/>
              </a:lnSpc>
              <a:spcBef>
                <a:spcPts val="1000"/>
              </a:spcBef>
              <a:spcAft>
                <a:spcPts val="1200"/>
              </a:spcAft>
              <a:buFont typeface="+mj-lt"/>
              <a:buAutoNum type="alphaLcPeriod"/>
              <a:defRPr sz="2000"/>
            </a:lvl2pPr>
            <a:lvl3pPr marL="914400" indent="-320040">
              <a:spcBef>
                <a:spcPts val="1000"/>
              </a:spcBef>
              <a:spcAft>
                <a:spcPts val="1200"/>
              </a:spcAft>
              <a:buFont typeface="+mj-lt"/>
              <a:buAutoNum type="arabicParenR"/>
              <a:defRPr sz="2000"/>
            </a:lvl3pPr>
            <a:lvl4pPr marL="1371600" indent="-320040">
              <a:spcBef>
                <a:spcPts val="1000"/>
              </a:spcBef>
              <a:spcAft>
                <a:spcPts val="1200"/>
              </a:spcAft>
              <a:buFont typeface="+mj-lt"/>
              <a:buAutoNum type="alphaLcParenR"/>
              <a:defRPr sz="2000"/>
            </a:lvl4pPr>
            <a:lvl5pPr marL="1828800" indent="-320040">
              <a:spcBef>
                <a:spcPts val="1000"/>
              </a:spcBef>
              <a:spcAft>
                <a:spcPts val="1200"/>
              </a:spcAft>
              <a:buFont typeface="+mj-lt"/>
              <a:buAutoNum type="romanLcPeriod"/>
              <a:defRPr sz="2000"/>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12" name="Content Placeholder 7">
            <a:extLst>
              <a:ext uri="{FF2B5EF4-FFF2-40B4-BE49-F238E27FC236}">
                <a16:creationId xmlns:a16="http://schemas.microsoft.com/office/drawing/2014/main" id="{617CE1C3-9892-2E23-986F-80ABB41823D6}"/>
              </a:ext>
            </a:extLst>
          </p:cNvPr>
          <p:cNvSpPr>
            <a:spLocks noGrp="1"/>
          </p:cNvSpPr>
          <p:nvPr>
            <p:ph sz="quarter" idx="11" hasCustomPrompt="1"/>
          </p:nvPr>
        </p:nvSpPr>
        <p:spPr>
          <a:xfrm>
            <a:off x="5191727" y="2057401"/>
            <a:ext cx="6085857" cy="4119463"/>
          </a:xfrm>
        </p:spPr>
        <p:txBody>
          <a:bodyPr lIns="0">
            <a:normAutofit/>
          </a:bodyPr>
          <a:lstStyle>
            <a:lvl1pPr marL="0" indent="0">
              <a:lnSpc>
                <a:spcPct val="100000"/>
              </a:lnSpc>
              <a:spcBef>
                <a:spcPts val="1000"/>
              </a:spcBef>
              <a:spcAft>
                <a:spcPts val="1200"/>
              </a:spcAft>
              <a:buNone/>
              <a:defRPr sz="2000"/>
            </a:lvl1pPr>
            <a:lvl2pPr marL="228600" indent="-228600">
              <a:lnSpc>
                <a:spcPct val="100000"/>
              </a:lnSpc>
              <a:spcBef>
                <a:spcPts val="1000"/>
              </a:spcBef>
              <a:spcAft>
                <a:spcPts val="1200"/>
              </a:spcAft>
              <a:buFont typeface="Arial" panose="020B0604020202020204" pitchFamily="34" charset="0"/>
              <a:buChar char="•"/>
              <a:defRPr sz="2000"/>
            </a:lvl2pPr>
            <a:lvl3pPr marL="685800" indent="-228600">
              <a:spcBef>
                <a:spcPts val="1000"/>
              </a:spcBef>
              <a:spcAft>
                <a:spcPts val="1200"/>
              </a:spcAft>
              <a:buFont typeface="Arial" panose="020B0604020202020204" pitchFamily="34" charset="0"/>
              <a:buChar char="•"/>
              <a:defRPr sz="2000"/>
            </a:lvl3pPr>
            <a:lvl4pPr marL="1143000" indent="-228600">
              <a:spcBef>
                <a:spcPts val="1000"/>
              </a:spcBef>
              <a:spcAft>
                <a:spcPts val="1200"/>
              </a:spcAft>
              <a:buFont typeface="Arial" panose="020B0604020202020204" pitchFamily="34" charset="0"/>
              <a:buChar char="•"/>
              <a:defRPr sz="2000"/>
            </a:lvl4pPr>
            <a:lvl5pPr marL="1600200" indent="-228600">
              <a:spcBef>
                <a:spcPts val="1000"/>
              </a:spcBef>
              <a:spcAft>
                <a:spcPts val="1200"/>
              </a:spcAft>
              <a:buFont typeface="Arial" panose="020B0604020202020204" pitchFamily="34" charset="0"/>
              <a:buChar char="•"/>
              <a:defRPr sz="2000"/>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94389812-0415-9025-AB21-4503F7DF3AB5}"/>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Connector 5">
            <a:extLst>
              <a:ext uri="{FF2B5EF4-FFF2-40B4-BE49-F238E27FC236}">
                <a16:creationId xmlns:a16="http://schemas.microsoft.com/office/drawing/2014/main" id="{6459A5A0-86AD-344B-A0E4-6C55958151EE}"/>
              </a:ext>
              <a:ext uri="{C183D7F6-B498-43B3-948B-1728B52AA6E4}">
                <adec:decorative xmlns:adec="http://schemas.microsoft.com/office/drawing/2017/decorative" val="1"/>
              </a:ext>
            </a:extLst>
          </p:cNvPr>
          <p:cNvCxnSpPr>
            <a:cxnSpLocks/>
          </p:cNvCxnSpPr>
          <p:nvPr userDrawn="1"/>
        </p:nvCxnSpPr>
        <p:spPr>
          <a:xfrm>
            <a:off x="896628" y="0"/>
            <a:ext cx="0" cy="5943600"/>
          </a:xfrm>
          <a:prstGeom prst="line">
            <a:avLst/>
          </a:prstGeom>
          <a:ln w="1905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3" name="Slide Number Placeholder 5">
            <a:extLst>
              <a:ext uri="{FF2B5EF4-FFF2-40B4-BE49-F238E27FC236}">
                <a16:creationId xmlns:a16="http://schemas.microsoft.com/office/drawing/2014/main" id="{D7B331F9-6D4A-5020-969F-E961AF374E19}"/>
              </a:ext>
            </a:extLst>
          </p:cNvPr>
          <p:cNvSpPr>
            <a:spLocks noGrp="1"/>
          </p:cNvSpPr>
          <p:nvPr>
            <p:ph type="sldNum" sz="quarter" idx="15"/>
          </p:nvPr>
        </p:nvSpPr>
        <p:spPr>
          <a:xfrm>
            <a:off x="412136" y="5943601"/>
            <a:ext cx="968983" cy="651912"/>
          </a:xfrm>
        </p:spPr>
        <p:txBody>
          <a:bodyPr/>
          <a:lstStyle/>
          <a:p>
            <a:fld id="{18D65601-5AE2-46FC-B138-694DDD2B510D}" type="slidenum">
              <a:rPr lang="en-US" smtClean="0"/>
              <a:pPr/>
              <a:t>‹#›</a:t>
            </a:fld>
            <a:endParaRPr lang="en-US"/>
          </a:p>
        </p:txBody>
      </p:sp>
    </p:spTree>
    <p:extLst>
      <p:ext uri="{BB962C8B-B14F-4D97-AF65-F5344CB8AC3E}">
        <p14:creationId xmlns:p14="http://schemas.microsoft.com/office/powerpoint/2010/main" val="25142378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Picture and Content">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5B3424C-4925-A7F7-02CD-84526B2E22EF}"/>
              </a:ext>
            </a:extLst>
          </p:cNvPr>
          <p:cNvSpPr>
            <a:spLocks noGrp="1"/>
          </p:cNvSpPr>
          <p:nvPr>
            <p:ph type="title" hasCustomPrompt="1"/>
          </p:nvPr>
        </p:nvSpPr>
        <p:spPr>
          <a:xfrm>
            <a:off x="1468814" y="503852"/>
            <a:ext cx="9808773" cy="1427585"/>
          </a:xfrm>
        </p:spPr>
        <p:txBody>
          <a:bodyPr lIns="0">
            <a:normAutofit/>
          </a:bodyPr>
          <a:lstStyle>
            <a:lvl1pPr>
              <a:defRPr sz="3600"/>
            </a:lvl1pPr>
          </a:lstStyle>
          <a:p>
            <a:r>
              <a:rPr lang="en-US"/>
              <a:t>Click to add title</a:t>
            </a:r>
          </a:p>
        </p:txBody>
      </p:sp>
      <p:sp>
        <p:nvSpPr>
          <p:cNvPr id="8" name="Picture Placeholder 7">
            <a:extLst>
              <a:ext uri="{FF2B5EF4-FFF2-40B4-BE49-F238E27FC236}">
                <a16:creationId xmlns:a16="http://schemas.microsoft.com/office/drawing/2014/main" id="{357912CB-B8F8-1E65-094F-AD3220E6C79C}"/>
              </a:ext>
            </a:extLst>
          </p:cNvPr>
          <p:cNvSpPr>
            <a:spLocks noGrp="1"/>
          </p:cNvSpPr>
          <p:nvPr>
            <p:ph type="pic" sz="quarter" idx="12"/>
          </p:nvPr>
        </p:nvSpPr>
        <p:spPr>
          <a:xfrm>
            <a:off x="1503363" y="2061969"/>
            <a:ext cx="4592637" cy="4805362"/>
          </a:xfrm>
        </p:spPr>
        <p:txBody>
          <a:bodyPr>
            <a:normAutofit/>
          </a:bodyPr>
          <a:lstStyle>
            <a:lvl1pPr marL="0" indent="0" algn="ctr">
              <a:buNone/>
              <a:defRPr sz="2000"/>
            </a:lvl1pPr>
          </a:lstStyle>
          <a:p>
            <a:r>
              <a:rPr lang="en-US"/>
              <a:t>Click icon to add picture</a:t>
            </a:r>
          </a:p>
        </p:txBody>
      </p:sp>
      <p:sp>
        <p:nvSpPr>
          <p:cNvPr id="12" name="Content Placeholder 7">
            <a:extLst>
              <a:ext uri="{FF2B5EF4-FFF2-40B4-BE49-F238E27FC236}">
                <a16:creationId xmlns:a16="http://schemas.microsoft.com/office/drawing/2014/main" id="{617CE1C3-9892-2E23-986F-80ABB41823D6}"/>
              </a:ext>
            </a:extLst>
          </p:cNvPr>
          <p:cNvSpPr>
            <a:spLocks noGrp="1"/>
          </p:cNvSpPr>
          <p:nvPr>
            <p:ph sz="quarter" idx="11" hasCustomPrompt="1"/>
          </p:nvPr>
        </p:nvSpPr>
        <p:spPr>
          <a:xfrm>
            <a:off x="6787262" y="2052736"/>
            <a:ext cx="4490320" cy="4800598"/>
          </a:xfrm>
        </p:spPr>
        <p:txBody>
          <a:bodyPr lIns="0">
            <a:normAutofit/>
          </a:bodyPr>
          <a:lstStyle>
            <a:lvl1pPr marL="0" indent="0">
              <a:lnSpc>
                <a:spcPct val="100000"/>
              </a:lnSpc>
              <a:spcBef>
                <a:spcPts val="1000"/>
              </a:spcBef>
              <a:spcAft>
                <a:spcPts val="1200"/>
              </a:spcAft>
              <a:buNone/>
              <a:defRPr sz="2000"/>
            </a:lvl1pPr>
            <a:lvl2pPr marL="800100" indent="-342900">
              <a:lnSpc>
                <a:spcPct val="100000"/>
              </a:lnSpc>
              <a:spcBef>
                <a:spcPts val="1000"/>
              </a:spcBef>
              <a:spcAft>
                <a:spcPts val="1200"/>
              </a:spcAft>
              <a:buFont typeface="Arial" panose="020B0604020202020204" pitchFamily="34" charset="0"/>
              <a:buChar char="•"/>
              <a:defRPr sz="2000"/>
            </a:lvl2pPr>
            <a:lvl3pPr marL="1257300" indent="-342900">
              <a:spcBef>
                <a:spcPts val="1000"/>
              </a:spcBef>
              <a:spcAft>
                <a:spcPts val="1200"/>
              </a:spcAft>
              <a:buFont typeface="Arial" panose="020B0604020202020204" pitchFamily="34" charset="0"/>
              <a:buChar char="•"/>
              <a:defRPr sz="2000"/>
            </a:lvl3pPr>
            <a:lvl4pPr marL="1714500" indent="-342900">
              <a:spcBef>
                <a:spcPts val="1000"/>
              </a:spcBef>
              <a:spcAft>
                <a:spcPts val="1200"/>
              </a:spcAft>
              <a:buFont typeface="Arial" panose="020B0604020202020204" pitchFamily="34" charset="0"/>
              <a:buChar char="•"/>
              <a:defRPr sz="2000"/>
            </a:lvl4pPr>
            <a:lvl5pPr marL="2171700" indent="-342900">
              <a:spcBef>
                <a:spcPts val="1000"/>
              </a:spcBef>
              <a:spcAft>
                <a:spcPts val="1200"/>
              </a:spcAft>
              <a:buFont typeface="Arial" panose="020B0604020202020204" pitchFamily="34" charset="0"/>
              <a:buChar char="•"/>
              <a:defRPr sz="2000"/>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2" name="Slide Number Placeholder 5">
            <a:extLst>
              <a:ext uri="{FF2B5EF4-FFF2-40B4-BE49-F238E27FC236}">
                <a16:creationId xmlns:a16="http://schemas.microsoft.com/office/drawing/2014/main" id="{8809D86D-3DDE-CA24-4CAA-DF6944B9BCBB}"/>
              </a:ext>
            </a:extLst>
          </p:cNvPr>
          <p:cNvSpPr>
            <a:spLocks noGrp="1"/>
          </p:cNvSpPr>
          <p:nvPr>
            <p:ph type="sldNum" sz="quarter" idx="15"/>
          </p:nvPr>
        </p:nvSpPr>
        <p:spPr>
          <a:xfrm>
            <a:off x="412136" y="5943601"/>
            <a:ext cx="968983" cy="651912"/>
          </a:xfrm>
        </p:spPr>
        <p:txBody>
          <a:bodyPr/>
          <a:lstStyle/>
          <a:p>
            <a:fld id="{18D65601-5AE2-46FC-B138-694DDD2B510D}" type="slidenum">
              <a:rPr lang="en-US" smtClean="0"/>
              <a:pPr/>
              <a:t>‹#›</a:t>
            </a:fld>
            <a:endParaRPr lang="en-US"/>
          </a:p>
        </p:txBody>
      </p:sp>
      <p:sp>
        <p:nvSpPr>
          <p:cNvPr id="5" name="Rectangle 4">
            <a:extLst>
              <a:ext uri="{FF2B5EF4-FFF2-40B4-BE49-F238E27FC236}">
                <a16:creationId xmlns:a16="http://schemas.microsoft.com/office/drawing/2014/main" id="{94389812-0415-9025-AB21-4503F7DF3AB5}"/>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Connector 5">
            <a:extLst>
              <a:ext uri="{FF2B5EF4-FFF2-40B4-BE49-F238E27FC236}">
                <a16:creationId xmlns:a16="http://schemas.microsoft.com/office/drawing/2014/main" id="{6459A5A0-86AD-344B-A0E4-6C55958151EE}"/>
              </a:ext>
              <a:ext uri="{C183D7F6-B498-43B3-948B-1728B52AA6E4}">
                <adec:decorative xmlns:adec="http://schemas.microsoft.com/office/drawing/2017/decorative" val="1"/>
              </a:ext>
            </a:extLst>
          </p:cNvPr>
          <p:cNvCxnSpPr>
            <a:cxnSpLocks/>
          </p:cNvCxnSpPr>
          <p:nvPr userDrawn="1"/>
        </p:nvCxnSpPr>
        <p:spPr>
          <a:xfrm>
            <a:off x="896628" y="0"/>
            <a:ext cx="0" cy="5943600"/>
          </a:xfrm>
          <a:prstGeom prst="line">
            <a:avLst/>
          </a:prstGeom>
          <a:ln w="1905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361074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Content and Table">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5B3424C-4925-A7F7-02CD-84526B2E22EF}"/>
              </a:ext>
            </a:extLst>
          </p:cNvPr>
          <p:cNvSpPr>
            <a:spLocks noGrp="1"/>
          </p:cNvSpPr>
          <p:nvPr>
            <p:ph type="title" hasCustomPrompt="1"/>
          </p:nvPr>
        </p:nvSpPr>
        <p:spPr>
          <a:xfrm>
            <a:off x="1468814" y="503852"/>
            <a:ext cx="9808773" cy="1427585"/>
          </a:xfrm>
        </p:spPr>
        <p:txBody>
          <a:bodyPr lIns="0">
            <a:normAutofit/>
          </a:bodyPr>
          <a:lstStyle>
            <a:lvl1pPr>
              <a:defRPr sz="3600"/>
            </a:lvl1pPr>
          </a:lstStyle>
          <a:p>
            <a:r>
              <a:rPr lang="en-US"/>
              <a:t>Click to add title</a:t>
            </a:r>
          </a:p>
        </p:txBody>
      </p:sp>
      <p:sp>
        <p:nvSpPr>
          <p:cNvPr id="12" name="Content Placeholder 7">
            <a:extLst>
              <a:ext uri="{FF2B5EF4-FFF2-40B4-BE49-F238E27FC236}">
                <a16:creationId xmlns:a16="http://schemas.microsoft.com/office/drawing/2014/main" id="{617CE1C3-9892-2E23-986F-80ABB41823D6}"/>
              </a:ext>
            </a:extLst>
          </p:cNvPr>
          <p:cNvSpPr>
            <a:spLocks noGrp="1"/>
          </p:cNvSpPr>
          <p:nvPr>
            <p:ph sz="quarter" idx="11" hasCustomPrompt="1"/>
          </p:nvPr>
        </p:nvSpPr>
        <p:spPr>
          <a:xfrm>
            <a:off x="1468814" y="2057400"/>
            <a:ext cx="3091027" cy="3867538"/>
          </a:xfrm>
        </p:spPr>
        <p:txBody>
          <a:bodyPr lIns="0">
            <a:normAutofit/>
          </a:bodyPr>
          <a:lstStyle>
            <a:lvl1pPr marL="0" indent="0">
              <a:lnSpc>
                <a:spcPct val="100000"/>
              </a:lnSpc>
              <a:spcBef>
                <a:spcPts val="0"/>
              </a:spcBef>
              <a:spcAft>
                <a:spcPts val="1200"/>
              </a:spcAft>
              <a:buNone/>
              <a:defRPr sz="2000"/>
            </a:lvl1pPr>
            <a:lvl2pPr marL="800100" indent="-342900">
              <a:lnSpc>
                <a:spcPct val="100000"/>
              </a:lnSpc>
              <a:spcBef>
                <a:spcPts val="0"/>
              </a:spcBef>
              <a:spcAft>
                <a:spcPts val="1200"/>
              </a:spcAft>
              <a:buFont typeface="Arial" panose="020B0604020202020204" pitchFamily="34" charset="0"/>
              <a:buChar char="•"/>
              <a:defRPr sz="2000"/>
            </a:lvl2pPr>
            <a:lvl3pPr marL="1257300" indent="-342900">
              <a:spcBef>
                <a:spcPts val="0"/>
              </a:spcBef>
              <a:spcAft>
                <a:spcPts val="1200"/>
              </a:spcAft>
              <a:buFont typeface="Arial" panose="020B0604020202020204" pitchFamily="34" charset="0"/>
              <a:buChar char="•"/>
              <a:defRPr sz="2000"/>
            </a:lvl3pPr>
            <a:lvl4pPr marL="1714500" indent="-342900">
              <a:spcBef>
                <a:spcPts val="0"/>
              </a:spcBef>
              <a:spcAft>
                <a:spcPts val="1200"/>
              </a:spcAft>
              <a:buFont typeface="Arial" panose="020B0604020202020204" pitchFamily="34" charset="0"/>
              <a:buChar char="•"/>
              <a:defRPr sz="2000"/>
            </a:lvl4pPr>
            <a:lvl5pPr marL="2171700" indent="-342900">
              <a:spcBef>
                <a:spcPts val="0"/>
              </a:spcBef>
              <a:spcAft>
                <a:spcPts val="1200"/>
              </a:spcAft>
              <a:buFont typeface="Arial" panose="020B0604020202020204" pitchFamily="34" charset="0"/>
              <a:buChar char="•"/>
              <a:defRPr sz="2000"/>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14" name="Table Placeholder 13">
            <a:extLst>
              <a:ext uri="{FF2B5EF4-FFF2-40B4-BE49-F238E27FC236}">
                <a16:creationId xmlns:a16="http://schemas.microsoft.com/office/drawing/2014/main" id="{EA708189-1532-1BDD-104F-4D8556146CEE}"/>
              </a:ext>
            </a:extLst>
          </p:cNvPr>
          <p:cNvSpPr>
            <a:spLocks noGrp="1"/>
          </p:cNvSpPr>
          <p:nvPr>
            <p:ph type="tbl" sz="quarter" idx="12"/>
          </p:nvPr>
        </p:nvSpPr>
        <p:spPr>
          <a:xfrm>
            <a:off x="5097463" y="2051976"/>
            <a:ext cx="6180137" cy="3867538"/>
          </a:xfrm>
        </p:spPr>
        <p:txBody>
          <a:bodyPr>
            <a:normAutofit/>
          </a:bodyPr>
          <a:lstStyle>
            <a:lvl1pPr>
              <a:defRPr sz="2000"/>
            </a:lvl1pPr>
          </a:lstStyle>
          <a:p>
            <a:r>
              <a:rPr lang="en-US"/>
              <a:t>Click icon to add table</a:t>
            </a:r>
          </a:p>
        </p:txBody>
      </p:sp>
      <p:sp>
        <p:nvSpPr>
          <p:cNvPr id="5" name="Rectangle 4">
            <a:extLst>
              <a:ext uri="{FF2B5EF4-FFF2-40B4-BE49-F238E27FC236}">
                <a16:creationId xmlns:a16="http://schemas.microsoft.com/office/drawing/2014/main" id="{94389812-0415-9025-AB21-4503F7DF3AB5}"/>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Connector 5">
            <a:extLst>
              <a:ext uri="{FF2B5EF4-FFF2-40B4-BE49-F238E27FC236}">
                <a16:creationId xmlns:a16="http://schemas.microsoft.com/office/drawing/2014/main" id="{6459A5A0-86AD-344B-A0E4-6C55958151EE}"/>
              </a:ext>
              <a:ext uri="{C183D7F6-B498-43B3-948B-1728B52AA6E4}">
                <adec:decorative xmlns:adec="http://schemas.microsoft.com/office/drawing/2017/decorative" val="1"/>
              </a:ext>
            </a:extLst>
          </p:cNvPr>
          <p:cNvCxnSpPr>
            <a:cxnSpLocks/>
          </p:cNvCxnSpPr>
          <p:nvPr userDrawn="1"/>
        </p:nvCxnSpPr>
        <p:spPr>
          <a:xfrm>
            <a:off x="896628" y="0"/>
            <a:ext cx="0" cy="5943600"/>
          </a:xfrm>
          <a:prstGeom prst="line">
            <a:avLst/>
          </a:prstGeom>
          <a:ln w="1905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2" name="Slide Number Placeholder 5">
            <a:extLst>
              <a:ext uri="{FF2B5EF4-FFF2-40B4-BE49-F238E27FC236}">
                <a16:creationId xmlns:a16="http://schemas.microsoft.com/office/drawing/2014/main" id="{6E0EC71B-95A1-C740-6B1F-F8DF02E2D164}"/>
              </a:ext>
            </a:extLst>
          </p:cNvPr>
          <p:cNvSpPr>
            <a:spLocks noGrp="1"/>
          </p:cNvSpPr>
          <p:nvPr>
            <p:ph type="sldNum" sz="quarter" idx="15"/>
          </p:nvPr>
        </p:nvSpPr>
        <p:spPr>
          <a:xfrm>
            <a:off x="412136" y="5943601"/>
            <a:ext cx="968983" cy="651912"/>
          </a:xfrm>
        </p:spPr>
        <p:txBody>
          <a:bodyPr/>
          <a:lstStyle/>
          <a:p>
            <a:fld id="{18D65601-5AE2-46FC-B138-694DDD2B510D}" type="slidenum">
              <a:rPr lang="en-US" smtClean="0"/>
              <a:pPr/>
              <a:t>‹#›</a:t>
            </a:fld>
            <a:endParaRPr lang="en-US"/>
          </a:p>
        </p:txBody>
      </p:sp>
    </p:spTree>
    <p:extLst>
      <p:ext uri="{BB962C8B-B14F-4D97-AF65-F5344CB8AC3E}">
        <p14:creationId xmlns:p14="http://schemas.microsoft.com/office/powerpoint/2010/main" val="34092991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2 Content 2">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4389812-0415-9025-AB21-4503F7DF3AB5}"/>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Connector 5">
            <a:extLst>
              <a:ext uri="{FF2B5EF4-FFF2-40B4-BE49-F238E27FC236}">
                <a16:creationId xmlns:a16="http://schemas.microsoft.com/office/drawing/2014/main" id="{6459A5A0-86AD-344B-A0E4-6C55958151EE}"/>
              </a:ext>
              <a:ext uri="{C183D7F6-B498-43B3-948B-1728B52AA6E4}">
                <adec:decorative xmlns:adec="http://schemas.microsoft.com/office/drawing/2017/decorative" val="1"/>
              </a:ext>
            </a:extLst>
          </p:cNvPr>
          <p:cNvCxnSpPr>
            <a:cxnSpLocks/>
          </p:cNvCxnSpPr>
          <p:nvPr userDrawn="1"/>
        </p:nvCxnSpPr>
        <p:spPr>
          <a:xfrm>
            <a:off x="896628" y="0"/>
            <a:ext cx="0" cy="5943600"/>
          </a:xfrm>
          <a:prstGeom prst="line">
            <a:avLst/>
          </a:prstGeom>
          <a:ln w="1905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7" name="Title 6">
            <a:extLst>
              <a:ext uri="{FF2B5EF4-FFF2-40B4-BE49-F238E27FC236}">
                <a16:creationId xmlns:a16="http://schemas.microsoft.com/office/drawing/2014/main" id="{75B3424C-4925-A7F7-02CD-84526B2E22EF}"/>
              </a:ext>
            </a:extLst>
          </p:cNvPr>
          <p:cNvSpPr>
            <a:spLocks noGrp="1"/>
          </p:cNvSpPr>
          <p:nvPr>
            <p:ph type="title" hasCustomPrompt="1"/>
          </p:nvPr>
        </p:nvSpPr>
        <p:spPr>
          <a:xfrm>
            <a:off x="1468814" y="503852"/>
            <a:ext cx="9808773" cy="1427585"/>
          </a:xfrm>
        </p:spPr>
        <p:txBody>
          <a:bodyPr lIns="0">
            <a:normAutofit/>
          </a:bodyPr>
          <a:lstStyle>
            <a:lvl1pPr>
              <a:defRPr sz="3600"/>
            </a:lvl1pPr>
          </a:lstStyle>
          <a:p>
            <a:r>
              <a:rPr lang="en-US"/>
              <a:t>Click to add title</a:t>
            </a:r>
          </a:p>
        </p:txBody>
      </p:sp>
      <p:sp>
        <p:nvSpPr>
          <p:cNvPr id="8" name="Content Placeholder 7">
            <a:extLst>
              <a:ext uri="{FF2B5EF4-FFF2-40B4-BE49-F238E27FC236}">
                <a16:creationId xmlns:a16="http://schemas.microsoft.com/office/drawing/2014/main" id="{8B0AB10A-3CAB-D4C0-3CB1-401461802BD3}"/>
              </a:ext>
            </a:extLst>
          </p:cNvPr>
          <p:cNvSpPr>
            <a:spLocks noGrp="1"/>
          </p:cNvSpPr>
          <p:nvPr>
            <p:ph sz="quarter" idx="10" hasCustomPrompt="1"/>
          </p:nvPr>
        </p:nvSpPr>
        <p:spPr>
          <a:xfrm>
            <a:off x="1468814" y="2066731"/>
            <a:ext cx="6452876" cy="3867538"/>
          </a:xfrm>
        </p:spPr>
        <p:txBody>
          <a:bodyPr lIns="0">
            <a:normAutofit/>
          </a:bodyPr>
          <a:lstStyle>
            <a:lvl1pPr>
              <a:lnSpc>
                <a:spcPct val="100000"/>
              </a:lnSpc>
              <a:spcAft>
                <a:spcPts val="600"/>
              </a:spcAft>
              <a:defRPr sz="2000"/>
            </a:lvl1pPr>
            <a:lvl2pPr>
              <a:lnSpc>
                <a:spcPct val="100000"/>
              </a:lnSpc>
              <a:spcAft>
                <a:spcPts val="600"/>
              </a:spcAft>
              <a:defRPr sz="2000"/>
            </a:lvl2pPr>
            <a:lvl3pPr>
              <a:lnSpc>
                <a:spcPct val="100000"/>
              </a:lnSpc>
              <a:spcBef>
                <a:spcPts val="1000"/>
              </a:spcBef>
              <a:spcAft>
                <a:spcPts val="600"/>
              </a:spcAft>
              <a:defRPr sz="2000"/>
            </a:lvl3pPr>
            <a:lvl4pPr>
              <a:lnSpc>
                <a:spcPct val="100000"/>
              </a:lnSpc>
              <a:spcAft>
                <a:spcPts val="1200"/>
              </a:spcAft>
              <a:defRPr sz="2000"/>
            </a:lvl4pPr>
            <a:lvl5pPr>
              <a:defRPr sz="2000"/>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11" name="Content Placeholder 7">
            <a:extLst>
              <a:ext uri="{FF2B5EF4-FFF2-40B4-BE49-F238E27FC236}">
                <a16:creationId xmlns:a16="http://schemas.microsoft.com/office/drawing/2014/main" id="{7DBA8ADB-B20F-8404-46AB-AF67E25C7C75}"/>
              </a:ext>
            </a:extLst>
          </p:cNvPr>
          <p:cNvSpPr>
            <a:spLocks noGrp="1"/>
          </p:cNvSpPr>
          <p:nvPr>
            <p:ph sz="quarter" idx="11" hasCustomPrompt="1"/>
          </p:nvPr>
        </p:nvSpPr>
        <p:spPr>
          <a:xfrm>
            <a:off x="8169196" y="2066731"/>
            <a:ext cx="3108391" cy="3867538"/>
          </a:xfrm>
        </p:spPr>
        <p:txBody>
          <a:bodyPr lIns="0">
            <a:normAutofit/>
          </a:bodyPr>
          <a:lstStyle>
            <a:lvl1pPr marL="0" indent="0">
              <a:lnSpc>
                <a:spcPct val="100000"/>
              </a:lnSpc>
              <a:spcAft>
                <a:spcPts val="600"/>
              </a:spcAft>
              <a:buNone/>
              <a:defRPr sz="2000"/>
            </a:lvl1pPr>
            <a:lvl2pPr marL="800100" indent="-342900">
              <a:lnSpc>
                <a:spcPct val="100000"/>
              </a:lnSpc>
              <a:spcAft>
                <a:spcPts val="600"/>
              </a:spcAft>
              <a:buFont typeface="Arial" panose="020B0604020202020204" pitchFamily="34" charset="0"/>
              <a:buChar char="•"/>
              <a:defRPr sz="2000"/>
            </a:lvl2pPr>
            <a:lvl3pPr marL="1257300" indent="-342900">
              <a:buFont typeface="Arial" panose="020B0604020202020204" pitchFamily="34" charset="0"/>
              <a:buChar char="•"/>
              <a:defRPr sz="2000"/>
            </a:lvl3pPr>
            <a:lvl4pPr marL="1714500" indent="-342900">
              <a:buFont typeface="Arial" panose="020B0604020202020204" pitchFamily="34" charset="0"/>
              <a:buChar char="•"/>
              <a:defRPr sz="2000"/>
            </a:lvl4pPr>
            <a:lvl5pPr marL="2171700" indent="-342900">
              <a:buFont typeface="Arial" panose="020B0604020202020204" pitchFamily="34" charset="0"/>
              <a:buChar char="•"/>
              <a:defRPr sz="2000"/>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2" name="Slide Number Placeholder 5">
            <a:extLst>
              <a:ext uri="{FF2B5EF4-FFF2-40B4-BE49-F238E27FC236}">
                <a16:creationId xmlns:a16="http://schemas.microsoft.com/office/drawing/2014/main" id="{8814D5F7-E70A-5F97-5C8F-95B9E1B6D492}"/>
              </a:ext>
            </a:extLst>
          </p:cNvPr>
          <p:cNvSpPr>
            <a:spLocks noGrp="1"/>
          </p:cNvSpPr>
          <p:nvPr>
            <p:ph type="sldNum" sz="quarter" idx="15"/>
          </p:nvPr>
        </p:nvSpPr>
        <p:spPr>
          <a:xfrm>
            <a:off x="412136" y="5943601"/>
            <a:ext cx="968983" cy="651912"/>
          </a:xfrm>
        </p:spPr>
        <p:txBody>
          <a:bodyPr/>
          <a:lstStyle/>
          <a:p>
            <a:fld id="{18D65601-5AE2-46FC-B138-694DDD2B510D}" type="slidenum">
              <a:rPr lang="en-US" smtClean="0"/>
              <a:pPr/>
              <a:t>‹#›</a:t>
            </a:fld>
            <a:endParaRPr lang="en-US"/>
          </a:p>
        </p:txBody>
      </p:sp>
    </p:spTree>
    <p:extLst>
      <p:ext uri="{BB962C8B-B14F-4D97-AF65-F5344CB8AC3E}">
        <p14:creationId xmlns:p14="http://schemas.microsoft.com/office/powerpoint/2010/main" val="85281403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Table">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4389812-0415-9025-AB21-4503F7DF3AB5}"/>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Connector 5">
            <a:extLst>
              <a:ext uri="{FF2B5EF4-FFF2-40B4-BE49-F238E27FC236}">
                <a16:creationId xmlns:a16="http://schemas.microsoft.com/office/drawing/2014/main" id="{6459A5A0-86AD-344B-A0E4-6C55958151EE}"/>
              </a:ext>
              <a:ext uri="{C183D7F6-B498-43B3-948B-1728B52AA6E4}">
                <adec:decorative xmlns:adec="http://schemas.microsoft.com/office/drawing/2017/decorative" val="1"/>
              </a:ext>
            </a:extLst>
          </p:cNvPr>
          <p:cNvCxnSpPr>
            <a:cxnSpLocks/>
          </p:cNvCxnSpPr>
          <p:nvPr userDrawn="1"/>
        </p:nvCxnSpPr>
        <p:spPr>
          <a:xfrm>
            <a:off x="896628" y="0"/>
            <a:ext cx="0" cy="5943600"/>
          </a:xfrm>
          <a:prstGeom prst="line">
            <a:avLst/>
          </a:prstGeom>
          <a:ln w="1905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7" name="Title 6">
            <a:extLst>
              <a:ext uri="{FF2B5EF4-FFF2-40B4-BE49-F238E27FC236}">
                <a16:creationId xmlns:a16="http://schemas.microsoft.com/office/drawing/2014/main" id="{75B3424C-4925-A7F7-02CD-84526B2E22EF}"/>
              </a:ext>
            </a:extLst>
          </p:cNvPr>
          <p:cNvSpPr>
            <a:spLocks noGrp="1"/>
          </p:cNvSpPr>
          <p:nvPr>
            <p:ph type="title" hasCustomPrompt="1"/>
          </p:nvPr>
        </p:nvSpPr>
        <p:spPr>
          <a:xfrm>
            <a:off x="1468814" y="503852"/>
            <a:ext cx="9808773" cy="1427585"/>
          </a:xfrm>
        </p:spPr>
        <p:txBody>
          <a:bodyPr lIns="0">
            <a:normAutofit/>
          </a:bodyPr>
          <a:lstStyle>
            <a:lvl1pPr>
              <a:defRPr sz="3600"/>
            </a:lvl1pPr>
          </a:lstStyle>
          <a:p>
            <a:r>
              <a:rPr lang="en-US"/>
              <a:t>Click to add title</a:t>
            </a:r>
          </a:p>
        </p:txBody>
      </p:sp>
      <p:sp>
        <p:nvSpPr>
          <p:cNvPr id="9" name="Table Placeholder 8">
            <a:extLst>
              <a:ext uri="{FF2B5EF4-FFF2-40B4-BE49-F238E27FC236}">
                <a16:creationId xmlns:a16="http://schemas.microsoft.com/office/drawing/2014/main" id="{CB43608F-0A38-CF4A-4B3B-F1212E786FDE}"/>
              </a:ext>
            </a:extLst>
          </p:cNvPr>
          <p:cNvSpPr>
            <a:spLocks noGrp="1"/>
          </p:cNvSpPr>
          <p:nvPr>
            <p:ph type="tbl" sz="quarter" idx="10"/>
          </p:nvPr>
        </p:nvSpPr>
        <p:spPr>
          <a:xfrm>
            <a:off x="1487488" y="2057400"/>
            <a:ext cx="9790112" cy="3886200"/>
          </a:xfrm>
        </p:spPr>
        <p:txBody>
          <a:bodyPr>
            <a:normAutofit/>
          </a:bodyPr>
          <a:lstStyle>
            <a:lvl1pPr>
              <a:defRPr sz="2400"/>
            </a:lvl1pPr>
          </a:lstStyle>
          <a:p>
            <a:r>
              <a:rPr lang="en-US"/>
              <a:t>Click icon to add table</a:t>
            </a:r>
          </a:p>
        </p:txBody>
      </p:sp>
      <p:sp>
        <p:nvSpPr>
          <p:cNvPr id="2" name="Slide Number Placeholder 5">
            <a:extLst>
              <a:ext uri="{FF2B5EF4-FFF2-40B4-BE49-F238E27FC236}">
                <a16:creationId xmlns:a16="http://schemas.microsoft.com/office/drawing/2014/main" id="{05DA3688-07D1-82D9-6818-C95E9A69C2F1}"/>
              </a:ext>
            </a:extLst>
          </p:cNvPr>
          <p:cNvSpPr>
            <a:spLocks noGrp="1"/>
          </p:cNvSpPr>
          <p:nvPr>
            <p:ph type="sldNum" sz="quarter" idx="15"/>
          </p:nvPr>
        </p:nvSpPr>
        <p:spPr>
          <a:xfrm>
            <a:off x="412136" y="5943601"/>
            <a:ext cx="968983" cy="651912"/>
          </a:xfrm>
        </p:spPr>
        <p:txBody>
          <a:bodyPr/>
          <a:lstStyle/>
          <a:p>
            <a:fld id="{18D65601-5AE2-46FC-B138-694DDD2B510D}" type="slidenum">
              <a:rPr lang="en-US" smtClean="0"/>
              <a:pPr/>
              <a:t>‹#›</a:t>
            </a:fld>
            <a:endParaRPr lang="en-US"/>
          </a:p>
        </p:txBody>
      </p:sp>
    </p:spTree>
    <p:extLst>
      <p:ext uri="{BB962C8B-B14F-4D97-AF65-F5344CB8AC3E}">
        <p14:creationId xmlns:p14="http://schemas.microsoft.com/office/powerpoint/2010/main" val="269135728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hank you 1">
    <p:bg>
      <p:bgPr>
        <a:solidFill>
          <a:schemeClr val="accent2">
            <a:lumMod val="50000"/>
          </a:schemeClr>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1B5E70F-EF03-B535-2505-BC971E3BC36D}"/>
              </a:ext>
              <a:ext uri="{C183D7F6-B498-43B3-948B-1728B52AA6E4}">
                <adec:decorative xmlns:adec="http://schemas.microsoft.com/office/drawing/2017/decorative" val="1"/>
              </a:ext>
            </a:extLst>
          </p:cNvPr>
          <p:cNvSpPr/>
          <p:nvPr userDrawn="1"/>
        </p:nvSpPr>
        <p:spPr>
          <a:xfrm>
            <a:off x="0" y="594360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 name="Straight Connector 2">
            <a:extLst>
              <a:ext uri="{FF2B5EF4-FFF2-40B4-BE49-F238E27FC236}">
                <a16:creationId xmlns:a16="http://schemas.microsoft.com/office/drawing/2014/main" id="{8794424E-93DD-A404-D05E-EF6030A76D3B}"/>
              </a:ext>
              <a:ext uri="{C183D7F6-B498-43B3-948B-1728B52AA6E4}">
                <adec:decorative xmlns:adec="http://schemas.microsoft.com/office/drawing/2017/decorative" val="1"/>
              </a:ext>
            </a:extLst>
          </p:cNvPr>
          <p:cNvCxnSpPr>
            <a:cxnSpLocks/>
          </p:cNvCxnSpPr>
          <p:nvPr userDrawn="1"/>
        </p:nvCxnSpPr>
        <p:spPr>
          <a:xfrm>
            <a:off x="896628" y="0"/>
            <a:ext cx="0" cy="6858000"/>
          </a:xfrm>
          <a:prstGeom prst="line">
            <a:avLst/>
          </a:prstGeom>
          <a:ln w="19050">
            <a:solidFill>
              <a:schemeClr val="accent5">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B03A3B6B-5129-A46A-A20C-5D7BC706C9B1}"/>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itle 7">
            <a:extLst>
              <a:ext uri="{FF2B5EF4-FFF2-40B4-BE49-F238E27FC236}">
                <a16:creationId xmlns:a16="http://schemas.microsoft.com/office/drawing/2014/main" id="{24E401A1-8CEE-5E1B-343B-D737433AE63F}"/>
              </a:ext>
            </a:extLst>
          </p:cNvPr>
          <p:cNvSpPr>
            <a:spLocks noGrp="1"/>
          </p:cNvSpPr>
          <p:nvPr>
            <p:ph type="title" hasCustomPrompt="1"/>
          </p:nvPr>
        </p:nvSpPr>
        <p:spPr>
          <a:xfrm>
            <a:off x="1317614" y="690511"/>
            <a:ext cx="4964671" cy="5253089"/>
          </a:xfrm>
        </p:spPr>
        <p:txBody>
          <a:bodyPr anchor="b">
            <a:normAutofit/>
          </a:bodyPr>
          <a:lstStyle>
            <a:lvl1pPr>
              <a:defRPr sz="6000">
                <a:solidFill>
                  <a:schemeClr val="bg1"/>
                </a:solidFill>
              </a:defRPr>
            </a:lvl1pPr>
          </a:lstStyle>
          <a:p>
            <a:r>
              <a:rPr lang="en-US"/>
              <a:t>Click to add title</a:t>
            </a:r>
          </a:p>
        </p:txBody>
      </p:sp>
      <p:sp>
        <p:nvSpPr>
          <p:cNvPr id="10" name="Content Placeholder 9">
            <a:extLst>
              <a:ext uri="{FF2B5EF4-FFF2-40B4-BE49-F238E27FC236}">
                <a16:creationId xmlns:a16="http://schemas.microsoft.com/office/drawing/2014/main" id="{AD608249-3D60-D3B2-68C5-778D0EA18F2D}"/>
              </a:ext>
            </a:extLst>
          </p:cNvPr>
          <p:cNvSpPr>
            <a:spLocks noGrp="1"/>
          </p:cNvSpPr>
          <p:nvPr>
            <p:ph sz="quarter" idx="10" hasCustomPrompt="1"/>
          </p:nvPr>
        </p:nvSpPr>
        <p:spPr>
          <a:xfrm>
            <a:off x="6282286" y="690465"/>
            <a:ext cx="4784372" cy="5253089"/>
          </a:xfrm>
        </p:spPr>
        <p:txBody>
          <a:bodyPr anchor="ctr">
            <a:normAutofit/>
          </a:bodyPr>
          <a:lstStyle>
            <a:lvl1pPr marL="0" indent="0">
              <a:lnSpc>
                <a:spcPct val="100000"/>
              </a:lnSpc>
              <a:spcBef>
                <a:spcPts val="0"/>
              </a:spcBef>
              <a:spcAft>
                <a:spcPts val="1200"/>
              </a:spcAft>
              <a:buNone/>
              <a:defRPr sz="2000">
                <a:solidFill>
                  <a:schemeClr val="bg1"/>
                </a:solidFill>
              </a:defRPr>
            </a:lvl1pPr>
            <a:lvl2pPr marL="742950" indent="-285750">
              <a:lnSpc>
                <a:spcPct val="100000"/>
              </a:lnSpc>
              <a:spcBef>
                <a:spcPts val="0"/>
              </a:spcBef>
              <a:spcAft>
                <a:spcPts val="1200"/>
              </a:spcAft>
              <a:buFont typeface="Arial" panose="020B0604020202020204" pitchFamily="34" charset="0"/>
              <a:buChar char="•"/>
              <a:defRPr sz="1800">
                <a:solidFill>
                  <a:schemeClr val="bg1"/>
                </a:solidFill>
              </a:defRPr>
            </a:lvl2pPr>
            <a:lvl3pPr marL="1200150" indent="-285750">
              <a:lnSpc>
                <a:spcPct val="100000"/>
              </a:lnSpc>
              <a:spcBef>
                <a:spcPts val="0"/>
              </a:spcBef>
              <a:spcAft>
                <a:spcPts val="1200"/>
              </a:spcAft>
              <a:buFont typeface="Arial" panose="020B0604020202020204" pitchFamily="34" charset="0"/>
              <a:buChar char="•"/>
              <a:defRPr sz="1600">
                <a:solidFill>
                  <a:schemeClr val="bg1"/>
                </a:solidFill>
              </a:defRPr>
            </a:lvl3pPr>
            <a:lvl4pPr marL="1657350" indent="-285750">
              <a:lnSpc>
                <a:spcPct val="100000"/>
              </a:lnSpc>
              <a:spcBef>
                <a:spcPts val="0"/>
              </a:spcBef>
              <a:spcAft>
                <a:spcPts val="1200"/>
              </a:spcAft>
              <a:buFont typeface="Arial" panose="020B0604020202020204" pitchFamily="34" charset="0"/>
              <a:buChar char="•"/>
              <a:defRPr sz="1400">
                <a:solidFill>
                  <a:schemeClr val="bg1"/>
                </a:solidFill>
              </a:defRPr>
            </a:lvl4pPr>
            <a:lvl5pPr marL="2114550" indent="-285750">
              <a:lnSpc>
                <a:spcPct val="100000"/>
              </a:lnSpc>
              <a:spcBef>
                <a:spcPts val="0"/>
              </a:spcBef>
              <a:spcAft>
                <a:spcPts val="1200"/>
              </a:spcAft>
              <a:buFont typeface="Arial" panose="020B0604020202020204" pitchFamily="34" charset="0"/>
              <a:buChar char="•"/>
              <a:defRPr sz="1400">
                <a:solidFill>
                  <a:schemeClr val="bg1"/>
                </a:solidFill>
              </a:defRPr>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64374835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TxTwoObj">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EFAB251-5890-CB28-8F59-748274E77928}"/>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D5AB4A91-BB51-F382-4889-891B0FEF8DC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55A64BDE-8DA7-242D-9A65-ABF61D10DB6F}"/>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A33E12C3-D895-4AFD-E650-ABC0A90C81E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2E14A6D3-9B8E-D1AC-D0A7-1C1CBB6971C0}"/>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05675BA3-43D4-8CF2-EAE2-3F7808941CEC}"/>
              </a:ext>
            </a:extLst>
          </p:cNvPr>
          <p:cNvSpPr>
            <a:spLocks noGrp="1"/>
          </p:cNvSpPr>
          <p:nvPr>
            <p:ph type="dt" sz="half" idx="10"/>
          </p:nvPr>
        </p:nvSpPr>
        <p:spPr/>
        <p:txBody>
          <a:bodyPr/>
          <a:lstStyle/>
          <a:p>
            <a:fld id="{6537B91B-4DFA-4B41-8EAA-8A9D5C1E59A0}" type="datetimeFigureOut">
              <a:rPr lang="zh-CN" altLang="en-US" smtClean="0"/>
              <a:t>2026/8/10</a:t>
            </a:fld>
            <a:endParaRPr lang="zh-CN" altLang="en-US"/>
          </a:p>
        </p:txBody>
      </p:sp>
      <p:sp>
        <p:nvSpPr>
          <p:cNvPr id="8" name="页脚占位符 7">
            <a:extLst>
              <a:ext uri="{FF2B5EF4-FFF2-40B4-BE49-F238E27FC236}">
                <a16:creationId xmlns:a16="http://schemas.microsoft.com/office/drawing/2014/main" id="{98DD60A3-CD08-BEE5-19D3-071E2DA240ED}"/>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ABA61B54-CC8F-AB8D-7371-BEE1C2535CE2}"/>
              </a:ext>
            </a:extLst>
          </p:cNvPr>
          <p:cNvSpPr>
            <a:spLocks noGrp="1"/>
          </p:cNvSpPr>
          <p:nvPr>
            <p:ph type="sldNum" sz="quarter" idx="12"/>
          </p:nvPr>
        </p:nvSpPr>
        <p:spPr/>
        <p:txBody>
          <a:bodyPr/>
          <a:lstStyle/>
          <a:p>
            <a:fld id="{46E821BF-007B-4BDA-B854-6CED0A6DDA3E}" type="slidenum">
              <a:rPr lang="zh-CN" altLang="en-US" smtClean="0"/>
              <a:t>‹#›</a:t>
            </a:fld>
            <a:endParaRPr lang="zh-CN" altLang="en-US"/>
          </a:p>
        </p:txBody>
      </p:sp>
    </p:spTree>
    <p:extLst>
      <p:ext uri="{BB962C8B-B14F-4D97-AF65-F5344CB8AC3E}">
        <p14:creationId xmlns:p14="http://schemas.microsoft.com/office/powerpoint/2010/main" val="239532364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6666BE2-0288-1734-8AAD-E6CA9818826E}"/>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229D8BE1-1C6D-A5FF-7BBA-552E556D31E5}"/>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9314B4FD-A5A5-71DF-7487-D7B4AF63BE51}"/>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7B3D928B-B986-F1B7-35DE-E1008FA3DA05}"/>
              </a:ext>
            </a:extLst>
          </p:cNvPr>
          <p:cNvSpPr>
            <a:spLocks noGrp="1"/>
          </p:cNvSpPr>
          <p:nvPr>
            <p:ph type="dt" sz="half" idx="10"/>
          </p:nvPr>
        </p:nvSpPr>
        <p:spPr/>
        <p:txBody>
          <a:bodyPr/>
          <a:lstStyle/>
          <a:p>
            <a:fld id="{6537B91B-4DFA-4B41-8EAA-8A9D5C1E59A0}" type="datetimeFigureOut">
              <a:rPr lang="zh-CN" altLang="en-US" smtClean="0"/>
              <a:t>2026/8/10</a:t>
            </a:fld>
            <a:endParaRPr lang="zh-CN" altLang="en-US"/>
          </a:p>
        </p:txBody>
      </p:sp>
      <p:sp>
        <p:nvSpPr>
          <p:cNvPr id="6" name="页脚占位符 5">
            <a:extLst>
              <a:ext uri="{FF2B5EF4-FFF2-40B4-BE49-F238E27FC236}">
                <a16:creationId xmlns:a16="http://schemas.microsoft.com/office/drawing/2014/main" id="{968D3748-0EF0-0ED6-9D06-2CF6BA9D1EF3}"/>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2236B18F-C418-B80A-02DD-85B19419D826}"/>
              </a:ext>
            </a:extLst>
          </p:cNvPr>
          <p:cNvSpPr>
            <a:spLocks noGrp="1"/>
          </p:cNvSpPr>
          <p:nvPr>
            <p:ph type="sldNum" sz="quarter" idx="12"/>
          </p:nvPr>
        </p:nvSpPr>
        <p:spPr/>
        <p:txBody>
          <a:bodyPr/>
          <a:lstStyle/>
          <a:p>
            <a:fld id="{46E821BF-007B-4BDA-B854-6CED0A6DDA3E}" type="slidenum">
              <a:rPr lang="zh-CN" altLang="en-US" smtClean="0"/>
              <a:t>‹#›</a:t>
            </a:fld>
            <a:endParaRPr lang="zh-CN" altLang="en-US"/>
          </a:p>
        </p:txBody>
      </p:sp>
    </p:spTree>
    <p:extLst>
      <p:ext uri="{BB962C8B-B14F-4D97-AF65-F5344CB8AC3E}">
        <p14:creationId xmlns:p14="http://schemas.microsoft.com/office/powerpoint/2010/main" val="49066596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437884A-AA27-54BC-DAB2-B12E976E2F10}"/>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AA3EB0E5-C69C-9734-0FA7-F1A019D28E66}"/>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08A871F0-1517-E752-96A7-02BACC1B7B8A}"/>
              </a:ext>
            </a:extLst>
          </p:cNvPr>
          <p:cNvSpPr>
            <a:spLocks noGrp="1"/>
          </p:cNvSpPr>
          <p:nvPr>
            <p:ph type="dt" sz="half" idx="10"/>
          </p:nvPr>
        </p:nvSpPr>
        <p:spPr/>
        <p:txBody>
          <a:bodyPr/>
          <a:lstStyle/>
          <a:p>
            <a:fld id="{6537B91B-4DFA-4B41-8EAA-8A9D5C1E59A0}" type="datetimeFigureOut">
              <a:rPr lang="zh-CN" altLang="en-US" smtClean="0"/>
              <a:t>2026/8/10</a:t>
            </a:fld>
            <a:endParaRPr lang="zh-CN" altLang="en-US"/>
          </a:p>
        </p:txBody>
      </p:sp>
      <p:sp>
        <p:nvSpPr>
          <p:cNvPr id="5" name="页脚占位符 4">
            <a:extLst>
              <a:ext uri="{FF2B5EF4-FFF2-40B4-BE49-F238E27FC236}">
                <a16:creationId xmlns:a16="http://schemas.microsoft.com/office/drawing/2014/main" id="{FACE17C8-23CB-E9F4-4A76-DF281EEB0C88}"/>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4A8B4262-3B7A-9B14-6F3F-54C0112259F8}"/>
              </a:ext>
            </a:extLst>
          </p:cNvPr>
          <p:cNvSpPr>
            <a:spLocks noGrp="1"/>
          </p:cNvSpPr>
          <p:nvPr>
            <p:ph type="sldNum" sz="quarter" idx="12"/>
          </p:nvPr>
        </p:nvSpPr>
        <p:spPr/>
        <p:txBody>
          <a:bodyPr/>
          <a:lstStyle/>
          <a:p>
            <a:fld id="{46E821BF-007B-4BDA-B854-6CED0A6DDA3E}" type="slidenum">
              <a:rPr lang="zh-CN" altLang="en-US" smtClean="0"/>
              <a:t>‹#›</a:t>
            </a:fld>
            <a:endParaRPr lang="zh-CN" altLang="en-US"/>
          </a:p>
        </p:txBody>
      </p:sp>
    </p:spTree>
    <p:extLst>
      <p:ext uri="{BB962C8B-B14F-4D97-AF65-F5344CB8AC3E}">
        <p14:creationId xmlns:p14="http://schemas.microsoft.com/office/powerpoint/2010/main" val="210958910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FB5E42-94D3-2FE8-9FCA-DFCC0D24A09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B5769FC-18F5-0FE1-FE63-8FAEB49337C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7A1883F-AF27-7884-315F-FD066410F58A}"/>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5D5EBA29-7C41-BA3A-A406-D7AC4742589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8DB1C6B-85B8-D2F1-7EC9-FA7D9F5CF7B9}"/>
              </a:ext>
            </a:extLst>
          </p:cNvPr>
          <p:cNvSpPr>
            <a:spLocks noGrp="1"/>
          </p:cNvSpPr>
          <p:nvPr>
            <p:ph type="sldNum" sz="quarter" idx="12"/>
          </p:nvPr>
        </p:nvSpPr>
        <p:spPr/>
        <p:txBody>
          <a:bodyPr/>
          <a:lstStyle/>
          <a:p>
            <a:fld id="{18D65601-5AE2-46FC-B138-694DDD2B510D}" type="slidenum">
              <a:rPr lang="en-US" smtClean="0"/>
              <a:pPr/>
              <a:t>‹#›</a:t>
            </a:fld>
            <a:endParaRPr lang="en-US"/>
          </a:p>
        </p:txBody>
      </p:sp>
    </p:spTree>
    <p:extLst>
      <p:ext uri="{BB962C8B-B14F-4D97-AF65-F5344CB8AC3E}">
        <p14:creationId xmlns:p14="http://schemas.microsoft.com/office/powerpoint/2010/main" val="2109085700"/>
      </p:ext>
    </p:extLst>
  </p:cSld>
  <p:clrMapOvr>
    <a:masterClrMapping/>
  </p:clrMapOvr>
  <p:hf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B596ED-ECED-F94B-8772-A28762420A5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25FD539-81CB-367B-C8BF-61E4C92953D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D76594E-ECA0-66EF-8957-EBA333268B9A}"/>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AAEDFB2D-4A90-AC56-40B1-D9FC7E74573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8D3F84-437C-E5C1-85C2-CC0080D1CC47}"/>
              </a:ext>
            </a:extLst>
          </p:cNvPr>
          <p:cNvSpPr>
            <a:spLocks noGrp="1"/>
          </p:cNvSpPr>
          <p:nvPr>
            <p:ph type="sldNum" sz="quarter" idx="12"/>
          </p:nvPr>
        </p:nvSpPr>
        <p:spPr/>
        <p:txBody>
          <a:bodyPr/>
          <a:lstStyle/>
          <a:p>
            <a:fld id="{18D65601-5AE2-46FC-B138-694DDD2B510D}" type="slidenum">
              <a:rPr lang="en-US" smtClean="0"/>
              <a:pPr/>
              <a:t>‹#›</a:t>
            </a:fld>
            <a:endParaRPr lang="en-US"/>
          </a:p>
        </p:txBody>
      </p:sp>
    </p:spTree>
    <p:extLst>
      <p:ext uri="{BB962C8B-B14F-4D97-AF65-F5344CB8AC3E}">
        <p14:creationId xmlns:p14="http://schemas.microsoft.com/office/powerpoint/2010/main" val="2902406379"/>
      </p:ext>
    </p:extLst>
  </p:cSld>
  <p:clrMapOvr>
    <a:masterClrMapping/>
  </p:clrMapOvr>
  <p:hf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679876-955F-3A08-D1E9-B8C554D5EB7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1A90BD7-DAD9-E742-85DE-2B982575934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FDC62EB-DA79-B2DD-E8E6-DAFD281ED820}"/>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3A99BDAC-DF32-C204-0685-54031615FC0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3267178-05F3-09F4-9719-C11E4EE2007C}"/>
              </a:ext>
            </a:extLst>
          </p:cNvPr>
          <p:cNvSpPr>
            <a:spLocks noGrp="1"/>
          </p:cNvSpPr>
          <p:nvPr>
            <p:ph type="sldNum" sz="quarter" idx="12"/>
          </p:nvPr>
        </p:nvSpPr>
        <p:spPr/>
        <p:txBody>
          <a:bodyPr/>
          <a:lstStyle/>
          <a:p>
            <a:fld id="{18D65601-5AE2-46FC-B138-694DDD2B510D}" type="slidenum">
              <a:rPr lang="en-US" smtClean="0"/>
              <a:pPr/>
              <a:t>‹#›</a:t>
            </a:fld>
            <a:endParaRPr lang="en-US"/>
          </a:p>
        </p:txBody>
      </p:sp>
    </p:spTree>
    <p:extLst>
      <p:ext uri="{BB962C8B-B14F-4D97-AF65-F5344CB8AC3E}">
        <p14:creationId xmlns:p14="http://schemas.microsoft.com/office/powerpoint/2010/main" val="3281437027"/>
      </p:ext>
    </p:extLst>
  </p:cSld>
  <p:clrMapOvr>
    <a:masterClrMapping/>
  </p:clrMapOvr>
  <p:hf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C80997-860B-3D90-9DAA-F2355662E40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7A31A33-E898-A470-DCC7-D95BC009CC9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0F6FBBB-A17D-0C50-1F5C-8EEB631D93D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6F1E517-0EE3-FCAE-ADC2-3A84B87E77F6}"/>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C21AA29B-1054-7EDD-3F8C-E0B18304123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8DACFF9-FC59-3B62-8A4B-26C7C8D63098}"/>
              </a:ext>
            </a:extLst>
          </p:cNvPr>
          <p:cNvSpPr>
            <a:spLocks noGrp="1"/>
          </p:cNvSpPr>
          <p:nvPr>
            <p:ph type="sldNum" sz="quarter" idx="12"/>
          </p:nvPr>
        </p:nvSpPr>
        <p:spPr/>
        <p:txBody>
          <a:bodyPr/>
          <a:lstStyle/>
          <a:p>
            <a:fld id="{18D65601-5AE2-46FC-B138-694DDD2B510D}" type="slidenum">
              <a:rPr lang="en-US" smtClean="0"/>
              <a:pPr/>
              <a:t>‹#›</a:t>
            </a:fld>
            <a:endParaRPr lang="en-US"/>
          </a:p>
        </p:txBody>
      </p:sp>
    </p:spTree>
    <p:extLst>
      <p:ext uri="{BB962C8B-B14F-4D97-AF65-F5344CB8AC3E}">
        <p14:creationId xmlns:p14="http://schemas.microsoft.com/office/powerpoint/2010/main" val="4126356746"/>
      </p:ext>
    </p:extLst>
  </p:cSld>
  <p:clrMapOvr>
    <a:masterClrMapping/>
  </p:clrMapOvr>
  <p:hf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A0F309-4568-326F-0E26-789573641C1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C8238B9-AAF6-C277-A569-43B6DB96F59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F5415E4-B094-07EB-5B88-FC01C54C247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3E352A9-C269-0088-EB76-A189DF19352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5382666-23FF-9E50-F524-998EA89F95D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BE08767-B368-EDBF-C1DB-26F2868FF958}"/>
              </a:ext>
            </a:extLst>
          </p:cNvPr>
          <p:cNvSpPr>
            <a:spLocks noGrp="1"/>
          </p:cNvSpPr>
          <p:nvPr>
            <p:ph type="dt" sz="half" idx="10"/>
          </p:nvPr>
        </p:nvSpPr>
        <p:spPr/>
        <p:txBody>
          <a:bodyPr/>
          <a:lstStyle/>
          <a:p>
            <a:endParaRPr lang="en-US"/>
          </a:p>
        </p:txBody>
      </p:sp>
      <p:sp>
        <p:nvSpPr>
          <p:cNvPr id="8" name="Footer Placeholder 7">
            <a:extLst>
              <a:ext uri="{FF2B5EF4-FFF2-40B4-BE49-F238E27FC236}">
                <a16:creationId xmlns:a16="http://schemas.microsoft.com/office/drawing/2014/main" id="{1D39FD34-73D8-50AB-2A0C-CFE00A002A2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C174EE8-3146-AE35-3C61-6D5256DD9770}"/>
              </a:ext>
            </a:extLst>
          </p:cNvPr>
          <p:cNvSpPr>
            <a:spLocks noGrp="1"/>
          </p:cNvSpPr>
          <p:nvPr>
            <p:ph type="sldNum" sz="quarter" idx="12"/>
          </p:nvPr>
        </p:nvSpPr>
        <p:spPr/>
        <p:txBody>
          <a:bodyPr/>
          <a:lstStyle/>
          <a:p>
            <a:fld id="{18D65601-5AE2-46FC-B138-694DDD2B510D}" type="slidenum">
              <a:rPr lang="en-US" smtClean="0"/>
              <a:pPr/>
              <a:t>‹#›</a:t>
            </a:fld>
            <a:endParaRPr lang="en-US"/>
          </a:p>
        </p:txBody>
      </p:sp>
    </p:spTree>
    <p:extLst>
      <p:ext uri="{BB962C8B-B14F-4D97-AF65-F5344CB8AC3E}">
        <p14:creationId xmlns:p14="http://schemas.microsoft.com/office/powerpoint/2010/main" val="217299010"/>
      </p:ext>
    </p:extLst>
  </p:cSld>
  <p:clrMapOvr>
    <a:masterClrMapping/>
  </p:clrMapOvr>
  <p:hf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FD65D9-6D24-C861-D1CA-C92EA28A839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8BC1355-5C36-9A80-1D52-8B5B5ED6F5EA}"/>
              </a:ext>
            </a:extLst>
          </p:cNvPr>
          <p:cNvSpPr>
            <a:spLocks noGrp="1"/>
          </p:cNvSpPr>
          <p:nvPr>
            <p:ph type="dt" sz="half" idx="10"/>
          </p:nvPr>
        </p:nvSpPr>
        <p:spPr/>
        <p:txBody>
          <a:bodyPr/>
          <a:lstStyle/>
          <a:p>
            <a:endParaRPr lang="en-US"/>
          </a:p>
        </p:txBody>
      </p:sp>
      <p:sp>
        <p:nvSpPr>
          <p:cNvPr id="4" name="Footer Placeholder 3">
            <a:extLst>
              <a:ext uri="{FF2B5EF4-FFF2-40B4-BE49-F238E27FC236}">
                <a16:creationId xmlns:a16="http://schemas.microsoft.com/office/drawing/2014/main" id="{C6E95FFA-2C40-A497-7BB1-1EEF922C857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010ADB2-219D-1C4B-0DA8-0CF73DA166EE}"/>
              </a:ext>
            </a:extLst>
          </p:cNvPr>
          <p:cNvSpPr>
            <a:spLocks noGrp="1"/>
          </p:cNvSpPr>
          <p:nvPr>
            <p:ph type="sldNum" sz="quarter" idx="12"/>
          </p:nvPr>
        </p:nvSpPr>
        <p:spPr/>
        <p:txBody>
          <a:bodyPr/>
          <a:lstStyle/>
          <a:p>
            <a:fld id="{18D65601-5AE2-46FC-B138-694DDD2B510D}" type="slidenum">
              <a:rPr lang="en-US" smtClean="0"/>
              <a:pPr/>
              <a:t>‹#›</a:t>
            </a:fld>
            <a:endParaRPr lang="en-US"/>
          </a:p>
        </p:txBody>
      </p:sp>
    </p:spTree>
    <p:extLst>
      <p:ext uri="{BB962C8B-B14F-4D97-AF65-F5344CB8AC3E}">
        <p14:creationId xmlns:p14="http://schemas.microsoft.com/office/powerpoint/2010/main" val="2215975519"/>
      </p:ext>
    </p:extLst>
  </p:cSld>
  <p:clrMapOvr>
    <a:masterClrMapping/>
  </p:clrMapOvr>
  <p:hf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C1E4F07-8ADE-9057-F8F8-67774FECE410}"/>
              </a:ext>
            </a:extLst>
          </p:cNvPr>
          <p:cNvSpPr>
            <a:spLocks noGrp="1"/>
          </p:cNvSpPr>
          <p:nvPr>
            <p:ph type="dt" sz="half" idx="10"/>
          </p:nvPr>
        </p:nvSpPr>
        <p:spPr/>
        <p:txBody>
          <a:bodyPr/>
          <a:lstStyle/>
          <a:p>
            <a:endParaRPr lang="en-US"/>
          </a:p>
        </p:txBody>
      </p:sp>
      <p:sp>
        <p:nvSpPr>
          <p:cNvPr id="3" name="Footer Placeholder 2">
            <a:extLst>
              <a:ext uri="{FF2B5EF4-FFF2-40B4-BE49-F238E27FC236}">
                <a16:creationId xmlns:a16="http://schemas.microsoft.com/office/drawing/2014/main" id="{8ABAF7DD-89DE-72CD-0730-0B54AE06BB4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8B75AFB-1B55-99C6-1AEB-2A7FC1D1C494}"/>
              </a:ext>
            </a:extLst>
          </p:cNvPr>
          <p:cNvSpPr>
            <a:spLocks noGrp="1"/>
          </p:cNvSpPr>
          <p:nvPr>
            <p:ph type="sldNum" sz="quarter" idx="12"/>
          </p:nvPr>
        </p:nvSpPr>
        <p:spPr/>
        <p:txBody>
          <a:bodyPr/>
          <a:lstStyle/>
          <a:p>
            <a:fld id="{18D65601-5AE2-46FC-B138-694DDD2B510D}" type="slidenum">
              <a:rPr lang="en-US" smtClean="0"/>
              <a:pPr/>
              <a:t>‹#›</a:t>
            </a:fld>
            <a:endParaRPr lang="en-US"/>
          </a:p>
        </p:txBody>
      </p:sp>
    </p:spTree>
    <p:extLst>
      <p:ext uri="{BB962C8B-B14F-4D97-AF65-F5344CB8AC3E}">
        <p14:creationId xmlns:p14="http://schemas.microsoft.com/office/powerpoint/2010/main" val="62530631"/>
      </p:ext>
    </p:extLst>
  </p:cSld>
  <p:clrMapOvr>
    <a:masterClrMapping/>
  </p:clrMapOvr>
  <p:hf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AA0A6B-6874-2C70-C277-514F1E6AF7A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53F15BC-88C5-35E1-85A2-C8C09197E39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9AE6EE7-A42A-12C3-BEA8-63948238446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62F431B-2D05-4427-6FE2-D1676E00E1F3}"/>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D6DF31E4-5E0F-3E29-DF7A-8C6D38D605E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A1D56EB-CC4B-40AD-0FA4-FE6F4DBAC48B}"/>
              </a:ext>
            </a:extLst>
          </p:cNvPr>
          <p:cNvSpPr>
            <a:spLocks noGrp="1"/>
          </p:cNvSpPr>
          <p:nvPr>
            <p:ph type="sldNum" sz="quarter" idx="12"/>
          </p:nvPr>
        </p:nvSpPr>
        <p:spPr/>
        <p:txBody>
          <a:bodyPr/>
          <a:lstStyle/>
          <a:p>
            <a:fld id="{18D65601-5AE2-46FC-B138-694DDD2B510D}" type="slidenum">
              <a:rPr lang="en-US" smtClean="0"/>
              <a:pPr/>
              <a:t>‹#›</a:t>
            </a:fld>
            <a:endParaRPr lang="en-US"/>
          </a:p>
        </p:txBody>
      </p:sp>
    </p:spTree>
    <p:extLst>
      <p:ext uri="{BB962C8B-B14F-4D97-AF65-F5344CB8AC3E}">
        <p14:creationId xmlns:p14="http://schemas.microsoft.com/office/powerpoint/2010/main" val="3967428342"/>
      </p:ext>
    </p:extLst>
  </p:cSld>
  <p:clrMapOvr>
    <a:masterClrMapping/>
  </p:clrMapOvr>
  <p:hf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891205-187E-89FF-90CA-AD4C9628505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F5DAB7E-1C14-EDDD-915E-801B4353DB6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604CFF5-CDCE-0407-1C54-56ECF26B710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DE9A877-1BE8-1749-D45D-1A7BBD757E0D}"/>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C844A30E-3774-FBB8-3EEF-1F18001B575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4CABCC9-A31D-A6A4-2983-FAD9B4DD846B}"/>
              </a:ext>
            </a:extLst>
          </p:cNvPr>
          <p:cNvSpPr>
            <a:spLocks noGrp="1"/>
          </p:cNvSpPr>
          <p:nvPr>
            <p:ph type="sldNum" sz="quarter" idx="12"/>
          </p:nvPr>
        </p:nvSpPr>
        <p:spPr/>
        <p:txBody>
          <a:bodyPr/>
          <a:lstStyle/>
          <a:p>
            <a:fld id="{18D65601-5AE2-46FC-B138-694DDD2B510D}" type="slidenum">
              <a:rPr lang="en-US" smtClean="0"/>
              <a:pPr/>
              <a:t>‹#›</a:t>
            </a:fld>
            <a:endParaRPr lang="en-US"/>
          </a:p>
        </p:txBody>
      </p:sp>
    </p:spTree>
    <p:extLst>
      <p:ext uri="{BB962C8B-B14F-4D97-AF65-F5344CB8AC3E}">
        <p14:creationId xmlns:p14="http://schemas.microsoft.com/office/powerpoint/2010/main" val="2038844673"/>
      </p:ext>
    </p:extLst>
  </p:cSld>
  <p:clrMapOvr>
    <a:masterClrMapping/>
  </p:clrMapOvr>
  <p:hf hdr="0" ftr="0" dt="0"/>
</p:sldLayout>
</file>

<file path=ppt/slideLayouts/slideLayout2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04D60E-2900-6D5F-7F4C-8D919579747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EA6302A-95C3-CF8B-51F5-9A53F7DEC78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E9DD25F-34B5-63AD-1BC3-AED4944B1EC1}"/>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EB55B665-4527-7AD3-4DC9-0A001B9FEDE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C9E8904-6D32-E519-3E19-9F2134ABF023}"/>
              </a:ext>
            </a:extLst>
          </p:cNvPr>
          <p:cNvSpPr>
            <a:spLocks noGrp="1"/>
          </p:cNvSpPr>
          <p:nvPr>
            <p:ph type="sldNum" sz="quarter" idx="12"/>
          </p:nvPr>
        </p:nvSpPr>
        <p:spPr/>
        <p:txBody>
          <a:bodyPr/>
          <a:lstStyle/>
          <a:p>
            <a:fld id="{18D65601-5AE2-46FC-B138-694DDD2B510D}" type="slidenum">
              <a:rPr lang="en-US" smtClean="0"/>
              <a:pPr/>
              <a:t>‹#›</a:t>
            </a:fld>
            <a:endParaRPr lang="en-US"/>
          </a:p>
        </p:txBody>
      </p:sp>
    </p:spTree>
    <p:extLst>
      <p:ext uri="{BB962C8B-B14F-4D97-AF65-F5344CB8AC3E}">
        <p14:creationId xmlns:p14="http://schemas.microsoft.com/office/powerpoint/2010/main" val="2025800992"/>
      </p:ext>
    </p:extLst>
  </p:cSld>
  <p:clrMapOvr>
    <a:masterClrMapping/>
  </p:clrMapOvr>
  <p:hf hdr="0" ftr="0" dt="0"/>
</p:sldLayout>
</file>

<file path=ppt/slideLayouts/slideLayout2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07C3C44-2CCC-AA38-D2E3-DEFC32459BC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64E3FC2-8969-8A5B-A17C-A88DA3D6437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FD4EF7D-E38B-9645-4A8A-C018E845D254}"/>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D72A99CA-492B-6F8A-F6B8-B2BE5E12EC5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D4C0062-72CA-957E-C4AD-8B85B969BFB4}"/>
              </a:ext>
            </a:extLst>
          </p:cNvPr>
          <p:cNvSpPr>
            <a:spLocks noGrp="1"/>
          </p:cNvSpPr>
          <p:nvPr>
            <p:ph type="sldNum" sz="quarter" idx="12"/>
          </p:nvPr>
        </p:nvSpPr>
        <p:spPr/>
        <p:txBody>
          <a:bodyPr/>
          <a:lstStyle/>
          <a:p>
            <a:fld id="{18D65601-5AE2-46FC-B138-694DDD2B510D}" type="slidenum">
              <a:rPr lang="en-US" smtClean="0"/>
              <a:pPr/>
              <a:t>‹#›</a:t>
            </a:fld>
            <a:endParaRPr lang="en-US"/>
          </a:p>
        </p:txBody>
      </p:sp>
    </p:spTree>
    <p:extLst>
      <p:ext uri="{BB962C8B-B14F-4D97-AF65-F5344CB8AC3E}">
        <p14:creationId xmlns:p14="http://schemas.microsoft.com/office/powerpoint/2010/main" val="3273879827"/>
      </p:ext>
    </p:extLst>
  </p:cSld>
  <p:clrMapOvr>
    <a:masterClrMapping/>
  </p:clrMapOvr>
  <p:hf hdr="0" ftr="0" dt="0"/>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Title and 2 Content ">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5B3424C-4925-A7F7-02CD-84526B2E22EF}"/>
              </a:ext>
            </a:extLst>
          </p:cNvPr>
          <p:cNvSpPr>
            <a:spLocks noGrp="1"/>
          </p:cNvSpPr>
          <p:nvPr>
            <p:ph type="title" hasCustomPrompt="1"/>
          </p:nvPr>
        </p:nvSpPr>
        <p:spPr>
          <a:xfrm>
            <a:off x="1468814" y="503852"/>
            <a:ext cx="9808773" cy="1427585"/>
          </a:xfrm>
        </p:spPr>
        <p:txBody>
          <a:bodyPr lIns="0">
            <a:normAutofit/>
          </a:bodyPr>
          <a:lstStyle>
            <a:lvl1pPr>
              <a:defRPr sz="3600"/>
            </a:lvl1pPr>
          </a:lstStyle>
          <a:p>
            <a:r>
              <a:rPr lang="en-US"/>
              <a:t>Click to add title</a:t>
            </a:r>
          </a:p>
        </p:txBody>
      </p:sp>
      <p:sp>
        <p:nvSpPr>
          <p:cNvPr id="2" name="Content Placeholder 7">
            <a:extLst>
              <a:ext uri="{FF2B5EF4-FFF2-40B4-BE49-F238E27FC236}">
                <a16:creationId xmlns:a16="http://schemas.microsoft.com/office/drawing/2014/main" id="{AEA3C42D-C3E7-4F13-63E2-96D7A3B21113}"/>
              </a:ext>
            </a:extLst>
          </p:cNvPr>
          <p:cNvSpPr>
            <a:spLocks noGrp="1"/>
          </p:cNvSpPr>
          <p:nvPr>
            <p:ph sz="quarter" idx="12" hasCustomPrompt="1"/>
          </p:nvPr>
        </p:nvSpPr>
        <p:spPr>
          <a:xfrm>
            <a:off x="1468814" y="2057401"/>
            <a:ext cx="4627186" cy="4119463"/>
          </a:xfrm>
        </p:spPr>
        <p:txBody>
          <a:bodyPr lIns="0">
            <a:normAutofit/>
          </a:bodyPr>
          <a:lstStyle>
            <a:lvl1pPr marL="0" indent="0">
              <a:lnSpc>
                <a:spcPct val="100000"/>
              </a:lnSpc>
              <a:spcBef>
                <a:spcPts val="1000"/>
              </a:spcBef>
              <a:spcAft>
                <a:spcPts val="1200"/>
              </a:spcAft>
              <a:buNone/>
              <a:defRPr sz="2000"/>
            </a:lvl1pPr>
            <a:lvl2pPr marL="228600" indent="-228600">
              <a:lnSpc>
                <a:spcPct val="100000"/>
              </a:lnSpc>
              <a:spcBef>
                <a:spcPts val="0"/>
              </a:spcBef>
              <a:spcAft>
                <a:spcPts val="1200"/>
              </a:spcAft>
              <a:buFont typeface="Arial" panose="020B0604020202020204" pitchFamily="34" charset="0"/>
              <a:buChar char="•"/>
              <a:defRPr sz="2000"/>
            </a:lvl2pPr>
            <a:lvl3pPr marL="685800" indent="-228600">
              <a:spcBef>
                <a:spcPts val="1000"/>
              </a:spcBef>
              <a:spcAft>
                <a:spcPts val="1200"/>
              </a:spcAft>
              <a:buFont typeface="Arial" panose="020B0604020202020204" pitchFamily="34" charset="0"/>
              <a:buChar char="•"/>
              <a:defRPr sz="2000"/>
            </a:lvl3pPr>
            <a:lvl4pPr marL="1143000" indent="-228600">
              <a:spcBef>
                <a:spcPts val="1000"/>
              </a:spcBef>
              <a:spcAft>
                <a:spcPts val="1200"/>
              </a:spcAft>
              <a:buFont typeface="Arial" panose="020B0604020202020204" pitchFamily="34" charset="0"/>
              <a:buChar char="•"/>
              <a:defRPr sz="2000"/>
            </a:lvl4pPr>
            <a:lvl5pPr marL="1600200" indent="-228600">
              <a:spcBef>
                <a:spcPts val="1000"/>
              </a:spcBef>
              <a:spcAft>
                <a:spcPts val="1200"/>
              </a:spcAft>
              <a:buFont typeface="Arial" panose="020B0604020202020204" pitchFamily="34" charset="0"/>
              <a:buChar char="•"/>
              <a:defRPr sz="2000"/>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12" name="Content Placeholder 7">
            <a:extLst>
              <a:ext uri="{FF2B5EF4-FFF2-40B4-BE49-F238E27FC236}">
                <a16:creationId xmlns:a16="http://schemas.microsoft.com/office/drawing/2014/main" id="{617CE1C3-9892-2E23-986F-80ABB41823D6}"/>
              </a:ext>
            </a:extLst>
          </p:cNvPr>
          <p:cNvSpPr>
            <a:spLocks noGrp="1"/>
          </p:cNvSpPr>
          <p:nvPr>
            <p:ph sz="quarter" idx="11" hasCustomPrompt="1"/>
          </p:nvPr>
        </p:nvSpPr>
        <p:spPr>
          <a:xfrm>
            <a:off x="6668185" y="2057401"/>
            <a:ext cx="4609399" cy="4119463"/>
          </a:xfrm>
        </p:spPr>
        <p:txBody>
          <a:bodyPr lIns="0">
            <a:normAutofit/>
          </a:bodyPr>
          <a:lstStyle>
            <a:lvl1pPr marL="0" indent="0">
              <a:lnSpc>
                <a:spcPct val="100000"/>
              </a:lnSpc>
              <a:spcBef>
                <a:spcPts val="1000"/>
              </a:spcBef>
              <a:spcAft>
                <a:spcPts val="1200"/>
              </a:spcAft>
              <a:buNone/>
              <a:defRPr sz="2000"/>
            </a:lvl1pPr>
            <a:lvl2pPr marL="228600" indent="-228600">
              <a:lnSpc>
                <a:spcPct val="100000"/>
              </a:lnSpc>
              <a:spcBef>
                <a:spcPts val="1000"/>
              </a:spcBef>
              <a:spcAft>
                <a:spcPts val="1200"/>
              </a:spcAft>
              <a:buFont typeface="Arial" panose="020B0604020202020204" pitchFamily="34" charset="0"/>
              <a:buChar char="•"/>
              <a:defRPr sz="2000"/>
            </a:lvl2pPr>
            <a:lvl3pPr marL="685800" indent="-228600">
              <a:spcBef>
                <a:spcPts val="1000"/>
              </a:spcBef>
              <a:spcAft>
                <a:spcPts val="1200"/>
              </a:spcAft>
              <a:buFont typeface="Arial" panose="020B0604020202020204" pitchFamily="34" charset="0"/>
              <a:buChar char="•"/>
              <a:defRPr sz="2000"/>
            </a:lvl3pPr>
            <a:lvl4pPr marL="1143000" indent="-228600">
              <a:spcBef>
                <a:spcPts val="1000"/>
              </a:spcBef>
              <a:spcAft>
                <a:spcPts val="1200"/>
              </a:spcAft>
              <a:buFont typeface="Arial" panose="020B0604020202020204" pitchFamily="34" charset="0"/>
              <a:buChar char="•"/>
              <a:defRPr sz="2000"/>
            </a:lvl4pPr>
            <a:lvl5pPr marL="1600200" indent="-228600">
              <a:spcBef>
                <a:spcPts val="1000"/>
              </a:spcBef>
              <a:spcAft>
                <a:spcPts val="1200"/>
              </a:spcAft>
              <a:buFont typeface="Arial" panose="020B0604020202020204" pitchFamily="34" charset="0"/>
              <a:buChar char="•"/>
              <a:defRPr sz="2000"/>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94389812-0415-9025-AB21-4503F7DF3AB5}"/>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Connector 5">
            <a:extLst>
              <a:ext uri="{FF2B5EF4-FFF2-40B4-BE49-F238E27FC236}">
                <a16:creationId xmlns:a16="http://schemas.microsoft.com/office/drawing/2014/main" id="{6459A5A0-86AD-344B-A0E4-6C55958151EE}"/>
              </a:ext>
              <a:ext uri="{C183D7F6-B498-43B3-948B-1728B52AA6E4}">
                <adec:decorative xmlns:adec="http://schemas.microsoft.com/office/drawing/2017/decorative" val="1"/>
              </a:ext>
            </a:extLst>
          </p:cNvPr>
          <p:cNvCxnSpPr>
            <a:cxnSpLocks/>
          </p:cNvCxnSpPr>
          <p:nvPr userDrawn="1"/>
        </p:nvCxnSpPr>
        <p:spPr>
          <a:xfrm>
            <a:off x="896628" y="0"/>
            <a:ext cx="0" cy="5943600"/>
          </a:xfrm>
          <a:prstGeom prst="line">
            <a:avLst/>
          </a:prstGeom>
          <a:ln w="1905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718567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4.xml"/><Relationship Id="rId13" Type="http://schemas.openxmlformats.org/officeDocument/2006/relationships/theme" Target="../theme/theme2.xml"/><Relationship Id="rId3" Type="http://schemas.openxmlformats.org/officeDocument/2006/relationships/slideLayout" Target="../slideLayouts/slideLayout19.xml"/><Relationship Id="rId7" Type="http://schemas.openxmlformats.org/officeDocument/2006/relationships/slideLayout" Target="../slideLayouts/slideLayout23.xml"/><Relationship Id="rId12" Type="http://schemas.openxmlformats.org/officeDocument/2006/relationships/slideLayout" Target="../slideLayouts/slideLayout28.xml"/><Relationship Id="rId2" Type="http://schemas.openxmlformats.org/officeDocument/2006/relationships/slideLayout" Target="../slideLayouts/slideLayout18.xml"/><Relationship Id="rId1" Type="http://schemas.openxmlformats.org/officeDocument/2006/relationships/slideLayout" Target="../slideLayouts/slideLayout17.xml"/><Relationship Id="rId6" Type="http://schemas.openxmlformats.org/officeDocument/2006/relationships/slideLayout" Target="../slideLayouts/slideLayout22.xml"/><Relationship Id="rId11" Type="http://schemas.openxmlformats.org/officeDocument/2006/relationships/slideLayout" Target="../slideLayouts/slideLayout27.xml"/><Relationship Id="rId5" Type="http://schemas.openxmlformats.org/officeDocument/2006/relationships/slideLayout" Target="../slideLayouts/slideLayout21.xml"/><Relationship Id="rId10" Type="http://schemas.openxmlformats.org/officeDocument/2006/relationships/slideLayout" Target="../slideLayouts/slideLayout26.xml"/><Relationship Id="rId4" Type="http://schemas.openxmlformats.org/officeDocument/2006/relationships/slideLayout" Target="../slideLayouts/slideLayout20.xml"/><Relationship Id="rId9"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B82F216-62F1-7E0B-63FD-51C27CDAA1B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E61F31D-B959-2AD8-9208-FF08B574DB4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F32C8C7-5C6C-400B-AEC0-4D8178161BB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900" b="0" cap="all" spc="150" baseline="0">
                <a:solidFill>
                  <a:schemeClr val="bg2">
                    <a:lumMod val="50000"/>
                  </a:schemeClr>
                </a:solidFill>
                <a:latin typeface="Univers Light" panose="020B0403020202020204" pitchFamily="34" charset="0"/>
              </a:defRPr>
            </a:lvl1pPr>
          </a:lstStyle>
          <a:p>
            <a:endParaRPr lang="en-US"/>
          </a:p>
        </p:txBody>
      </p:sp>
      <p:sp>
        <p:nvSpPr>
          <p:cNvPr id="5" name="Footer Placeholder 4">
            <a:extLst>
              <a:ext uri="{FF2B5EF4-FFF2-40B4-BE49-F238E27FC236}">
                <a16:creationId xmlns:a16="http://schemas.microsoft.com/office/drawing/2014/main" id="{4B7105D6-7B52-4B7D-9473-BCD571A93A0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900" b="0" cap="all" spc="150" baseline="0">
                <a:solidFill>
                  <a:schemeClr val="bg2">
                    <a:lumMod val="50000"/>
                  </a:schemeClr>
                </a:solidFill>
                <a:latin typeface="Univers Light" panose="020B0403020202020204" pitchFamily="34" charset="0"/>
              </a:defRPr>
            </a:lvl1pPr>
          </a:lstStyle>
          <a:p>
            <a:endParaRPr lang="en-US"/>
          </a:p>
        </p:txBody>
      </p:sp>
      <p:sp>
        <p:nvSpPr>
          <p:cNvPr id="6" name="Slide Number Placeholder 5">
            <a:extLst>
              <a:ext uri="{FF2B5EF4-FFF2-40B4-BE49-F238E27FC236}">
                <a16:creationId xmlns:a16="http://schemas.microsoft.com/office/drawing/2014/main" id="{B13EAA0A-7090-4FA3-AD1C-CD4570404021}"/>
              </a:ext>
            </a:extLst>
          </p:cNvPr>
          <p:cNvSpPr>
            <a:spLocks noGrp="1"/>
          </p:cNvSpPr>
          <p:nvPr>
            <p:ph type="sldNum" sz="quarter" idx="4"/>
          </p:nvPr>
        </p:nvSpPr>
        <p:spPr>
          <a:xfrm>
            <a:off x="412136" y="5943601"/>
            <a:ext cx="968983" cy="651912"/>
          </a:xfrm>
          <a:prstGeom prst="rect">
            <a:avLst/>
          </a:prstGeom>
        </p:spPr>
        <p:txBody>
          <a:bodyPr vert="horz" lIns="91440" tIns="45720" rIns="91440" bIns="45720" rtlCol="0" anchor="ctr"/>
          <a:lstStyle>
            <a:lvl1pPr algn="ctr">
              <a:defRPr sz="1200" b="1" spc="150" baseline="0">
                <a:solidFill>
                  <a:schemeClr val="tx1"/>
                </a:solidFill>
                <a:latin typeface="+mn-lt"/>
              </a:defRPr>
            </a:lvl1pPr>
          </a:lstStyle>
          <a:p>
            <a:fld id="{18D65601-5AE2-46FC-B138-694DDD2B510D}" type="slidenum">
              <a:rPr lang="en-US" smtClean="0"/>
              <a:pPr/>
              <a:t>‹#›</a:t>
            </a:fld>
            <a:endParaRPr lang="en-US"/>
          </a:p>
        </p:txBody>
      </p:sp>
    </p:spTree>
    <p:extLst>
      <p:ext uri="{BB962C8B-B14F-4D97-AF65-F5344CB8AC3E}">
        <p14:creationId xmlns:p14="http://schemas.microsoft.com/office/powerpoint/2010/main" val="737433849"/>
      </p:ext>
    </p:extLst>
  </p:cSld>
  <p:clrMap bg1="lt1" tx1="dk1" bg2="lt2" tx2="dk2" accent1="accent1" accent2="accent2" accent3="accent3" accent4="accent4" accent5="accent5" accent6="accent6" hlink="hlink" folHlink="folHlink"/>
  <p:sldLayoutIdLst>
    <p:sldLayoutId id="2147483694" r:id="rId1"/>
    <p:sldLayoutId id="2147483693" r:id="rId2"/>
    <p:sldLayoutId id="2147483692" r:id="rId3"/>
    <p:sldLayoutId id="2147483691" r:id="rId4"/>
    <p:sldLayoutId id="2147483690" r:id="rId5"/>
    <p:sldLayoutId id="2147483689" r:id="rId6"/>
    <p:sldLayoutId id="2147483688" r:id="rId7"/>
    <p:sldLayoutId id="2147483687" r:id="rId8"/>
    <p:sldLayoutId id="2147483686" r:id="rId9"/>
    <p:sldLayoutId id="2147483685" r:id="rId10"/>
    <p:sldLayoutId id="2147483684" r:id="rId11"/>
    <p:sldLayoutId id="2147483682" r:id="rId12"/>
    <p:sldLayoutId id="2147483681" r:id="rId13"/>
    <p:sldLayoutId id="2147483695" r:id="rId14"/>
    <p:sldLayoutId id="2147483696" r:id="rId15"/>
    <p:sldLayoutId id="2147483697" r:id="rId16"/>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61ED04D-367C-3112-A4AD-F167844BF04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E2CA790-4E5B-B622-1768-22D943C5C78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867BA80-7700-3728-2E00-3A6D99A8447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endParaRPr lang="en-US"/>
          </a:p>
        </p:txBody>
      </p:sp>
      <p:sp>
        <p:nvSpPr>
          <p:cNvPr id="5" name="Footer Placeholder 4">
            <a:extLst>
              <a:ext uri="{FF2B5EF4-FFF2-40B4-BE49-F238E27FC236}">
                <a16:creationId xmlns:a16="http://schemas.microsoft.com/office/drawing/2014/main" id="{BDDE6CDC-B278-60D2-8C75-69F7EF99FC6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0452E3DE-1765-4E5F-AC12-E51367AA606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8D65601-5AE2-46FC-B138-694DDD2B510D}" type="slidenum">
              <a:rPr lang="en-US" smtClean="0"/>
              <a:pPr/>
              <a:t>‹#›</a:t>
            </a:fld>
            <a:endParaRPr lang="en-US"/>
          </a:p>
        </p:txBody>
      </p:sp>
    </p:spTree>
    <p:extLst>
      <p:ext uri="{BB962C8B-B14F-4D97-AF65-F5344CB8AC3E}">
        <p14:creationId xmlns:p14="http://schemas.microsoft.com/office/powerpoint/2010/main" val="2292300092"/>
      </p:ext>
    </p:extLst>
  </p:cSld>
  <p:clrMap bg1="lt1" tx1="dk1" bg2="lt2" tx2="dk2" accent1="accent1" accent2="accent2" accent3="accent3" accent4="accent4" accent5="accent5" accent6="accent6" hlink="hlink" folHlink="folHlink"/>
  <p:sldLayoutIdLst>
    <p:sldLayoutId id="2147483699" r:id="rId1"/>
    <p:sldLayoutId id="2147483700" r:id="rId2"/>
    <p:sldLayoutId id="2147483701" r:id="rId3"/>
    <p:sldLayoutId id="2147483702" r:id="rId4"/>
    <p:sldLayoutId id="2147483703" r:id="rId5"/>
    <p:sldLayoutId id="2147483704" r:id="rId6"/>
    <p:sldLayoutId id="2147483705" r:id="rId7"/>
    <p:sldLayoutId id="2147483706" r:id="rId8"/>
    <p:sldLayoutId id="2147483707" r:id="rId9"/>
    <p:sldLayoutId id="2147483708" r:id="rId10"/>
    <p:sldLayoutId id="2147483709" r:id="rId11"/>
    <p:sldLayoutId id="2147483710"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3" Type="http://schemas.microsoft.com/office/2018/10/relationships/comments" Target="../comments/modernComment_11F_929CA37E.xml"/><Relationship Id="rId2" Type="http://schemas.openxmlformats.org/officeDocument/2006/relationships/notesSlide" Target="../notesSlides/notesSlide2.xml"/><Relationship Id="rId1" Type="http://schemas.openxmlformats.org/officeDocument/2006/relationships/slideLayout" Target="../slideLayouts/slideLayout15.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16.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4.xml"/><Relationship Id="rId1" Type="http://schemas.openxmlformats.org/officeDocument/2006/relationships/slideLayout" Target="../slideLayouts/slideLayout14.xml"/><Relationship Id="rId5" Type="http://schemas.openxmlformats.org/officeDocument/2006/relationships/image" Target="../media/image12.jpeg"/><Relationship Id="rId4" Type="http://schemas.openxmlformats.org/officeDocument/2006/relationships/image" Target="../media/image11.jpeg"/></Relationships>
</file>

<file path=ppt/slides/_rels/slide11.xml.rels><?xml version="1.0" encoding="UTF-8" standalone="yes"?>
<Relationships xmlns="http://schemas.openxmlformats.org/package/2006/relationships"><Relationship Id="rId2" Type="http://schemas.microsoft.com/office/2018/10/relationships/comments" Target="../comments/modernComment_144_38647347.xml"/><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3" Type="http://schemas.openxmlformats.org/officeDocument/2006/relationships/image" Target="../media/image14.tiff"/><Relationship Id="rId2" Type="http://schemas.openxmlformats.org/officeDocument/2006/relationships/image" Target="../media/image13.tiff"/><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5.xml"/><Relationship Id="rId1" Type="http://schemas.openxmlformats.org/officeDocument/2006/relationships/slideLayout" Target="../slideLayouts/slideLayout15.xml"/><Relationship Id="rId4" Type="http://schemas.openxmlformats.org/officeDocument/2006/relationships/image" Target="../media/image15.emf"/></Relationships>
</file>

<file path=ppt/slides/_rels/slide14.xml.rels><?xml version="1.0" encoding="UTF-8" standalone="yes"?>
<Relationships xmlns="http://schemas.openxmlformats.org/package/2006/relationships"><Relationship Id="rId3" Type="http://schemas.openxmlformats.org/officeDocument/2006/relationships/image" Target="../media/image17.tiff"/><Relationship Id="rId2" Type="http://schemas.openxmlformats.org/officeDocument/2006/relationships/image" Target="../media/image16.jpeg"/><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8" Type="http://schemas.openxmlformats.org/officeDocument/2006/relationships/diagramQuickStyle" Target="../diagrams/quickStyle1.xml"/><Relationship Id="rId3" Type="http://schemas.openxmlformats.org/officeDocument/2006/relationships/image" Target="../media/image18.jpeg"/><Relationship Id="rId7" Type="http://schemas.openxmlformats.org/officeDocument/2006/relationships/diagramLayout" Target="../diagrams/layout1.xml"/><Relationship Id="rId2" Type="http://schemas.openxmlformats.org/officeDocument/2006/relationships/notesSlide" Target="../notesSlides/notesSlide6.xml"/><Relationship Id="rId1" Type="http://schemas.openxmlformats.org/officeDocument/2006/relationships/slideLayout" Target="../slideLayouts/slideLayout15.xml"/><Relationship Id="rId6" Type="http://schemas.openxmlformats.org/officeDocument/2006/relationships/diagramData" Target="../diagrams/data1.xml"/><Relationship Id="rId5" Type="http://schemas.openxmlformats.org/officeDocument/2006/relationships/image" Target="../media/image20.jpeg"/><Relationship Id="rId10" Type="http://schemas.microsoft.com/office/2007/relationships/diagramDrawing" Target="../diagrams/drawing1.xml"/><Relationship Id="rId4" Type="http://schemas.openxmlformats.org/officeDocument/2006/relationships/image" Target="../media/image19.jpeg"/><Relationship Id="rId9" Type="http://schemas.openxmlformats.org/officeDocument/2006/relationships/diagramColors" Target="../diagrams/colors1.xml"/></Relationships>
</file>

<file path=ppt/slides/_rels/slide1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jpeg"/><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7.xml"/><Relationship Id="rId1" Type="http://schemas.openxmlformats.org/officeDocument/2006/relationships/slideLayout" Target="../slideLayouts/slideLayout16.xml"/><Relationship Id="rId5" Type="http://schemas.openxmlformats.org/officeDocument/2006/relationships/chart" Target="../charts/chart2.xml"/><Relationship Id="rId4" Type="http://schemas.openxmlformats.org/officeDocument/2006/relationships/chart" Target="../charts/chart1.xml"/></Relationships>
</file>

<file path=ppt/slides/_rels/slide1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6.png"/><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2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tif"/><Relationship Id="rId1" Type="http://schemas.openxmlformats.org/officeDocument/2006/relationships/slideLayout" Target="../slideLayouts/slideLayout21.xml"/></Relationships>
</file>

<file path=ppt/slides/_rels/slide2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8" Type="http://schemas.openxmlformats.org/officeDocument/2006/relationships/image" Target="../media/image34.emf"/><Relationship Id="rId3" Type="http://schemas.openxmlformats.org/officeDocument/2006/relationships/image" Target="../media/image31.jpeg"/><Relationship Id="rId7" Type="http://schemas.openxmlformats.org/officeDocument/2006/relationships/oleObject" Target="../embeddings/oleObject3.bin"/><Relationship Id="rId2" Type="http://schemas.openxmlformats.org/officeDocument/2006/relationships/notesSlide" Target="../notesSlides/notesSlide8.xml"/><Relationship Id="rId1" Type="http://schemas.openxmlformats.org/officeDocument/2006/relationships/slideLayout" Target="../slideLayouts/slideLayout16.xml"/><Relationship Id="rId6" Type="http://schemas.openxmlformats.org/officeDocument/2006/relationships/image" Target="../media/image33.emf"/><Relationship Id="rId5" Type="http://schemas.openxmlformats.org/officeDocument/2006/relationships/oleObject" Target="../embeddings/oleObject2.bin"/><Relationship Id="rId10" Type="http://schemas.openxmlformats.org/officeDocument/2006/relationships/image" Target="../media/image35.emf"/><Relationship Id="rId4" Type="http://schemas.openxmlformats.org/officeDocument/2006/relationships/image" Target="../media/image32.gif"/><Relationship Id="rId9" Type="http://schemas.openxmlformats.org/officeDocument/2006/relationships/oleObject" Target="../embeddings/oleObject4.bin"/></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454C9E-20FB-B999-9303-C71D1334BAD7}"/>
              </a:ext>
            </a:extLst>
          </p:cNvPr>
          <p:cNvSpPr>
            <a:spLocks noGrp="1"/>
          </p:cNvSpPr>
          <p:nvPr>
            <p:ph type="title"/>
          </p:nvPr>
        </p:nvSpPr>
        <p:spPr>
          <a:xfrm>
            <a:off x="1134115" y="1306691"/>
            <a:ext cx="9923770" cy="2504319"/>
          </a:xfrm>
        </p:spPr>
        <p:txBody>
          <a:bodyPr>
            <a:normAutofit fontScale="90000"/>
          </a:bodyPr>
          <a:lstStyle/>
          <a:p>
            <a:r>
              <a:rPr lang="en-US" sz="4400" dirty="0"/>
              <a:t>Stable isotope dilution approach to measuring mineral replacement rates at high P-T conditions: Replacement of metamict zircon by hydrothermal zircon</a:t>
            </a:r>
          </a:p>
        </p:txBody>
      </p:sp>
      <p:sp>
        <p:nvSpPr>
          <p:cNvPr id="3" name="Text Placeholder 2">
            <a:extLst>
              <a:ext uri="{FF2B5EF4-FFF2-40B4-BE49-F238E27FC236}">
                <a16:creationId xmlns:a16="http://schemas.microsoft.com/office/drawing/2014/main" id="{50974C6F-1FDB-D84B-9A13-40DE832D39C3}"/>
              </a:ext>
            </a:extLst>
          </p:cNvPr>
          <p:cNvSpPr>
            <a:spLocks noGrp="1"/>
          </p:cNvSpPr>
          <p:nvPr>
            <p:ph type="body" sz="quarter" idx="12"/>
          </p:nvPr>
        </p:nvSpPr>
        <p:spPr>
          <a:xfrm>
            <a:off x="1353828" y="5123984"/>
            <a:ext cx="9923770" cy="1368256"/>
          </a:xfrm>
        </p:spPr>
        <p:txBody>
          <a:bodyPr>
            <a:normAutofit/>
          </a:bodyPr>
          <a:lstStyle/>
          <a:p>
            <a:pPr lvl="0">
              <a:spcBef>
                <a:spcPts val="1000"/>
              </a:spcBef>
              <a:defRPr/>
            </a:pPr>
            <a:r>
              <a:rPr lang="en-US" altLang="zh-CN" b="1" dirty="0">
                <a:latin typeface="Arial" panose="020B0604020202020204" pitchFamily="34" charset="0"/>
              </a:rPr>
              <a:t>John C. Ayers</a:t>
            </a:r>
            <a:r>
              <a:rPr lang="en-US" altLang="zh-CN" dirty="0">
                <a:latin typeface="Arial" panose="020B0604020202020204" pitchFamily="34" charset="0"/>
              </a:rPr>
              <a:t>, Pan Hu, and Blake Wallrich, Vanderbilt University</a:t>
            </a:r>
          </a:p>
          <a:p>
            <a:pPr lvl="0">
              <a:spcBef>
                <a:spcPts val="1000"/>
              </a:spcBef>
              <a:defRPr/>
            </a:pPr>
            <a:r>
              <a:rPr lang="en-US" altLang="zh-CN" dirty="0">
                <a:latin typeface="Arial" panose="020B0604020202020204" pitchFamily="34" charset="0"/>
              </a:rPr>
              <a:t>Chen Zhu, Indiana University Bloomington</a:t>
            </a:r>
          </a:p>
          <a:p>
            <a:pPr lvl="0">
              <a:spcBef>
                <a:spcPts val="1000"/>
              </a:spcBef>
              <a:defRPr/>
            </a:pPr>
            <a:r>
              <a:rPr lang="en-US" altLang="zh-CN" dirty="0">
                <a:latin typeface="Arial" panose="020B0604020202020204" pitchFamily="34" charset="0"/>
              </a:rPr>
              <a:t>Keewook Yi, Korea Basic Science Institute</a:t>
            </a:r>
          </a:p>
          <a:p>
            <a:endParaRPr lang="en-US" dirty="0"/>
          </a:p>
        </p:txBody>
      </p:sp>
      <p:pic>
        <p:nvPicPr>
          <p:cNvPr id="26" name="Graphic 25">
            <a:extLst>
              <a:ext uri="{FF2B5EF4-FFF2-40B4-BE49-F238E27FC236}">
                <a16:creationId xmlns:a16="http://schemas.microsoft.com/office/drawing/2014/main" id="{84B42377-CC9C-D711-33F5-4502FF166BA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7187229" y="5581249"/>
            <a:ext cx="4676503" cy="1015495"/>
          </a:xfrm>
          <a:prstGeom prst="rect">
            <a:avLst/>
          </a:prstGeom>
        </p:spPr>
      </p:pic>
    </p:spTree>
    <p:extLst>
      <p:ext uri="{BB962C8B-B14F-4D97-AF65-F5344CB8AC3E}">
        <p14:creationId xmlns:p14="http://schemas.microsoft.com/office/powerpoint/2010/main" val="33788224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D97761-0B88-A5E8-0B78-C39173D05F4D}"/>
              </a:ext>
            </a:extLst>
          </p:cNvPr>
          <p:cNvSpPr>
            <a:spLocks noGrp="1"/>
          </p:cNvSpPr>
          <p:nvPr>
            <p:ph type="title"/>
          </p:nvPr>
        </p:nvSpPr>
        <p:spPr/>
        <p:txBody>
          <a:bodyPr/>
          <a:lstStyle/>
          <a:p>
            <a:r>
              <a:rPr lang="en-US" dirty="0"/>
              <a:t>Introduction</a:t>
            </a:r>
          </a:p>
        </p:txBody>
      </p:sp>
      <p:sp>
        <p:nvSpPr>
          <p:cNvPr id="3" name="Content Placeholder 2">
            <a:extLst>
              <a:ext uri="{FF2B5EF4-FFF2-40B4-BE49-F238E27FC236}">
                <a16:creationId xmlns:a16="http://schemas.microsoft.com/office/drawing/2014/main" id="{02BA04E6-CD61-B962-4287-DEC1993C32D6}"/>
              </a:ext>
            </a:extLst>
          </p:cNvPr>
          <p:cNvSpPr>
            <a:spLocks noGrp="1"/>
          </p:cNvSpPr>
          <p:nvPr>
            <p:ph sz="quarter" idx="12"/>
          </p:nvPr>
        </p:nvSpPr>
        <p:spPr>
          <a:xfrm>
            <a:off x="1450152" y="1711234"/>
            <a:ext cx="10136601" cy="4884279"/>
          </a:xfrm>
        </p:spPr>
        <p:txBody>
          <a:bodyPr vert="horz" lIns="0" tIns="0" rIns="0" bIns="0" rtlCol="0" anchor="t">
            <a:normAutofit fontScale="92500"/>
          </a:bodyPr>
          <a:lstStyle/>
          <a:p>
            <a:r>
              <a:rPr lang="en-US" sz="2400" dirty="0"/>
              <a:t>Radiation damage can convert crystalline zircon to metamict (amorphous) ZrSiO</a:t>
            </a:r>
            <a:r>
              <a:rPr lang="en-US" sz="2400" baseline="-25000" dirty="0"/>
              <a:t>4</a:t>
            </a:r>
          </a:p>
          <a:p>
            <a:r>
              <a:rPr lang="en-US" sz="2400" dirty="0"/>
              <a:t>Metamict ZrSiO</a:t>
            </a:r>
            <a:r>
              <a:rPr lang="en-US" sz="2400" baseline="-25000" dirty="0"/>
              <a:t>4</a:t>
            </a:r>
            <a:r>
              <a:rPr lang="en-US" sz="2400" dirty="0"/>
              <a:t> is more soluble than crystalline zircon in hydrothermal fluids </a:t>
            </a:r>
          </a:p>
          <a:p>
            <a:r>
              <a:rPr lang="en-US" sz="2400" b="1" dirty="0"/>
              <a:t>Hypothesis</a:t>
            </a:r>
            <a:r>
              <a:rPr lang="en-US" sz="2400" dirty="0"/>
              <a:t>: coupled dissolution-precipitation drives the replacement of metamict ZrSiO4 with crystalline zircon</a:t>
            </a:r>
          </a:p>
          <a:p>
            <a:r>
              <a:rPr lang="en-US" sz="2400" dirty="0"/>
              <a:t>Objective: measure the rate of replacement of metamict ZrSiO</a:t>
            </a:r>
            <a:r>
              <a:rPr lang="en-US" sz="2400" baseline="-25000" dirty="0"/>
              <a:t>4</a:t>
            </a:r>
            <a:r>
              <a:rPr lang="en-US" sz="2400" dirty="0"/>
              <a:t> by crystalline zircon</a:t>
            </a:r>
          </a:p>
          <a:p>
            <a:pPr lvl="1"/>
            <a:r>
              <a:rPr lang="en-US" sz="2400" dirty="0"/>
              <a:t>Dope fluid of known </a:t>
            </a:r>
            <a:r>
              <a:rPr lang="en-US" sz="2400" baseline="30000" dirty="0"/>
              <a:t>18</a:t>
            </a:r>
            <a:r>
              <a:rPr lang="en-US" sz="2400" dirty="0"/>
              <a:t>O with rare stable isotope </a:t>
            </a:r>
            <a:r>
              <a:rPr lang="en-US" sz="2400" baseline="30000" dirty="0"/>
              <a:t>29</a:t>
            </a:r>
            <a:r>
              <a:rPr lang="en-US" sz="2400" dirty="0"/>
              <a:t>Si</a:t>
            </a:r>
          </a:p>
          <a:p>
            <a:pPr lvl="1"/>
            <a:r>
              <a:rPr lang="en-US" sz="2400" dirty="0"/>
              <a:t>Conduct cold seal pressure vessel experiments at 0.2 GPa and 600-800°C</a:t>
            </a:r>
          </a:p>
          <a:p>
            <a:pPr lvl="1"/>
            <a:r>
              <a:rPr lang="en-US" sz="2400" dirty="0"/>
              <a:t>Measure isotope compositions of run product solids and fluids</a:t>
            </a:r>
          </a:p>
          <a:p>
            <a:pPr lvl="1"/>
            <a:r>
              <a:rPr lang="en-US" sz="2400" dirty="0"/>
              <a:t>Calculate percent replacement from isotopic mass balance</a:t>
            </a:r>
          </a:p>
        </p:txBody>
      </p:sp>
    </p:spTree>
    <p:extLst>
      <p:ext uri="{BB962C8B-B14F-4D97-AF65-F5344CB8AC3E}">
        <p14:creationId xmlns:p14="http://schemas.microsoft.com/office/powerpoint/2010/main" val="16074552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CB046A-6BA5-F199-A536-493AE961A0B0}"/>
              </a:ext>
            </a:extLst>
          </p:cNvPr>
          <p:cNvSpPr>
            <a:spLocks noGrp="1"/>
          </p:cNvSpPr>
          <p:nvPr>
            <p:ph type="title"/>
          </p:nvPr>
        </p:nvSpPr>
        <p:spPr/>
        <p:txBody>
          <a:bodyPr/>
          <a:lstStyle/>
          <a:p>
            <a:r>
              <a:rPr lang="en-US"/>
              <a:t>Previous Research</a:t>
            </a:r>
          </a:p>
        </p:txBody>
      </p:sp>
      <p:sp>
        <p:nvSpPr>
          <p:cNvPr id="3" name="Content Placeholder 2">
            <a:extLst>
              <a:ext uri="{FF2B5EF4-FFF2-40B4-BE49-F238E27FC236}">
                <a16:creationId xmlns:a16="http://schemas.microsoft.com/office/drawing/2014/main" id="{0AAEF23C-6B72-A477-85A4-6068BE7E71E0}"/>
              </a:ext>
            </a:extLst>
          </p:cNvPr>
          <p:cNvSpPr>
            <a:spLocks noGrp="1"/>
          </p:cNvSpPr>
          <p:nvPr>
            <p:ph sz="quarter" idx="11"/>
          </p:nvPr>
        </p:nvSpPr>
        <p:spPr>
          <a:xfrm>
            <a:off x="6668185" y="1551709"/>
            <a:ext cx="5111679" cy="5043804"/>
          </a:xfrm>
        </p:spPr>
        <p:txBody>
          <a:bodyPr vert="horz" lIns="0" tIns="45720" rIns="91440" bIns="45720" rtlCol="0" anchor="t">
            <a:normAutofit fontScale="92500"/>
          </a:bodyPr>
          <a:lstStyle/>
          <a:p>
            <a:pPr marL="342900" indent="-342900">
              <a:buFont typeface="Arial" panose="020B0604020202020204" pitchFamily="34" charset="0"/>
              <a:buChar char="•"/>
            </a:pPr>
            <a:r>
              <a:rPr lang="en-US" sz="2400" dirty="0"/>
              <a:t>Several papers by Thorsten Geisler in the early 2000s reported partial replacement of partially metamict ZrSiO</a:t>
            </a:r>
            <a:r>
              <a:rPr lang="en-US" sz="2400" baseline="-25000" dirty="0"/>
              <a:t>4</a:t>
            </a:r>
            <a:r>
              <a:rPr lang="en-US" sz="2400" dirty="0"/>
              <a:t>, with the thickness of replacement rims increasing with degree of radiation damage.</a:t>
            </a:r>
          </a:p>
          <a:p>
            <a:pPr marL="342900" indent="-342900">
              <a:buFont typeface="Arial" panose="020B0604020202020204" pitchFamily="34" charset="0"/>
              <a:buChar char="•"/>
            </a:pPr>
            <a:r>
              <a:rPr lang="en-US" sz="2400" dirty="0"/>
              <a:t>Ayers and Zhu (2025 G^3 </a:t>
            </a:r>
            <a:r>
              <a:rPr lang="en-US" sz="2400" i="1" dirty="0"/>
              <a:t>26</a:t>
            </a:r>
            <a:r>
              <a:rPr lang="en-US" sz="2400" dirty="0"/>
              <a:t>, e2024GC011925) used photomicrographs in Geisler et al. (2003, Am. Min. 88, p. 1496) to estimate rate constants for replacement of metamict ZrSiO</a:t>
            </a:r>
            <a:r>
              <a:rPr lang="en-US" sz="2400" baseline="-25000" dirty="0"/>
              <a:t>4</a:t>
            </a:r>
            <a:r>
              <a:rPr lang="en-US" sz="2400" dirty="0"/>
              <a:t> by crystalline zircon.</a:t>
            </a:r>
          </a:p>
          <a:p>
            <a:endParaRPr lang="en-US" sz="2400" dirty="0"/>
          </a:p>
        </p:txBody>
      </p:sp>
      <p:pic>
        <p:nvPicPr>
          <p:cNvPr id="6" name="Picture 2" descr="Details are in the caption following the image">
            <a:extLst>
              <a:ext uri="{FF2B5EF4-FFF2-40B4-BE49-F238E27FC236}">
                <a16:creationId xmlns:a16="http://schemas.microsoft.com/office/drawing/2014/main" id="{4423E14E-EFB2-1A19-C88E-42AEE953C09F}"/>
              </a:ext>
            </a:extLst>
          </p:cNvPr>
          <p:cNvPicPr>
            <a:picLocks noGrp="1" noChangeAspect="1" noChangeArrowheads="1"/>
          </p:cNvPicPr>
          <p:nvPr>
            <p:ph sz="quarter" idx="12"/>
          </p:nvPr>
        </p:nvPicPr>
        <p:blipFill>
          <a:blip r:embed="rId2">
            <a:extLst>
              <a:ext uri="{28A0092B-C50C-407E-A947-70E740481C1C}">
                <a14:useLocalDpi xmlns:a14="http://schemas.microsoft.com/office/drawing/2010/main"/>
              </a:ext>
            </a:extLst>
          </a:blip>
          <a:srcRect/>
          <a:stretch>
            <a:fillRect/>
          </a:stretch>
        </p:blipFill>
        <p:spPr bwMode="auto">
          <a:xfrm>
            <a:off x="914413" y="1914708"/>
            <a:ext cx="5181587" cy="39794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672070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032184-D00C-E7AF-B61F-21F1F326EAEA}"/>
              </a:ext>
            </a:extLst>
          </p:cNvPr>
          <p:cNvSpPr>
            <a:spLocks noGrp="1"/>
          </p:cNvSpPr>
          <p:nvPr>
            <p:ph type="title"/>
          </p:nvPr>
        </p:nvSpPr>
        <p:spPr/>
        <p:txBody>
          <a:bodyPr>
            <a:normAutofit/>
          </a:bodyPr>
          <a:lstStyle/>
          <a:p>
            <a:pPr algn="ctr"/>
            <a:r>
              <a:rPr lang="en-US">
                <a:latin typeface="Arial" panose="020B0604020202020204" pitchFamily="34" charset="0"/>
                <a:cs typeface="Arial" panose="020B0604020202020204" pitchFamily="34" charset="0"/>
              </a:rPr>
              <a:t>Zirconium phase solubilities: the driving force for replacement</a:t>
            </a:r>
          </a:p>
        </p:txBody>
      </p:sp>
      <p:sp>
        <p:nvSpPr>
          <p:cNvPr id="6" name="Text Placeholder 5">
            <a:extLst>
              <a:ext uri="{FF2B5EF4-FFF2-40B4-BE49-F238E27FC236}">
                <a16:creationId xmlns:a16="http://schemas.microsoft.com/office/drawing/2014/main" id="{B156011C-0F7D-12AD-3980-FFE3395BBB24}"/>
              </a:ext>
            </a:extLst>
          </p:cNvPr>
          <p:cNvSpPr>
            <a:spLocks noGrp="1"/>
          </p:cNvSpPr>
          <p:nvPr>
            <p:ph type="body" idx="1"/>
          </p:nvPr>
        </p:nvSpPr>
        <p:spPr>
          <a:xfrm>
            <a:off x="836612" y="1494294"/>
            <a:ext cx="5157787" cy="823912"/>
          </a:xfrm>
        </p:spPr>
        <p:txBody>
          <a:bodyPr/>
          <a:lstStyle/>
          <a:p>
            <a:r>
              <a:rPr lang="en-US"/>
              <a:t>At 0.2 GPa and quartz saturation</a:t>
            </a:r>
          </a:p>
        </p:txBody>
      </p:sp>
      <p:pic>
        <p:nvPicPr>
          <p:cNvPr id="8" name="Graphic 1">
            <a:extLst>
              <a:ext uri="{FF2B5EF4-FFF2-40B4-BE49-F238E27FC236}">
                <a16:creationId xmlns:a16="http://schemas.microsoft.com/office/drawing/2014/main" id="{80F21728-743A-CAE8-9DC9-3EAD1342ADC4}"/>
              </a:ext>
            </a:extLst>
          </p:cNvPr>
          <p:cNvPicPr>
            <a:picLocks noGrp="1" noChangeAspect="1"/>
          </p:cNvPicPr>
          <p:nvPr>
            <p:ph sz="half" idx="2"/>
          </p:nvPr>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p:blipFill>
        <p:spPr bwMode="auto">
          <a:xfrm>
            <a:off x="1034536" y="2505075"/>
            <a:ext cx="4768290" cy="3684588"/>
          </a:xfrm>
          <a:prstGeom prst="rect">
            <a:avLst/>
          </a:prstGeom>
          <a:ln>
            <a:noFill/>
          </a:ln>
          <a:extLst>
            <a:ext uri="{53640926-AAD7-44D8-BBD7-CCE9431645EC}">
              <a14:shadowObscured xmlns:a14="http://schemas.microsoft.com/office/drawing/2010/main"/>
            </a:ext>
          </a:extLst>
        </p:spPr>
      </p:pic>
      <p:sp>
        <p:nvSpPr>
          <p:cNvPr id="3" name="文本框 2">
            <a:extLst>
              <a:ext uri="{FF2B5EF4-FFF2-40B4-BE49-F238E27FC236}">
                <a16:creationId xmlns:a16="http://schemas.microsoft.com/office/drawing/2014/main" id="{37B33928-BC14-284E-688F-4C425D5140E8}"/>
              </a:ext>
            </a:extLst>
          </p:cNvPr>
          <p:cNvSpPr txBox="1"/>
          <p:nvPr/>
        </p:nvSpPr>
        <p:spPr>
          <a:xfrm>
            <a:off x="9193261" y="6492875"/>
            <a:ext cx="2867132" cy="369332"/>
          </a:xfrm>
          <a:prstGeom prst="rect">
            <a:avLst/>
          </a:prstGeom>
          <a:noFill/>
        </p:spPr>
        <p:txBody>
          <a:bodyPr wrap="none" rtlCol="0">
            <a:spAutoFit/>
          </a:bodyPr>
          <a:lstStyle/>
          <a:p>
            <a:r>
              <a:rPr lang="en-US" altLang="zh-CN">
                <a:latin typeface="Arial" panose="020B0604020202020204" pitchFamily="34" charset="0"/>
                <a:cs typeface="Arial" panose="020B0604020202020204" pitchFamily="34" charset="0"/>
              </a:rPr>
              <a:t>Ayers and Zhu, G^3, 2025</a:t>
            </a:r>
            <a:endParaRPr lang="zh-CN" altLang="en-US">
              <a:latin typeface="Arial" panose="020B0604020202020204" pitchFamily="34" charset="0"/>
              <a:cs typeface="Arial" panose="020B0604020202020204" pitchFamily="34" charset="0"/>
            </a:endParaRPr>
          </a:p>
        </p:txBody>
      </p:sp>
      <p:sp>
        <p:nvSpPr>
          <p:cNvPr id="15" name="文本框 14">
            <a:extLst>
              <a:ext uri="{FF2B5EF4-FFF2-40B4-BE49-F238E27FC236}">
                <a16:creationId xmlns:a16="http://schemas.microsoft.com/office/drawing/2014/main" id="{F98309D4-1441-A842-C21A-01DDFC01F430}"/>
              </a:ext>
            </a:extLst>
          </p:cNvPr>
          <p:cNvSpPr txBox="1"/>
          <p:nvPr/>
        </p:nvSpPr>
        <p:spPr>
          <a:xfrm>
            <a:off x="5964393" y="5766369"/>
            <a:ext cx="6096000" cy="646331"/>
          </a:xfrm>
          <a:prstGeom prst="rect">
            <a:avLst/>
          </a:prstGeom>
          <a:noFill/>
        </p:spPr>
        <p:txBody>
          <a:bodyPr wrap="square">
            <a:spAutoFit/>
          </a:bodyPr>
          <a:lstStyle/>
          <a:p>
            <a:r>
              <a:rPr lang="en-US" altLang="zh-CN" b="0" i="0">
                <a:solidFill>
                  <a:srgbClr val="000000"/>
                </a:solidFill>
                <a:effectLst/>
                <a:latin typeface="Arial" panose="020B0604020202020204" pitchFamily="34" charset="0"/>
                <a:cs typeface="Arial" panose="020B0604020202020204" pitchFamily="34" charset="0"/>
              </a:rPr>
              <a:t>In a closed system, hydrothermal zircon may form by replacement of radiation-damaged zircon</a:t>
            </a:r>
            <a:endParaRPr lang="zh-CN"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085132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1841E3-9C9B-7210-829E-7310193DAA06}"/>
              </a:ext>
            </a:extLst>
          </p:cNvPr>
          <p:cNvSpPr>
            <a:spLocks noGrp="1"/>
          </p:cNvSpPr>
          <p:nvPr>
            <p:ph type="title"/>
          </p:nvPr>
        </p:nvSpPr>
        <p:spPr/>
        <p:txBody>
          <a:bodyPr/>
          <a:lstStyle/>
          <a:p>
            <a:pPr algn="ctr"/>
            <a:r>
              <a:rPr lang="en-US" dirty="0">
                <a:latin typeface="Arial" panose="020B0604020202020204" pitchFamily="34" charset="0"/>
                <a:cs typeface="Arial" panose="020B0604020202020204" pitchFamily="34" charset="0"/>
              </a:rPr>
              <a:t>How we aim to better characterize the replacement of metamict zircon</a:t>
            </a:r>
          </a:p>
        </p:txBody>
      </p:sp>
      <p:sp>
        <p:nvSpPr>
          <p:cNvPr id="3" name="Content Placeholder 2">
            <a:extLst>
              <a:ext uri="{FF2B5EF4-FFF2-40B4-BE49-F238E27FC236}">
                <a16:creationId xmlns:a16="http://schemas.microsoft.com/office/drawing/2014/main" id="{C3EF0882-723D-627F-3175-97EF97B622E9}"/>
              </a:ext>
            </a:extLst>
          </p:cNvPr>
          <p:cNvSpPr>
            <a:spLocks noGrp="1"/>
          </p:cNvSpPr>
          <p:nvPr>
            <p:ph sz="half" idx="1"/>
          </p:nvPr>
        </p:nvSpPr>
        <p:spPr>
          <a:xfrm>
            <a:off x="590006" y="2087753"/>
            <a:ext cx="5266508" cy="4770247"/>
          </a:xfrm>
        </p:spPr>
        <p:txBody>
          <a:bodyPr>
            <a:normAutofit/>
          </a:bodyPr>
          <a:lstStyle/>
          <a:p>
            <a:r>
              <a:rPr lang="en-US">
                <a:latin typeface="Arial" panose="020B0604020202020204" pitchFamily="34" charset="0"/>
                <a:cs typeface="Arial" panose="020B0604020202020204" pitchFamily="34" charset="0"/>
              </a:rPr>
              <a:t>Add silicon </a:t>
            </a:r>
            <a:r>
              <a:rPr lang="en-US" altLang="zh-CN">
                <a:latin typeface="Arial" panose="020B0604020202020204" pitchFamily="34" charset="0"/>
                <a:cs typeface="Arial" panose="020B0604020202020204" pitchFamily="34" charset="0"/>
              </a:rPr>
              <a:t>isotope </a:t>
            </a:r>
            <a:r>
              <a:rPr lang="en-US">
                <a:latin typeface="Arial" panose="020B0604020202020204" pitchFamily="34" charset="0"/>
                <a:cs typeface="Arial" panose="020B0604020202020204" pitchFamily="34" charset="0"/>
              </a:rPr>
              <a:t>and oxygen isotope tracer to dope the solution and trace the reaction;</a:t>
            </a:r>
          </a:p>
          <a:p>
            <a:endParaRPr lang="en-US">
              <a:latin typeface="Arial" panose="020B0604020202020204" pitchFamily="34" charset="0"/>
              <a:cs typeface="Arial" panose="020B0604020202020204" pitchFamily="34" charset="0"/>
            </a:endParaRPr>
          </a:p>
          <a:p>
            <a:r>
              <a:rPr lang="en-US">
                <a:latin typeface="Arial" panose="020B0604020202020204" pitchFamily="34" charset="0"/>
                <a:cs typeface="Arial" panose="020B0604020202020204" pitchFamily="34" charset="0"/>
              </a:rPr>
              <a:t>Use isotopic compositions of starting materials and run product solids and fluids to quantify the </a:t>
            </a:r>
            <a:r>
              <a:rPr lang="en-US" altLang="zh-CN">
                <a:latin typeface="Arial" panose="020B0604020202020204" pitchFamily="34" charset="0"/>
                <a:cs typeface="Arial" panose="020B0604020202020204" pitchFamily="34" charset="0"/>
              </a:rPr>
              <a:t>extent of replacement.</a:t>
            </a:r>
            <a:endParaRPr lang="en-US">
              <a:latin typeface="Arial" panose="020B0604020202020204" pitchFamily="34" charset="0"/>
              <a:cs typeface="Arial" panose="020B0604020202020204" pitchFamily="34" charset="0"/>
            </a:endParaRPr>
          </a:p>
        </p:txBody>
      </p:sp>
      <p:pic>
        <p:nvPicPr>
          <p:cNvPr id="6" name="Content Placeholder 5" descr="A close-up of a sign&#10;&#10;Description automatically generated">
            <a:extLst>
              <a:ext uri="{FF2B5EF4-FFF2-40B4-BE49-F238E27FC236}">
                <a16:creationId xmlns:a16="http://schemas.microsoft.com/office/drawing/2014/main" id="{71485B84-BCC8-9F9E-BDC5-4E5AAF597CBC}"/>
              </a:ext>
            </a:extLst>
          </p:cNvPr>
          <p:cNvPicPr>
            <a:picLocks noGrp="1" noChangeAspect="1"/>
          </p:cNvPicPr>
          <p:nvPr>
            <p:ph sz="half" idx="2"/>
          </p:nvPr>
        </p:nvPicPr>
        <p:blipFill>
          <a:blip r:embed="rId4">
            <a:extLst>
              <a:ext uri="{28A0092B-C50C-407E-A947-70E740481C1C}">
                <a14:useLocalDpi xmlns:a14="http://schemas.microsoft.com/office/drawing/2010/main"/>
              </a:ext>
            </a:extLst>
          </a:blip>
          <a:stretch>
            <a:fillRect/>
          </a:stretch>
        </p:blipFill>
        <p:spPr>
          <a:xfrm>
            <a:off x="6172200" y="2834351"/>
            <a:ext cx="5181600" cy="2333886"/>
          </a:xfrm>
        </p:spPr>
      </p:pic>
    </p:spTree>
    <p:extLst>
      <p:ext uri="{BB962C8B-B14F-4D97-AF65-F5344CB8AC3E}">
        <p14:creationId xmlns:p14="http://schemas.microsoft.com/office/powerpoint/2010/main" val="2459739006"/>
      </p:ext>
    </p:extLst>
  </p:cSld>
  <p:clrMapOvr>
    <a:masterClrMapping/>
  </p:clrMapOvr>
  <p:extLst>
    <p:ext uri="{6950BFC3-D8DA-4A85-94F7-54DA5524770B}">
      <p188:commentRel xmlns:p188="http://schemas.microsoft.com/office/powerpoint/2018/8/main" r:id="rId3"/>
    </p:ext>
  </p:extLst>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190403-1571-6C78-28FA-EEDFCDFE289A}"/>
              </a:ext>
            </a:extLst>
          </p:cNvPr>
          <p:cNvSpPr>
            <a:spLocks noGrp="1"/>
          </p:cNvSpPr>
          <p:nvPr>
            <p:ph type="title"/>
          </p:nvPr>
        </p:nvSpPr>
        <p:spPr/>
        <p:txBody>
          <a:bodyPr/>
          <a:lstStyle/>
          <a:p>
            <a:r>
              <a:rPr lang="en-US"/>
              <a:t>Solids characterization</a:t>
            </a:r>
          </a:p>
        </p:txBody>
      </p:sp>
      <p:sp>
        <p:nvSpPr>
          <p:cNvPr id="3" name="Text Placeholder 2">
            <a:extLst>
              <a:ext uri="{FF2B5EF4-FFF2-40B4-BE49-F238E27FC236}">
                <a16:creationId xmlns:a16="http://schemas.microsoft.com/office/drawing/2014/main" id="{8495039C-3181-D224-6BBF-AFE042EB5A00}"/>
              </a:ext>
            </a:extLst>
          </p:cNvPr>
          <p:cNvSpPr>
            <a:spLocks noGrp="1"/>
          </p:cNvSpPr>
          <p:nvPr>
            <p:ph type="body" idx="1"/>
          </p:nvPr>
        </p:nvSpPr>
        <p:spPr/>
        <p:txBody>
          <a:bodyPr>
            <a:normAutofit fontScale="92500" lnSpcReduction="20000"/>
          </a:bodyPr>
          <a:lstStyle/>
          <a:p>
            <a:r>
              <a:rPr lang="en-US"/>
              <a:t>EDS and CL imaging: FEI Helios </a:t>
            </a:r>
            <a:r>
              <a:rPr lang="en-US" err="1"/>
              <a:t>NanoLab</a:t>
            </a:r>
            <a:r>
              <a:rPr lang="en-US"/>
              <a:t> G3 CX SEM</a:t>
            </a:r>
          </a:p>
        </p:txBody>
      </p:sp>
      <p:sp>
        <p:nvSpPr>
          <p:cNvPr id="5" name="Text Placeholder 4">
            <a:extLst>
              <a:ext uri="{FF2B5EF4-FFF2-40B4-BE49-F238E27FC236}">
                <a16:creationId xmlns:a16="http://schemas.microsoft.com/office/drawing/2014/main" id="{A5061592-3EA1-8666-6351-8D90B222684C}"/>
              </a:ext>
            </a:extLst>
          </p:cNvPr>
          <p:cNvSpPr>
            <a:spLocks noGrp="1"/>
          </p:cNvSpPr>
          <p:nvPr>
            <p:ph type="body" sz="quarter" idx="3"/>
          </p:nvPr>
        </p:nvSpPr>
        <p:spPr/>
        <p:txBody>
          <a:bodyPr>
            <a:normAutofit fontScale="92500" lnSpcReduction="20000"/>
          </a:bodyPr>
          <a:lstStyle/>
          <a:p>
            <a:r>
              <a:rPr lang="en-US"/>
              <a:t>Micro-Raman measurements: </a:t>
            </a:r>
            <a:r>
              <a:rPr lang="en-US" err="1"/>
              <a:t>Thermo</a:t>
            </a:r>
            <a:r>
              <a:rPr lang="en-US"/>
              <a:t> Scientific DXR Confocal Raman microscope </a:t>
            </a:r>
          </a:p>
        </p:txBody>
      </p:sp>
      <p:sp>
        <p:nvSpPr>
          <p:cNvPr id="7" name="Slide Number Placeholder 6">
            <a:extLst>
              <a:ext uri="{FF2B5EF4-FFF2-40B4-BE49-F238E27FC236}">
                <a16:creationId xmlns:a16="http://schemas.microsoft.com/office/drawing/2014/main" id="{C5BD2C0D-096A-4691-70ED-69416B47D5B1}"/>
              </a:ext>
            </a:extLst>
          </p:cNvPr>
          <p:cNvSpPr>
            <a:spLocks noGrp="1"/>
          </p:cNvSpPr>
          <p:nvPr>
            <p:ph type="sldNum" sz="quarter" idx="12"/>
          </p:nvPr>
        </p:nvSpPr>
        <p:spPr/>
        <p:txBody>
          <a:bodyPr/>
          <a:lstStyle/>
          <a:p>
            <a:fld id="{46E821BF-007B-4BDA-B854-6CED0A6DDA3E}" type="slidenum">
              <a:rPr lang="zh-CN" altLang="en-US" smtClean="0"/>
              <a:t>6</a:t>
            </a:fld>
            <a:endParaRPr lang="zh-CN" altLang="en-US"/>
          </a:p>
        </p:txBody>
      </p:sp>
      <p:pic>
        <p:nvPicPr>
          <p:cNvPr id="8" name="Picture 4" descr="Confocal Raman Microscope">
            <a:extLst>
              <a:ext uri="{FF2B5EF4-FFF2-40B4-BE49-F238E27FC236}">
                <a16:creationId xmlns:a16="http://schemas.microsoft.com/office/drawing/2014/main" id="{EC4A6273-5D0D-4801-9077-273CB0252937}"/>
              </a:ext>
            </a:extLst>
          </p:cNvPr>
          <p:cNvPicPr>
            <a:picLocks noGrp="1" noChangeAspect="1" noChangeArrowheads="1"/>
          </p:cNvPicPr>
          <p:nvPr>
            <p:ph sz="quarter" idx="4"/>
          </p:nvPr>
        </p:nvPicPr>
        <p:blipFill>
          <a:blip r:embed="rId2" cstate="print">
            <a:extLst>
              <a:ext uri="{28A0092B-C50C-407E-A947-70E740481C1C}">
                <a14:useLocalDpi xmlns:a14="http://schemas.microsoft.com/office/drawing/2010/main"/>
              </a:ext>
            </a:extLst>
          </a:blip>
          <a:stretch>
            <a:fillRect/>
          </a:stretch>
        </p:blipFill>
        <p:spPr bwMode="auto">
          <a:xfrm>
            <a:off x="6296298" y="2719108"/>
            <a:ext cx="5483566" cy="3618516"/>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6" descr="FIB-SEM">
            <a:extLst>
              <a:ext uri="{FF2B5EF4-FFF2-40B4-BE49-F238E27FC236}">
                <a16:creationId xmlns:a16="http://schemas.microsoft.com/office/drawing/2014/main" id="{7456DB24-237A-EB4B-6398-713923DD807A}"/>
              </a:ext>
            </a:extLst>
          </p:cNvPr>
          <p:cNvPicPr>
            <a:picLocks noGrp="1" noChangeAspect="1" noChangeArrowheads="1"/>
          </p:cNvPicPr>
          <p:nvPr>
            <p:ph sz="half" idx="2"/>
          </p:nvPr>
        </p:nvPicPr>
        <p:blipFill>
          <a:blip r:embed="rId3" cstate="print">
            <a:extLst>
              <a:ext uri="{28A0092B-C50C-407E-A947-70E740481C1C}">
                <a14:useLocalDpi xmlns:a14="http://schemas.microsoft.com/office/drawing/2010/main"/>
              </a:ext>
            </a:extLst>
          </a:blip>
          <a:srcRect/>
          <a:stretch>
            <a:fillRect/>
          </a:stretch>
        </p:blipFill>
        <p:spPr bwMode="auto">
          <a:xfrm>
            <a:off x="402047" y="2719786"/>
            <a:ext cx="5483566" cy="36178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264598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3"/>
          <a:stretch>
            <a:fillRect/>
          </a:stretch>
        </p:blipFill>
        <p:spPr>
          <a:xfrm>
            <a:off x="2357770" y="1263491"/>
            <a:ext cx="6924775" cy="5475605"/>
          </a:xfrm>
          <a:prstGeom prst="rect">
            <a:avLst/>
          </a:prstGeom>
        </p:spPr>
      </p:pic>
      <p:sp>
        <p:nvSpPr>
          <p:cNvPr id="5" name="标题 1"/>
          <p:cNvSpPr>
            <a:spLocks noGrp="1"/>
          </p:cNvSpPr>
          <p:nvPr>
            <p:ph type="title"/>
          </p:nvPr>
        </p:nvSpPr>
        <p:spPr>
          <a:xfrm>
            <a:off x="232409" y="38576"/>
            <a:ext cx="11654791" cy="1325563"/>
          </a:xfrm>
        </p:spPr>
        <p:txBody>
          <a:bodyPr>
            <a:normAutofit/>
          </a:bodyPr>
          <a:lstStyle/>
          <a:p>
            <a:pPr algn="ctr"/>
            <a:r>
              <a:rPr lang="en-US" altLang="zh-CN" sz="3600">
                <a:latin typeface="Arial" panose="020B0604020202020204" pitchFamily="34" charset="0"/>
                <a:cs typeface="Arial" panose="020B0604020202020204" pitchFamily="34" charset="0"/>
              </a:rPr>
              <a:t>Degree of radiation damage from Raman spectroscopy</a:t>
            </a:r>
            <a:endParaRPr lang="zh-CN" altLang="en-US" sz="36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501851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18F1CE-E736-A01A-8778-42DBCA56DB49}"/>
              </a:ext>
            </a:extLst>
          </p:cNvPr>
          <p:cNvSpPr>
            <a:spLocks noGrp="1"/>
          </p:cNvSpPr>
          <p:nvPr>
            <p:ph type="title"/>
          </p:nvPr>
        </p:nvSpPr>
        <p:spPr/>
        <p:txBody>
          <a:bodyPr/>
          <a:lstStyle/>
          <a:p>
            <a:pPr algn="ctr"/>
            <a:r>
              <a:rPr lang="en-US" dirty="0"/>
              <a:t>AFG metamict ZrSiO</a:t>
            </a:r>
            <a:r>
              <a:rPr lang="en-US" baseline="-25000" dirty="0"/>
              <a:t>4</a:t>
            </a:r>
            <a:r>
              <a:rPr lang="en-US" dirty="0"/>
              <a:t> heterogeneity</a:t>
            </a:r>
          </a:p>
        </p:txBody>
      </p:sp>
      <p:pic>
        <p:nvPicPr>
          <p:cNvPr id="6" name="Content Placeholder 5">
            <a:extLst>
              <a:ext uri="{FF2B5EF4-FFF2-40B4-BE49-F238E27FC236}">
                <a16:creationId xmlns:a16="http://schemas.microsoft.com/office/drawing/2014/main" id="{F4CC3C6F-595A-C5A0-77E1-3F57BD596F0C}"/>
              </a:ext>
            </a:extLst>
          </p:cNvPr>
          <p:cNvPicPr>
            <a:picLocks noGrp="1" noChangeAspect="1"/>
          </p:cNvPicPr>
          <p:nvPr>
            <p:ph sz="quarter" idx="12"/>
          </p:nvPr>
        </p:nvPicPr>
        <p:blipFill>
          <a:blip r:embed="rId2"/>
          <a:stretch>
            <a:fillRect/>
          </a:stretch>
        </p:blipFill>
        <p:spPr>
          <a:xfrm>
            <a:off x="698965" y="2057401"/>
            <a:ext cx="5178754" cy="4119463"/>
          </a:xfrm>
          <a:prstGeom prst="rect">
            <a:avLst/>
          </a:prstGeom>
        </p:spPr>
      </p:pic>
      <p:sp>
        <p:nvSpPr>
          <p:cNvPr id="4" name="Content Placeholder 3">
            <a:extLst>
              <a:ext uri="{FF2B5EF4-FFF2-40B4-BE49-F238E27FC236}">
                <a16:creationId xmlns:a16="http://schemas.microsoft.com/office/drawing/2014/main" id="{8F45704E-0082-7805-5547-02FABBD8EA37}"/>
              </a:ext>
            </a:extLst>
          </p:cNvPr>
          <p:cNvSpPr>
            <a:spLocks noGrp="1"/>
          </p:cNvSpPr>
          <p:nvPr>
            <p:ph sz="quarter" idx="11"/>
          </p:nvPr>
        </p:nvSpPr>
        <p:spPr/>
        <p:txBody>
          <a:bodyPr>
            <a:normAutofit/>
          </a:bodyPr>
          <a:lstStyle/>
          <a:p>
            <a:pPr marL="457200" indent="-457200">
              <a:buFont typeface="Arial" panose="020B0604020202020204" pitchFamily="34" charset="0"/>
              <a:buChar char="•"/>
            </a:pPr>
            <a:r>
              <a:rPr lang="en-US" sz="2800" dirty="0"/>
              <a:t>Bright zones in BEI have higher alpha doses and radiation damage than the dark zones.</a:t>
            </a:r>
          </a:p>
          <a:p>
            <a:pPr marL="457200" indent="-457200">
              <a:buFont typeface="Arial" panose="020B0604020202020204" pitchFamily="34" charset="0"/>
              <a:buChar char="•"/>
            </a:pPr>
            <a:r>
              <a:rPr lang="en-US" sz="2800" dirty="0"/>
              <a:t>Run products confirm that the bright radiation-damaged zones were preferentially replaced.</a:t>
            </a:r>
          </a:p>
        </p:txBody>
      </p:sp>
    </p:spTree>
    <p:extLst>
      <p:ext uri="{BB962C8B-B14F-4D97-AF65-F5344CB8AC3E}">
        <p14:creationId xmlns:p14="http://schemas.microsoft.com/office/powerpoint/2010/main" val="42155076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882F2B-333B-61A1-16D5-6B7593156DF2}"/>
              </a:ext>
            </a:extLst>
          </p:cNvPr>
          <p:cNvSpPr>
            <a:spLocks noGrp="1"/>
          </p:cNvSpPr>
          <p:nvPr>
            <p:ph type="title"/>
          </p:nvPr>
        </p:nvSpPr>
        <p:spPr>
          <a:xfrm>
            <a:off x="1468814" y="94414"/>
            <a:ext cx="9808773" cy="942811"/>
          </a:xfrm>
        </p:spPr>
        <p:txBody>
          <a:bodyPr/>
          <a:lstStyle/>
          <a:p>
            <a:pPr algn="ctr"/>
            <a:r>
              <a:rPr lang="en-US" dirty="0"/>
              <a:t>Starting Materials</a:t>
            </a:r>
          </a:p>
        </p:txBody>
      </p:sp>
      <p:sp>
        <p:nvSpPr>
          <p:cNvPr id="4" name="Content Placeholder 3">
            <a:extLst>
              <a:ext uri="{FF2B5EF4-FFF2-40B4-BE49-F238E27FC236}">
                <a16:creationId xmlns:a16="http://schemas.microsoft.com/office/drawing/2014/main" id="{D29AD952-4B34-65C7-64DE-5886BFDE8D82}"/>
              </a:ext>
            </a:extLst>
          </p:cNvPr>
          <p:cNvSpPr>
            <a:spLocks noGrp="1"/>
          </p:cNvSpPr>
          <p:nvPr>
            <p:ph sz="quarter" idx="11"/>
          </p:nvPr>
        </p:nvSpPr>
        <p:spPr/>
        <p:txBody>
          <a:bodyPr>
            <a:normAutofit/>
          </a:bodyPr>
          <a:lstStyle/>
          <a:p>
            <a:pPr marL="285750" indent="-285750">
              <a:lnSpc>
                <a:spcPct val="90000"/>
              </a:lnSpc>
              <a:buFont typeface="Arial" panose="020B0604020202020204" pitchFamily="34" charset="0"/>
              <a:buChar char="•"/>
            </a:pPr>
            <a:r>
              <a:rPr lang="en-US" altLang="zh-CN" sz="2400" dirty="0">
                <a:latin typeface="Arial" panose="020B0604020202020204" pitchFamily="34" charset="0"/>
                <a:cs typeface="Arial" panose="020B0604020202020204" pitchFamily="34" charset="0"/>
              </a:rPr>
              <a:t>Solids: zircon cubes</a:t>
            </a:r>
          </a:p>
          <a:p>
            <a:pPr marL="742950" lvl="1" indent="-285750">
              <a:lnSpc>
                <a:spcPct val="90000"/>
              </a:lnSpc>
            </a:pPr>
            <a:r>
              <a:rPr lang="en-US" altLang="zh-CN" sz="2400" dirty="0">
                <a:latin typeface="Arial" panose="020B0604020202020204" pitchFamily="34" charset="0"/>
                <a:cs typeface="Arial" panose="020B0604020202020204" pitchFamily="34" charset="0"/>
              </a:rPr>
              <a:t>AFG α-dose 0.46 α/g * 10</a:t>
            </a:r>
            <a:r>
              <a:rPr lang="en-US" altLang="zh-CN" sz="2400" baseline="30000" dirty="0">
                <a:latin typeface="Arial" panose="020B0604020202020204" pitchFamily="34" charset="0"/>
                <a:cs typeface="Arial" panose="020B0604020202020204" pitchFamily="34" charset="0"/>
              </a:rPr>
              <a:t>18</a:t>
            </a:r>
          </a:p>
          <a:p>
            <a:pPr marL="742950" lvl="1" indent="-285750">
              <a:lnSpc>
                <a:spcPct val="90000"/>
              </a:lnSpc>
            </a:pPr>
            <a:r>
              <a:rPr lang="en-US" altLang="zh-CN" sz="2400" dirty="0">
                <a:latin typeface="Arial" panose="020B0604020202020204" pitchFamily="34" charset="0"/>
                <a:cs typeface="Arial" panose="020B0604020202020204" pitchFamily="34" charset="0"/>
              </a:rPr>
              <a:t>Norway α-dose 0.6 α/g * 10</a:t>
            </a:r>
            <a:r>
              <a:rPr lang="en-US" altLang="zh-CN" sz="2400" baseline="30000" dirty="0">
                <a:latin typeface="Arial" panose="020B0604020202020204" pitchFamily="34" charset="0"/>
                <a:cs typeface="Arial" panose="020B0604020202020204" pitchFamily="34" charset="0"/>
              </a:rPr>
              <a:t>18</a:t>
            </a:r>
            <a:endParaRPr lang="en-US" altLang="zh-CN" sz="2400" dirty="0">
              <a:latin typeface="Arial" panose="020B0604020202020204" pitchFamily="34" charset="0"/>
              <a:cs typeface="Arial" panose="020B0604020202020204" pitchFamily="34" charset="0"/>
            </a:endParaRPr>
          </a:p>
          <a:p>
            <a:pPr marL="285750" indent="-285750">
              <a:lnSpc>
                <a:spcPct val="90000"/>
              </a:lnSpc>
              <a:buFont typeface="Arial" panose="020B0604020202020204" pitchFamily="34" charset="0"/>
              <a:buChar char="•"/>
            </a:pPr>
            <a:r>
              <a:rPr lang="en-US" altLang="zh-CN" sz="2400" dirty="0">
                <a:latin typeface="Arial" panose="020B0604020202020204" pitchFamily="34" charset="0"/>
                <a:cs typeface="Arial" panose="020B0604020202020204" pitchFamily="34" charset="0"/>
              </a:rPr>
              <a:t>Fluid: USGS-49 </a:t>
            </a:r>
          </a:p>
          <a:p>
            <a:pPr marL="742950" lvl="1" indent="-285750">
              <a:lnSpc>
                <a:spcPct val="90000"/>
              </a:lnSpc>
            </a:pPr>
            <a:r>
              <a:rPr lang="el-GR" altLang="zh-CN" sz="2400" dirty="0">
                <a:latin typeface="Arial" panose="020B0604020202020204" pitchFamily="34" charset="0"/>
                <a:cs typeface="Arial" panose="020B0604020202020204" pitchFamily="34" charset="0"/>
              </a:rPr>
              <a:t>δ</a:t>
            </a:r>
            <a:r>
              <a:rPr lang="en-US" altLang="zh-CN" sz="2400" baseline="30000" dirty="0">
                <a:latin typeface="Arial" panose="020B0604020202020204" pitchFamily="34" charset="0"/>
                <a:cs typeface="Arial" panose="020B0604020202020204" pitchFamily="34" charset="0"/>
              </a:rPr>
              <a:t>18</a:t>
            </a:r>
            <a:r>
              <a:rPr lang="en-US" altLang="zh-CN" sz="2400" dirty="0">
                <a:latin typeface="Arial" panose="020B0604020202020204" pitchFamily="34" charset="0"/>
                <a:cs typeface="Arial" panose="020B0604020202020204" pitchFamily="34" charset="0"/>
              </a:rPr>
              <a:t>O = -55‰</a:t>
            </a:r>
          </a:p>
          <a:p>
            <a:pPr marL="285750" indent="-285750">
              <a:lnSpc>
                <a:spcPct val="90000"/>
              </a:lnSpc>
              <a:buFont typeface="Arial" panose="020B0604020202020204" pitchFamily="34" charset="0"/>
              <a:buChar char="•"/>
            </a:pPr>
            <a:r>
              <a:rPr lang="en-US" altLang="zh-CN" sz="2400" dirty="0">
                <a:latin typeface="Arial" panose="020B0604020202020204" pitchFamily="34" charset="0"/>
                <a:cs typeface="Arial" panose="020B0604020202020204" pitchFamily="34" charset="0"/>
              </a:rPr>
              <a:t>Solutes: </a:t>
            </a:r>
            <a:r>
              <a:rPr lang="en-US" altLang="zh-CN" sz="2400" baseline="30000" dirty="0">
                <a:latin typeface="Arial" panose="020B0604020202020204" pitchFamily="34" charset="0"/>
                <a:cs typeface="Arial" panose="020B0604020202020204" pitchFamily="34" charset="0"/>
              </a:rPr>
              <a:t>29</a:t>
            </a:r>
            <a:r>
              <a:rPr lang="en-US" altLang="zh-CN" sz="2400" dirty="0">
                <a:latin typeface="Arial" panose="020B0604020202020204" pitchFamily="34" charset="0"/>
                <a:cs typeface="Arial" panose="020B0604020202020204" pitchFamily="34" charset="0"/>
              </a:rPr>
              <a:t>SiO</a:t>
            </a:r>
            <a:r>
              <a:rPr lang="en-US" altLang="zh-CN" sz="2400" baseline="-25000" dirty="0">
                <a:latin typeface="Arial" panose="020B0604020202020204" pitchFamily="34" charset="0"/>
                <a:cs typeface="Arial" panose="020B0604020202020204" pitchFamily="34" charset="0"/>
              </a:rPr>
              <a:t>2</a:t>
            </a:r>
            <a:r>
              <a:rPr lang="en-US" altLang="zh-CN" sz="2400" dirty="0">
                <a:latin typeface="Arial" panose="020B0604020202020204" pitchFamily="34" charset="0"/>
                <a:cs typeface="Arial" panose="020B0604020202020204" pitchFamily="34" charset="0"/>
              </a:rPr>
              <a:t> ± </a:t>
            </a:r>
            <a:r>
              <a:rPr lang="en-US" altLang="zh-CN" sz="2400" dirty="0" err="1">
                <a:latin typeface="Arial" panose="020B0604020202020204" pitchFamily="34" charset="0"/>
                <a:cs typeface="Arial" panose="020B0604020202020204" pitchFamily="34" charset="0"/>
              </a:rPr>
              <a:t>NaF</a:t>
            </a:r>
            <a:endParaRPr lang="en-US" altLang="zh-CN" sz="2400" dirty="0">
              <a:latin typeface="Arial" panose="020B0604020202020204" pitchFamily="34" charset="0"/>
              <a:cs typeface="Arial" panose="020B0604020202020204" pitchFamily="34" charset="0"/>
            </a:endParaRPr>
          </a:p>
          <a:p>
            <a:endParaRPr lang="en-US" sz="2400" dirty="0"/>
          </a:p>
        </p:txBody>
      </p:sp>
      <p:pic>
        <p:nvPicPr>
          <p:cNvPr id="6" name="Picture 18">
            <a:extLst>
              <a:ext uri="{FF2B5EF4-FFF2-40B4-BE49-F238E27FC236}">
                <a16:creationId xmlns:a16="http://schemas.microsoft.com/office/drawing/2014/main" id="{7AF03F50-A52F-D242-DC7E-BEF2FA850304}"/>
              </a:ext>
            </a:extLst>
          </p:cNvPr>
          <p:cNvPicPr>
            <a:picLocks noGrp="1" noChangeAspect="1"/>
          </p:cNvPicPr>
          <p:nvPr>
            <p:ph sz="quarter" idx="12"/>
          </p:nvPr>
        </p:nvPicPr>
        <p:blipFill>
          <a:blip r:embed="rId2" cstate="print">
            <a:extLst>
              <a:ext uri="{28A0092B-C50C-407E-A947-70E740481C1C}">
                <a14:useLocalDpi xmlns:a14="http://schemas.microsoft.com/office/drawing/2010/main"/>
              </a:ext>
            </a:extLst>
          </a:blip>
          <a:srcRect/>
          <a:stretch/>
        </p:blipFill>
        <p:spPr>
          <a:xfrm>
            <a:off x="1468814" y="2057401"/>
            <a:ext cx="4479711" cy="3882414"/>
          </a:xfrm>
          <a:prstGeom prst="rect">
            <a:avLst/>
          </a:prstGeom>
        </p:spPr>
      </p:pic>
    </p:spTree>
    <p:extLst>
      <p:ext uri="{BB962C8B-B14F-4D97-AF65-F5344CB8AC3E}">
        <p14:creationId xmlns:p14="http://schemas.microsoft.com/office/powerpoint/2010/main" val="8019490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Content Placeholder 15">
            <a:extLst>
              <a:ext uri="{FF2B5EF4-FFF2-40B4-BE49-F238E27FC236}">
                <a16:creationId xmlns:a16="http://schemas.microsoft.com/office/drawing/2014/main" id="{5CA06DE6-F46F-8BBA-163E-B2D69DAA9488}"/>
              </a:ext>
            </a:extLst>
          </p:cNvPr>
          <p:cNvSpPr>
            <a:spLocks noGrp="1"/>
          </p:cNvSpPr>
          <p:nvPr>
            <p:ph sz="half" idx="2"/>
          </p:nvPr>
        </p:nvSpPr>
        <p:spPr>
          <a:xfrm>
            <a:off x="0" y="42191"/>
            <a:ext cx="12191999" cy="1511004"/>
          </a:xfrm>
        </p:spPr>
        <p:txBody>
          <a:bodyPr>
            <a:noAutofit/>
          </a:bodyPr>
          <a:lstStyle/>
          <a:p>
            <a:pPr marL="0" marR="0" lvl="0" indent="0" algn="ctr" defTabSz="914400" rtl="0" eaLnBrk="1" fontAlgn="auto" latinLnBrk="0" hangingPunct="1">
              <a:lnSpc>
                <a:spcPct val="100000"/>
              </a:lnSpc>
              <a:spcBef>
                <a:spcPts val="0"/>
              </a:spcBef>
              <a:spcAft>
                <a:spcPts val="0"/>
              </a:spcAft>
              <a:buClrTx/>
              <a:buSzTx/>
              <a:buNone/>
              <a:tabLst/>
              <a:defRPr/>
            </a:pPr>
            <a:r>
              <a:rPr kumimoji="0" lang="en-US" sz="3200" b="1" i="0" u="none" strike="noStrike" kern="1200" cap="none" spc="0" normalizeH="0" baseline="0" noProof="0">
                <a:ln>
                  <a:noFill/>
                </a:ln>
                <a:solidFill>
                  <a:prstClr val="black"/>
                </a:solidFill>
                <a:effectLst/>
                <a:uLnTx/>
                <a:uFillTx/>
                <a:latin typeface="Arial" panose="020B0604020202020204" pitchFamily="34" charset="0"/>
                <a:ea typeface="Baskerville" panose="02020502070401020303" pitchFamily="18" charset="0"/>
                <a:cs typeface="Arial" panose="020B0604020202020204" pitchFamily="34" charset="0"/>
              </a:rPr>
              <a:t>Double Capsule Cold Seal Pressure Vessel Experiments</a:t>
            </a:r>
          </a:p>
        </p:txBody>
      </p:sp>
      <p:pic>
        <p:nvPicPr>
          <p:cNvPr id="21" name="图片 20" descr="图片包含 室内, 桌子, 不同, 旧&#10;&#10;AI 生成的内容可能不正确。">
            <a:extLst>
              <a:ext uri="{FF2B5EF4-FFF2-40B4-BE49-F238E27FC236}">
                <a16:creationId xmlns:a16="http://schemas.microsoft.com/office/drawing/2014/main" id="{126CC611-3A13-6D9F-A04C-3EA8233978E9}"/>
              </a:ext>
            </a:extLst>
          </p:cNvPr>
          <p:cNvPicPr>
            <a:picLocks noChangeAspect="1"/>
          </p:cNvPicPr>
          <p:nvPr/>
        </p:nvPicPr>
        <p:blipFill>
          <a:blip r:embed="rId3" cstate="print">
            <a:extLst>
              <a:ext uri="{28A0092B-C50C-407E-A947-70E740481C1C}">
                <a14:useLocalDpi xmlns:a14="http://schemas.microsoft.com/office/drawing/2010/main"/>
              </a:ext>
            </a:extLst>
          </a:blip>
          <a:srcRect/>
          <a:stretch/>
        </p:blipFill>
        <p:spPr>
          <a:xfrm rot="5400000">
            <a:off x="296533" y="2842404"/>
            <a:ext cx="4116808" cy="3077652"/>
          </a:xfrm>
          <a:prstGeom prst="rect">
            <a:avLst/>
          </a:prstGeom>
        </p:spPr>
      </p:pic>
      <p:pic>
        <p:nvPicPr>
          <p:cNvPr id="27" name="图片 26" descr="图片包含 建筑, 挂, 游戏机, 站&#10;&#10;AI 生成的内容可能不正确。">
            <a:extLst>
              <a:ext uri="{FF2B5EF4-FFF2-40B4-BE49-F238E27FC236}">
                <a16:creationId xmlns:a16="http://schemas.microsoft.com/office/drawing/2014/main" id="{D1DA02CD-88D0-974D-D3CE-82E6A353959B}"/>
              </a:ext>
            </a:extLst>
          </p:cNvPr>
          <p:cNvPicPr>
            <a:picLocks noChangeAspect="1"/>
          </p:cNvPicPr>
          <p:nvPr/>
        </p:nvPicPr>
        <p:blipFill>
          <a:blip r:embed="rId4" cstate="print">
            <a:extLst>
              <a:ext uri="{28A0092B-C50C-407E-A947-70E740481C1C}">
                <a14:useLocalDpi xmlns:a14="http://schemas.microsoft.com/office/drawing/2010/main"/>
              </a:ext>
            </a:extLst>
          </a:blip>
          <a:srcRect/>
          <a:stretch>
            <a:fillRect/>
          </a:stretch>
        </p:blipFill>
        <p:spPr>
          <a:xfrm rot="10800000">
            <a:off x="816112" y="964049"/>
            <a:ext cx="3035484" cy="1178291"/>
          </a:xfrm>
          <a:prstGeom prst="rect">
            <a:avLst/>
          </a:prstGeom>
        </p:spPr>
      </p:pic>
      <p:pic>
        <p:nvPicPr>
          <p:cNvPr id="8" name="图片 3" descr="图片包含 应用程序&#10;&#10;AI 生成的内容可能不正确。">
            <a:extLst>
              <a:ext uri="{FF2B5EF4-FFF2-40B4-BE49-F238E27FC236}">
                <a16:creationId xmlns:a16="http://schemas.microsoft.com/office/drawing/2014/main" id="{0BE38B31-6B4E-C1F7-BBC0-D7DD8BBD8C1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907855" y="1674591"/>
            <a:ext cx="3680282" cy="4622241"/>
          </a:xfrm>
          <a:prstGeom prst="rect">
            <a:avLst/>
          </a:prstGeom>
        </p:spPr>
      </p:pic>
    </p:spTree>
    <p:extLst>
      <p:ext uri="{BB962C8B-B14F-4D97-AF65-F5344CB8AC3E}">
        <p14:creationId xmlns:p14="http://schemas.microsoft.com/office/powerpoint/2010/main" val="4852796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Content Placeholder 3">
            <a:extLst>
              <a:ext uri="{FF2B5EF4-FFF2-40B4-BE49-F238E27FC236}">
                <a16:creationId xmlns:a16="http://schemas.microsoft.com/office/drawing/2014/main" id="{274F952D-B324-2AA2-4730-AB0E600AE472}"/>
              </a:ext>
            </a:extLst>
          </p:cNvPr>
          <p:cNvGraphicFramePr>
            <a:graphicFrameLocks/>
          </p:cNvGraphicFramePr>
          <p:nvPr>
            <p:extLst>
              <p:ext uri="{D42A27DB-BD31-4B8C-83A1-F6EECF244321}">
                <p14:modId xmlns:p14="http://schemas.microsoft.com/office/powerpoint/2010/main" val="2251358977"/>
              </p:ext>
            </p:extLst>
          </p:nvPr>
        </p:nvGraphicFramePr>
        <p:xfrm>
          <a:off x="1269278" y="1690688"/>
          <a:ext cx="9653444" cy="3963263"/>
        </p:xfrm>
        <a:graphic>
          <a:graphicData uri="http://schemas.openxmlformats.org/drawingml/2006/table">
            <a:tbl>
              <a:tblPr firstRow="1" bandRow="1">
                <a:tableStyleId>{5C22544A-7EE6-4342-B048-85BDC9FD1C3A}</a:tableStyleId>
              </a:tblPr>
              <a:tblGrid>
                <a:gridCol w="1286339">
                  <a:extLst>
                    <a:ext uri="{9D8B030D-6E8A-4147-A177-3AD203B41FA5}">
                      <a16:colId xmlns:a16="http://schemas.microsoft.com/office/drawing/2014/main" val="354251203"/>
                    </a:ext>
                  </a:extLst>
                </a:gridCol>
                <a:gridCol w="1466050">
                  <a:extLst>
                    <a:ext uri="{9D8B030D-6E8A-4147-A177-3AD203B41FA5}">
                      <a16:colId xmlns:a16="http://schemas.microsoft.com/office/drawing/2014/main" val="3552428360"/>
                    </a:ext>
                  </a:extLst>
                </a:gridCol>
                <a:gridCol w="934600">
                  <a:extLst>
                    <a:ext uri="{9D8B030D-6E8A-4147-A177-3AD203B41FA5}">
                      <a16:colId xmlns:a16="http://schemas.microsoft.com/office/drawing/2014/main" val="1144217790"/>
                    </a:ext>
                  </a:extLst>
                </a:gridCol>
                <a:gridCol w="1168886">
                  <a:extLst>
                    <a:ext uri="{9D8B030D-6E8A-4147-A177-3AD203B41FA5}">
                      <a16:colId xmlns:a16="http://schemas.microsoft.com/office/drawing/2014/main" val="2410755948"/>
                    </a:ext>
                  </a:extLst>
                </a:gridCol>
                <a:gridCol w="2792375">
                  <a:extLst>
                    <a:ext uri="{9D8B030D-6E8A-4147-A177-3AD203B41FA5}">
                      <a16:colId xmlns:a16="http://schemas.microsoft.com/office/drawing/2014/main" val="1188631201"/>
                    </a:ext>
                  </a:extLst>
                </a:gridCol>
                <a:gridCol w="2005194">
                  <a:extLst>
                    <a:ext uri="{9D8B030D-6E8A-4147-A177-3AD203B41FA5}">
                      <a16:colId xmlns:a16="http://schemas.microsoft.com/office/drawing/2014/main" val="3318582525"/>
                    </a:ext>
                  </a:extLst>
                </a:gridCol>
              </a:tblGrid>
              <a:tr h="902327">
                <a:tc>
                  <a:txBody>
                    <a:bodyPr/>
                    <a:lstStyle/>
                    <a:p>
                      <a:pPr algn="ctr" fontAlgn="ctr"/>
                      <a:r>
                        <a:rPr lang="en-US" sz="1600" u="none" strike="noStrike">
                          <a:effectLst/>
                          <a:latin typeface="Times New Roman" panose="02020603050405020304" pitchFamily="18" charset="0"/>
                          <a:cs typeface="Times New Roman" panose="02020603050405020304" pitchFamily="18" charset="0"/>
                        </a:rPr>
                        <a:t>Experiment</a:t>
                      </a:r>
                      <a:endParaRPr lang="en-US" sz="1600" b="1"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ctr" fontAlgn="ctr"/>
                      <a:r>
                        <a:rPr lang="en-US" sz="1800" u="none" strike="noStrike">
                          <a:effectLst/>
                          <a:latin typeface="Times New Roman" panose="02020603050405020304" pitchFamily="18" charset="0"/>
                          <a:cs typeface="Times New Roman" panose="02020603050405020304" pitchFamily="18" charset="0"/>
                        </a:rPr>
                        <a:t>Run Time (d)</a:t>
                      </a:r>
                      <a:endParaRPr lang="en-US" sz="1800" b="1"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ctr" fontAlgn="ctr"/>
                      <a:r>
                        <a:rPr lang="en-US" sz="1800" u="none" strike="noStrike">
                          <a:effectLst/>
                          <a:latin typeface="Times New Roman" panose="02020603050405020304" pitchFamily="18" charset="0"/>
                          <a:cs typeface="Times New Roman" panose="02020603050405020304" pitchFamily="18" charset="0"/>
                        </a:rPr>
                        <a:t>T (ºC)</a:t>
                      </a:r>
                      <a:endParaRPr lang="en-US" sz="1800" b="1"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ctr" fontAlgn="ctr"/>
                      <a:r>
                        <a:rPr lang="en-US" sz="1800" u="none" strike="noStrike">
                          <a:effectLst/>
                          <a:latin typeface="Times New Roman" panose="02020603050405020304" pitchFamily="18" charset="0"/>
                          <a:cs typeface="Times New Roman" panose="02020603050405020304" pitchFamily="18" charset="0"/>
                        </a:rPr>
                        <a:t>P (GPa)</a:t>
                      </a:r>
                      <a:endParaRPr lang="en-US" sz="1800" b="1"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ctr" fontAlgn="ctr"/>
                      <a:r>
                        <a:rPr lang="en-US" sz="1800" u="none" strike="noStrike">
                          <a:effectLst/>
                          <a:latin typeface="Times New Roman" panose="02020603050405020304" pitchFamily="18" charset="0"/>
                          <a:cs typeface="Times New Roman" panose="02020603050405020304" pitchFamily="18" charset="0"/>
                        </a:rPr>
                        <a:t>Starting material</a:t>
                      </a:r>
                      <a:endParaRPr lang="en-US" sz="1800" b="1"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ctr" fontAlgn="ctr"/>
                      <a:r>
                        <a:rPr lang="en-US" sz="1600" u="none" strike="noStrike">
                          <a:effectLst/>
                          <a:latin typeface="Times New Roman" panose="02020603050405020304" pitchFamily="18" charset="0"/>
                          <a:cs typeface="Times New Roman" panose="02020603050405020304" pitchFamily="18" charset="0"/>
                        </a:rPr>
                        <a:t>Recrystallize?</a:t>
                      </a:r>
                      <a:endParaRPr lang="en-US" sz="1600" b="1"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extLst>
                  <a:ext uri="{0D108BD9-81ED-4DB2-BD59-A6C34878D82A}">
                    <a16:rowId xmlns:a16="http://schemas.microsoft.com/office/drawing/2014/main" val="2515737430"/>
                  </a:ext>
                </a:extLst>
              </a:tr>
              <a:tr h="382617">
                <a:tc>
                  <a:txBody>
                    <a:bodyPr/>
                    <a:lstStyle/>
                    <a:p>
                      <a:pPr marL="0" algn="ctr" defTabSz="914400" rtl="0" eaLnBrk="1" fontAlgn="ctr" latinLnBrk="0" hangingPunct="1"/>
                      <a:r>
                        <a:rPr lang="en-US" sz="1600" u="none" strike="noStrike" kern="1200">
                          <a:solidFill>
                            <a:schemeClr val="dk1"/>
                          </a:solidFill>
                          <a:effectLst/>
                          <a:latin typeface="Times New Roman" panose="02020603050405020304" pitchFamily="18" charset="0"/>
                          <a:ea typeface="+mn-ea"/>
                          <a:cs typeface="Times New Roman" panose="02020603050405020304" pitchFamily="18" charset="0"/>
                        </a:rPr>
                        <a:t>Z_005</a:t>
                      </a:r>
                    </a:p>
                  </a:txBody>
                  <a:tcPr marL="9525" marR="9525" marT="9525" marB="0" anchor="ctr"/>
                </a:tc>
                <a:tc>
                  <a:txBody>
                    <a:bodyPr/>
                    <a:lstStyle/>
                    <a:p>
                      <a:pPr marL="0" algn="ctr" defTabSz="914400" rtl="0" eaLnBrk="1" fontAlgn="ctr" latinLnBrk="0" hangingPunct="1"/>
                      <a:r>
                        <a:rPr lang="en-US" sz="1600" u="none" strike="noStrike" kern="1200">
                          <a:solidFill>
                            <a:schemeClr val="dk1"/>
                          </a:solidFill>
                          <a:effectLst/>
                          <a:latin typeface="Times New Roman" panose="02020603050405020304" pitchFamily="18" charset="0"/>
                          <a:ea typeface="+mn-ea"/>
                          <a:cs typeface="Times New Roman" panose="02020603050405020304" pitchFamily="18" charset="0"/>
                        </a:rPr>
                        <a:t>0.5</a:t>
                      </a:r>
                    </a:p>
                  </a:txBody>
                  <a:tcPr marL="9525" marR="9525" marT="9525" marB="0" anchor="ctr"/>
                </a:tc>
                <a:tc>
                  <a:txBody>
                    <a:bodyPr/>
                    <a:lstStyle/>
                    <a:p>
                      <a:pPr marL="0" algn="ctr" defTabSz="914400" rtl="0" eaLnBrk="1" fontAlgn="ctr" latinLnBrk="0" hangingPunct="1"/>
                      <a:r>
                        <a:rPr lang="en-US" sz="1600" u="none" strike="noStrike" kern="1200">
                          <a:solidFill>
                            <a:schemeClr val="dk1"/>
                          </a:solidFill>
                          <a:effectLst/>
                          <a:latin typeface="Times New Roman" panose="02020603050405020304" pitchFamily="18" charset="0"/>
                          <a:ea typeface="+mn-ea"/>
                          <a:cs typeface="Times New Roman" panose="02020603050405020304" pitchFamily="18" charset="0"/>
                        </a:rPr>
                        <a:t>110</a:t>
                      </a:r>
                    </a:p>
                  </a:txBody>
                  <a:tcPr marL="9525" marR="9525" marT="9525" marB="0" anchor="ctr"/>
                </a:tc>
                <a:tc>
                  <a:txBody>
                    <a:bodyPr/>
                    <a:lstStyle/>
                    <a:p>
                      <a:pPr marL="0" algn="ctr" defTabSz="914400" rtl="0" eaLnBrk="1" fontAlgn="ctr" latinLnBrk="0" hangingPunct="1"/>
                      <a:r>
                        <a:rPr lang="en-US" sz="1600" u="none" strike="noStrike" kern="1200">
                          <a:solidFill>
                            <a:schemeClr val="dk1"/>
                          </a:solidFill>
                          <a:effectLst/>
                          <a:latin typeface="Times New Roman" panose="02020603050405020304" pitchFamily="18" charset="0"/>
                          <a:ea typeface="+mn-ea"/>
                          <a:cs typeface="Times New Roman" panose="02020603050405020304" pitchFamily="18" charset="0"/>
                        </a:rPr>
                        <a:t>1 atm</a:t>
                      </a:r>
                    </a:p>
                  </a:txBody>
                  <a:tcPr marL="9525" marR="9525" marT="9525" marB="0" anchor="ctr"/>
                </a:tc>
                <a:tc>
                  <a:txBody>
                    <a:bodyPr/>
                    <a:lstStyle/>
                    <a:p>
                      <a:pPr marL="0" algn="ctr" defTabSz="914400" rtl="0" eaLnBrk="1" fontAlgn="ctr" latinLnBrk="0" hangingPunct="1"/>
                      <a:r>
                        <a:rPr lang="en-US" sz="1600" u="none" strike="noStrike" kern="1200">
                          <a:solidFill>
                            <a:schemeClr val="dk1"/>
                          </a:solidFill>
                          <a:effectLst/>
                          <a:latin typeface="Times New Roman" panose="02020603050405020304" pitchFamily="18" charset="0"/>
                          <a:ea typeface="+mn-ea"/>
                          <a:cs typeface="Times New Roman" panose="02020603050405020304" pitchFamily="18" charset="0"/>
                        </a:rPr>
                        <a:t>AFG cubes + 0.5m NaF</a:t>
                      </a:r>
                    </a:p>
                  </a:txBody>
                  <a:tcPr marL="9525" marR="9525" marT="9525" marB="0" anchor="ctr"/>
                </a:tc>
                <a:tc>
                  <a:txBody>
                    <a:bodyPr/>
                    <a:lstStyle/>
                    <a:p>
                      <a:pPr marL="0" algn="ctr" defTabSz="914400" rtl="0" eaLnBrk="1" fontAlgn="ctr" latinLnBrk="0" hangingPunct="1"/>
                      <a:r>
                        <a:rPr lang="en-US" sz="1600" u="none" strike="noStrike" kern="1200">
                          <a:solidFill>
                            <a:schemeClr val="dk1"/>
                          </a:solidFill>
                          <a:effectLst/>
                          <a:latin typeface="Times New Roman" panose="02020603050405020304" pitchFamily="18" charset="0"/>
                          <a:ea typeface="+mn-ea"/>
                          <a:cs typeface="Times New Roman" panose="02020603050405020304" pitchFamily="18" charset="0"/>
                        </a:rPr>
                        <a:t>No</a:t>
                      </a:r>
                    </a:p>
                  </a:txBody>
                  <a:tcPr marL="9525" marR="9525" marT="9525" marB="0" anchor="ctr"/>
                </a:tc>
                <a:extLst>
                  <a:ext uri="{0D108BD9-81ED-4DB2-BD59-A6C34878D82A}">
                    <a16:rowId xmlns:a16="http://schemas.microsoft.com/office/drawing/2014/main" val="3649473884"/>
                  </a:ext>
                </a:extLst>
              </a:tr>
              <a:tr h="382617">
                <a:tc>
                  <a:txBody>
                    <a:bodyPr/>
                    <a:lstStyle/>
                    <a:p>
                      <a:pPr marL="0" algn="ctr" defTabSz="914400" rtl="0" eaLnBrk="1" fontAlgn="ctr" latinLnBrk="0" hangingPunct="1"/>
                      <a:r>
                        <a:rPr lang="en-US" sz="1600" u="none" strike="noStrike" kern="1200">
                          <a:solidFill>
                            <a:schemeClr val="dk1"/>
                          </a:solidFill>
                          <a:effectLst/>
                          <a:latin typeface="Times New Roman" panose="02020603050405020304" pitchFamily="18" charset="0"/>
                          <a:ea typeface="+mn-ea"/>
                          <a:cs typeface="Times New Roman" panose="02020603050405020304" pitchFamily="18" charset="0"/>
                        </a:rPr>
                        <a:t>Z_006</a:t>
                      </a:r>
                    </a:p>
                  </a:txBody>
                  <a:tcPr marL="9525" marR="9525" marT="9525" marB="0" anchor="ctr"/>
                </a:tc>
                <a:tc>
                  <a:txBody>
                    <a:bodyPr/>
                    <a:lstStyle/>
                    <a:p>
                      <a:pPr marL="0" algn="ctr" defTabSz="914400" rtl="0" eaLnBrk="1" fontAlgn="ctr" latinLnBrk="0" hangingPunct="1"/>
                      <a:r>
                        <a:rPr lang="en-US" sz="1600" u="none" strike="noStrike" kern="1200">
                          <a:solidFill>
                            <a:schemeClr val="dk1"/>
                          </a:solidFill>
                          <a:effectLst/>
                          <a:latin typeface="Times New Roman" panose="02020603050405020304" pitchFamily="18" charset="0"/>
                          <a:ea typeface="+mn-ea"/>
                          <a:cs typeface="Times New Roman" panose="02020603050405020304" pitchFamily="18" charset="0"/>
                        </a:rPr>
                        <a:t>0.042</a:t>
                      </a:r>
                    </a:p>
                  </a:txBody>
                  <a:tcPr marL="9525" marR="9525" marT="9525" marB="0" anchor="ctr"/>
                </a:tc>
                <a:tc>
                  <a:txBody>
                    <a:bodyPr/>
                    <a:lstStyle/>
                    <a:p>
                      <a:pPr marL="0" algn="ctr" defTabSz="914400" rtl="0" eaLnBrk="1" fontAlgn="ctr" latinLnBrk="0" hangingPunct="1"/>
                      <a:r>
                        <a:rPr lang="en-US" sz="1600" u="none" strike="noStrike" kern="1200">
                          <a:solidFill>
                            <a:schemeClr val="dk1"/>
                          </a:solidFill>
                          <a:effectLst/>
                          <a:latin typeface="Times New Roman" panose="02020603050405020304" pitchFamily="18" charset="0"/>
                          <a:ea typeface="+mn-ea"/>
                          <a:cs typeface="Times New Roman" panose="02020603050405020304" pitchFamily="18" charset="0"/>
                        </a:rPr>
                        <a:t>600</a:t>
                      </a:r>
                    </a:p>
                  </a:txBody>
                  <a:tcPr marL="9525" marR="9525" marT="9525" marB="0" anchor="ctr"/>
                </a:tc>
                <a:tc>
                  <a:txBody>
                    <a:bodyPr/>
                    <a:lstStyle/>
                    <a:p>
                      <a:pPr marL="0" algn="ctr" defTabSz="914400" rtl="0" eaLnBrk="1" fontAlgn="ctr" latinLnBrk="0" hangingPunct="1"/>
                      <a:r>
                        <a:rPr lang="en-US" sz="1600" u="none" strike="noStrike" kern="1200">
                          <a:solidFill>
                            <a:schemeClr val="dk1"/>
                          </a:solidFill>
                          <a:effectLst/>
                          <a:latin typeface="Times New Roman" panose="02020603050405020304" pitchFamily="18" charset="0"/>
                          <a:ea typeface="+mn-ea"/>
                          <a:cs typeface="Times New Roman" panose="02020603050405020304" pitchFamily="18" charset="0"/>
                        </a:rPr>
                        <a:t>0.2</a:t>
                      </a:r>
                    </a:p>
                  </a:txBody>
                  <a:tcPr marL="9525" marR="9525" marT="9525" marB="0" anchor="ctr"/>
                </a:tc>
                <a:tc>
                  <a:txBody>
                    <a:bodyPr/>
                    <a:lstStyle/>
                    <a:p>
                      <a:pPr marL="0" algn="ctr" defTabSz="914400" rtl="0" eaLnBrk="1" fontAlgn="ctr" latinLnBrk="0" hangingPunct="1"/>
                      <a:r>
                        <a:rPr lang="en-US" sz="1600" u="none" strike="noStrike" kern="1200">
                          <a:solidFill>
                            <a:schemeClr val="dk1"/>
                          </a:solidFill>
                          <a:effectLst/>
                          <a:latin typeface="Times New Roman" panose="02020603050405020304" pitchFamily="18" charset="0"/>
                          <a:ea typeface="+mn-ea"/>
                          <a:cs typeface="Times New Roman" panose="02020603050405020304" pitchFamily="18" charset="0"/>
                        </a:rPr>
                        <a:t>AFG cubes + 0.5m </a:t>
                      </a:r>
                      <a:r>
                        <a:rPr lang="en-US" sz="1600" u="none" strike="noStrike" kern="1200" err="1">
                          <a:solidFill>
                            <a:schemeClr val="dk1"/>
                          </a:solidFill>
                          <a:effectLst/>
                          <a:latin typeface="Times New Roman" panose="02020603050405020304" pitchFamily="18" charset="0"/>
                          <a:ea typeface="+mn-ea"/>
                          <a:cs typeface="Times New Roman" panose="02020603050405020304" pitchFamily="18" charset="0"/>
                        </a:rPr>
                        <a:t>NaF</a:t>
                      </a:r>
                      <a:endParaRPr lang="en-US" sz="1600" u="none" strike="noStrike" kern="1200">
                        <a:solidFill>
                          <a:schemeClr val="dk1"/>
                        </a:solidFill>
                        <a:effectLst/>
                        <a:latin typeface="Times New Roman" panose="02020603050405020304" pitchFamily="18" charset="0"/>
                        <a:ea typeface="+mn-ea"/>
                        <a:cs typeface="Times New Roman" panose="02020603050405020304" pitchFamily="18" charset="0"/>
                      </a:endParaRPr>
                    </a:p>
                  </a:txBody>
                  <a:tcPr marL="9525" marR="9525" marT="9525" marB="0" anchor="ctr"/>
                </a:tc>
                <a:tc>
                  <a:txBody>
                    <a:bodyPr/>
                    <a:lstStyle/>
                    <a:p>
                      <a:pPr marL="0" algn="ctr" defTabSz="914400" rtl="0" eaLnBrk="1" fontAlgn="ctr" latinLnBrk="0" hangingPunct="1"/>
                      <a:r>
                        <a:rPr lang="en-US" sz="1600" u="none" strike="noStrike" kern="1200" dirty="0">
                          <a:solidFill>
                            <a:schemeClr val="dk1"/>
                          </a:solidFill>
                          <a:effectLst/>
                          <a:latin typeface="Times New Roman" panose="02020603050405020304" pitchFamily="18" charset="0"/>
                          <a:ea typeface="+mn-ea"/>
                          <a:cs typeface="Times New Roman" panose="02020603050405020304" pitchFamily="18" charset="0"/>
                        </a:rPr>
                        <a:t>No</a:t>
                      </a:r>
                    </a:p>
                  </a:txBody>
                  <a:tcPr marL="9525" marR="9525" marT="9525" marB="0" anchor="ctr"/>
                </a:tc>
                <a:extLst>
                  <a:ext uri="{0D108BD9-81ED-4DB2-BD59-A6C34878D82A}">
                    <a16:rowId xmlns:a16="http://schemas.microsoft.com/office/drawing/2014/main" val="2051581651"/>
                  </a:ext>
                </a:extLst>
              </a:tr>
              <a:tr h="382617">
                <a:tc>
                  <a:txBody>
                    <a:bodyPr/>
                    <a:lstStyle/>
                    <a:p>
                      <a:pPr marL="0" algn="ctr" defTabSz="914400" rtl="0" eaLnBrk="1" fontAlgn="ctr" latinLnBrk="0" hangingPunct="1"/>
                      <a:r>
                        <a:rPr lang="en-US" sz="1600" b="1" u="none" strike="noStrike" kern="1200">
                          <a:solidFill>
                            <a:schemeClr val="tx1"/>
                          </a:solidFill>
                          <a:effectLst/>
                          <a:latin typeface="Times New Roman" panose="02020603050405020304" pitchFamily="18" charset="0"/>
                          <a:ea typeface="+mn-ea"/>
                          <a:cs typeface="Times New Roman" panose="02020603050405020304" pitchFamily="18" charset="0"/>
                        </a:rPr>
                        <a:t>Z_007</a:t>
                      </a:r>
                    </a:p>
                  </a:txBody>
                  <a:tcPr marL="9525" marR="9525" marT="9525" marB="0" anchor="ctr"/>
                </a:tc>
                <a:tc>
                  <a:txBody>
                    <a:bodyPr/>
                    <a:lstStyle/>
                    <a:p>
                      <a:pPr marL="0" algn="ctr" defTabSz="914400" rtl="0" eaLnBrk="1" fontAlgn="ctr" latinLnBrk="0" hangingPunct="1"/>
                      <a:r>
                        <a:rPr lang="en-US" sz="1600" b="1" u="none" strike="noStrike" kern="1200">
                          <a:solidFill>
                            <a:schemeClr val="tx1"/>
                          </a:solidFill>
                          <a:effectLst/>
                          <a:latin typeface="Times New Roman" panose="02020603050405020304" pitchFamily="18" charset="0"/>
                          <a:ea typeface="+mn-ea"/>
                          <a:cs typeface="Times New Roman" panose="02020603050405020304" pitchFamily="18" charset="0"/>
                        </a:rPr>
                        <a:t>0.33</a:t>
                      </a:r>
                    </a:p>
                  </a:txBody>
                  <a:tcPr marL="9525" marR="9525" marT="9525" marB="0" anchor="ctr"/>
                </a:tc>
                <a:tc>
                  <a:txBody>
                    <a:bodyPr/>
                    <a:lstStyle/>
                    <a:p>
                      <a:pPr marL="0" algn="ctr" defTabSz="914400" rtl="0" eaLnBrk="1" fontAlgn="ctr" latinLnBrk="0" hangingPunct="1"/>
                      <a:r>
                        <a:rPr lang="en-US" sz="1600" b="1" u="none" strike="noStrike" kern="1200">
                          <a:solidFill>
                            <a:schemeClr val="tx1"/>
                          </a:solidFill>
                          <a:effectLst/>
                          <a:latin typeface="Times New Roman" panose="02020603050405020304" pitchFamily="18" charset="0"/>
                          <a:ea typeface="+mn-ea"/>
                          <a:cs typeface="Times New Roman" panose="02020603050405020304" pitchFamily="18" charset="0"/>
                        </a:rPr>
                        <a:t>600</a:t>
                      </a:r>
                    </a:p>
                  </a:txBody>
                  <a:tcPr marL="9525" marR="9525" marT="9525" marB="0" anchor="ctr"/>
                </a:tc>
                <a:tc>
                  <a:txBody>
                    <a:bodyPr/>
                    <a:lstStyle/>
                    <a:p>
                      <a:pPr marL="0" algn="ctr" defTabSz="914400" rtl="0" eaLnBrk="1" fontAlgn="ctr" latinLnBrk="0" hangingPunct="1"/>
                      <a:r>
                        <a:rPr lang="en-US" sz="1600" b="1" u="none" strike="noStrike" kern="1200">
                          <a:solidFill>
                            <a:schemeClr val="tx1"/>
                          </a:solidFill>
                          <a:effectLst/>
                          <a:latin typeface="Times New Roman" panose="02020603050405020304" pitchFamily="18" charset="0"/>
                          <a:ea typeface="+mn-ea"/>
                          <a:cs typeface="Times New Roman" panose="02020603050405020304" pitchFamily="18" charset="0"/>
                        </a:rPr>
                        <a:t>0.2</a:t>
                      </a:r>
                    </a:p>
                  </a:txBody>
                  <a:tcPr marL="9525" marR="9525" marT="9525" marB="0" anchor="ctr"/>
                </a:tc>
                <a:tc>
                  <a:txBody>
                    <a:bodyPr/>
                    <a:lstStyle/>
                    <a:p>
                      <a:pPr marL="0" algn="ctr" defTabSz="914400" rtl="0" eaLnBrk="1" fontAlgn="ctr" latinLnBrk="0" hangingPunct="1"/>
                      <a:r>
                        <a:rPr lang="en-US" sz="1600" b="1" u="none" strike="noStrike" kern="1200">
                          <a:solidFill>
                            <a:schemeClr val="tx1"/>
                          </a:solidFill>
                          <a:effectLst/>
                          <a:latin typeface="Times New Roman" panose="02020603050405020304" pitchFamily="18" charset="0"/>
                          <a:ea typeface="+mn-ea"/>
                          <a:cs typeface="Times New Roman" panose="02020603050405020304" pitchFamily="18" charset="0"/>
                        </a:rPr>
                        <a:t>AFG cubes + 0.5m </a:t>
                      </a:r>
                      <a:r>
                        <a:rPr lang="en-US" sz="1600" b="1" u="none" strike="noStrike" kern="1200" err="1">
                          <a:solidFill>
                            <a:schemeClr val="tx1"/>
                          </a:solidFill>
                          <a:effectLst/>
                          <a:latin typeface="Times New Roman" panose="02020603050405020304" pitchFamily="18" charset="0"/>
                          <a:ea typeface="+mn-ea"/>
                          <a:cs typeface="Times New Roman" panose="02020603050405020304" pitchFamily="18" charset="0"/>
                        </a:rPr>
                        <a:t>NaF</a:t>
                      </a:r>
                      <a:endParaRPr lang="en-US" sz="1600" b="1" u="none" strike="noStrike" kern="1200">
                        <a:solidFill>
                          <a:schemeClr val="tx1"/>
                        </a:solidFill>
                        <a:effectLst/>
                        <a:latin typeface="Times New Roman" panose="02020603050405020304" pitchFamily="18" charset="0"/>
                        <a:ea typeface="+mn-ea"/>
                        <a:cs typeface="Times New Roman" panose="02020603050405020304" pitchFamily="18" charset="0"/>
                      </a:endParaRPr>
                    </a:p>
                  </a:txBody>
                  <a:tcPr marL="9525" marR="9525" marT="9525" marB="0" anchor="ctr"/>
                </a:tc>
                <a:tc>
                  <a:txBody>
                    <a:bodyPr/>
                    <a:lstStyle/>
                    <a:p>
                      <a:pPr marL="0" algn="ctr" defTabSz="914400" rtl="0" eaLnBrk="1" fontAlgn="ctr" latinLnBrk="0" hangingPunct="1"/>
                      <a:r>
                        <a:rPr lang="en-US" sz="1600" b="1" u="none" strike="noStrike" kern="1200">
                          <a:solidFill>
                            <a:schemeClr val="tx1"/>
                          </a:solidFill>
                          <a:effectLst/>
                          <a:latin typeface="Times New Roman" panose="02020603050405020304" pitchFamily="18" charset="0"/>
                          <a:ea typeface="+mn-ea"/>
                          <a:cs typeface="Times New Roman" panose="02020603050405020304" pitchFamily="18" charset="0"/>
                        </a:rPr>
                        <a:t>Yes</a:t>
                      </a:r>
                    </a:p>
                  </a:txBody>
                  <a:tcPr marL="9525" marR="9525" marT="9525" marB="0" anchor="ctr"/>
                </a:tc>
                <a:extLst>
                  <a:ext uri="{0D108BD9-81ED-4DB2-BD59-A6C34878D82A}">
                    <a16:rowId xmlns:a16="http://schemas.microsoft.com/office/drawing/2014/main" val="3623807634"/>
                  </a:ext>
                </a:extLst>
              </a:tr>
              <a:tr h="382617">
                <a:tc>
                  <a:txBody>
                    <a:bodyPr/>
                    <a:lstStyle/>
                    <a:p>
                      <a:pPr marL="0" algn="ctr" defTabSz="914400" rtl="0" eaLnBrk="1" fontAlgn="ctr" latinLnBrk="0" hangingPunct="1"/>
                      <a:r>
                        <a:rPr lang="en-US" sz="1600" b="1" u="none" strike="noStrike" kern="1200">
                          <a:solidFill>
                            <a:schemeClr val="tx1"/>
                          </a:solidFill>
                          <a:effectLst/>
                          <a:latin typeface="Times New Roman" panose="02020603050405020304" pitchFamily="18" charset="0"/>
                          <a:ea typeface="+mn-ea"/>
                          <a:cs typeface="Times New Roman" panose="02020603050405020304" pitchFamily="18" charset="0"/>
                        </a:rPr>
                        <a:t>Z_014</a:t>
                      </a:r>
                    </a:p>
                  </a:txBody>
                  <a:tcPr marL="9525" marR="9525" marT="9525" marB="0" anchor="ctr"/>
                </a:tc>
                <a:tc>
                  <a:txBody>
                    <a:bodyPr/>
                    <a:lstStyle/>
                    <a:p>
                      <a:pPr marL="0" algn="ctr" defTabSz="914400" rtl="0" eaLnBrk="1" fontAlgn="ctr" latinLnBrk="0" hangingPunct="1"/>
                      <a:r>
                        <a:rPr lang="en-US" sz="1600" b="1" u="none" strike="noStrike" kern="1200">
                          <a:solidFill>
                            <a:schemeClr val="tx1"/>
                          </a:solidFill>
                          <a:effectLst/>
                          <a:latin typeface="Times New Roman" panose="02020603050405020304" pitchFamily="18" charset="0"/>
                          <a:ea typeface="+mn-ea"/>
                          <a:cs typeface="Times New Roman" panose="02020603050405020304" pitchFamily="18" charset="0"/>
                        </a:rPr>
                        <a:t>3</a:t>
                      </a:r>
                    </a:p>
                  </a:txBody>
                  <a:tcPr marL="9525" marR="9525" marT="9525" marB="0" anchor="ctr"/>
                </a:tc>
                <a:tc>
                  <a:txBody>
                    <a:bodyPr/>
                    <a:lstStyle/>
                    <a:p>
                      <a:pPr marL="0" algn="ctr" defTabSz="914400" rtl="0" eaLnBrk="1" fontAlgn="ctr" latinLnBrk="0" hangingPunct="1"/>
                      <a:r>
                        <a:rPr lang="en-US" sz="1600" b="1" u="none" strike="noStrike" kern="1200">
                          <a:solidFill>
                            <a:schemeClr val="tx1"/>
                          </a:solidFill>
                          <a:effectLst/>
                          <a:latin typeface="Times New Roman" panose="02020603050405020304" pitchFamily="18" charset="0"/>
                          <a:ea typeface="+mn-ea"/>
                          <a:cs typeface="Times New Roman" panose="02020603050405020304" pitchFamily="18" charset="0"/>
                        </a:rPr>
                        <a:t>800</a:t>
                      </a:r>
                    </a:p>
                  </a:txBody>
                  <a:tcPr marL="9525" marR="9525" marT="9525" marB="0" anchor="ctr"/>
                </a:tc>
                <a:tc>
                  <a:txBody>
                    <a:bodyPr/>
                    <a:lstStyle/>
                    <a:p>
                      <a:pPr marL="0" algn="ctr" defTabSz="914400" rtl="0" eaLnBrk="1" fontAlgn="ctr" latinLnBrk="0" hangingPunct="1"/>
                      <a:r>
                        <a:rPr lang="en-US" sz="1600" b="1" u="none" strike="noStrike" kern="1200">
                          <a:solidFill>
                            <a:schemeClr val="tx1"/>
                          </a:solidFill>
                          <a:effectLst/>
                          <a:latin typeface="Times New Roman" panose="02020603050405020304" pitchFamily="18" charset="0"/>
                          <a:ea typeface="+mn-ea"/>
                          <a:cs typeface="Times New Roman" panose="02020603050405020304" pitchFamily="18" charset="0"/>
                        </a:rPr>
                        <a:t>0.2</a:t>
                      </a:r>
                    </a:p>
                  </a:txBody>
                  <a:tcPr marL="9525" marR="9525" marT="9525" marB="0" anchor="ctr"/>
                </a:tc>
                <a:tc>
                  <a:txBody>
                    <a:bodyPr/>
                    <a:lstStyle/>
                    <a:p>
                      <a:pPr marL="0" algn="ctr" defTabSz="914400" rtl="0" eaLnBrk="1" fontAlgn="ctr" latinLnBrk="0" hangingPunct="1"/>
                      <a:r>
                        <a:rPr lang="en-US" sz="1600" b="1" u="none" strike="noStrike" kern="1200">
                          <a:solidFill>
                            <a:schemeClr val="tx1"/>
                          </a:solidFill>
                          <a:effectLst/>
                          <a:latin typeface="Times New Roman" panose="02020603050405020304" pitchFamily="18" charset="0"/>
                          <a:ea typeface="+mn-ea"/>
                          <a:cs typeface="Times New Roman" panose="02020603050405020304" pitchFamily="18" charset="0"/>
                        </a:rPr>
                        <a:t>AFG cubes + 1m </a:t>
                      </a:r>
                      <a:r>
                        <a:rPr lang="en-US" sz="1600" b="1" u="none" strike="noStrike" kern="1200" err="1">
                          <a:solidFill>
                            <a:schemeClr val="tx1"/>
                          </a:solidFill>
                          <a:effectLst/>
                          <a:latin typeface="Times New Roman" panose="02020603050405020304" pitchFamily="18" charset="0"/>
                          <a:ea typeface="+mn-ea"/>
                          <a:cs typeface="Times New Roman" panose="02020603050405020304" pitchFamily="18" charset="0"/>
                        </a:rPr>
                        <a:t>NaF</a:t>
                      </a:r>
                      <a:endParaRPr lang="en-US" sz="1600" b="1" u="none" strike="noStrike" kern="1200">
                        <a:solidFill>
                          <a:schemeClr val="tx1"/>
                        </a:solidFill>
                        <a:effectLst/>
                        <a:latin typeface="Times New Roman" panose="02020603050405020304" pitchFamily="18" charset="0"/>
                        <a:ea typeface="+mn-ea"/>
                        <a:cs typeface="Times New Roman" panose="02020603050405020304" pitchFamily="18" charset="0"/>
                      </a:endParaRPr>
                    </a:p>
                  </a:txBody>
                  <a:tcPr marL="9525" marR="9525" marT="9525" marB="0" anchor="ctr"/>
                </a:tc>
                <a:tc>
                  <a:txBody>
                    <a:bodyPr/>
                    <a:lstStyle/>
                    <a:p>
                      <a:pPr marL="0" algn="ctr" defTabSz="914400" rtl="0" eaLnBrk="1" fontAlgn="ctr" latinLnBrk="0" hangingPunct="1"/>
                      <a:r>
                        <a:rPr lang="en-US" sz="1600" b="1" u="none" strike="noStrike" kern="1200">
                          <a:solidFill>
                            <a:schemeClr val="tx1"/>
                          </a:solidFill>
                          <a:effectLst/>
                          <a:latin typeface="Times New Roman" panose="02020603050405020304" pitchFamily="18" charset="0"/>
                          <a:ea typeface="+mn-ea"/>
                          <a:cs typeface="Times New Roman" panose="02020603050405020304" pitchFamily="18" charset="0"/>
                        </a:rPr>
                        <a:t>Yes</a:t>
                      </a:r>
                    </a:p>
                  </a:txBody>
                  <a:tcPr marL="9525" marR="9525" marT="9525" marB="0" anchor="ctr"/>
                </a:tc>
                <a:extLst>
                  <a:ext uri="{0D108BD9-81ED-4DB2-BD59-A6C34878D82A}">
                    <a16:rowId xmlns:a16="http://schemas.microsoft.com/office/drawing/2014/main" val="2539991564"/>
                  </a:ext>
                </a:extLst>
              </a:tr>
              <a:tr h="382617">
                <a:tc>
                  <a:txBody>
                    <a:bodyPr/>
                    <a:lstStyle/>
                    <a:p>
                      <a:pPr marL="0" algn="ctr" defTabSz="914400" rtl="0" eaLnBrk="1" fontAlgn="ctr" latinLnBrk="0" hangingPunct="1"/>
                      <a:r>
                        <a:rPr lang="en-US" sz="1600" b="1" u="none" strike="noStrike" kern="1200">
                          <a:solidFill>
                            <a:schemeClr val="tx1"/>
                          </a:solidFill>
                          <a:effectLst/>
                          <a:latin typeface="Times New Roman" panose="02020603050405020304" pitchFamily="18" charset="0"/>
                          <a:ea typeface="+mn-ea"/>
                          <a:cs typeface="Times New Roman" panose="02020603050405020304" pitchFamily="18" charset="0"/>
                        </a:rPr>
                        <a:t>Z_015</a:t>
                      </a:r>
                    </a:p>
                  </a:txBody>
                  <a:tcPr marL="9525" marR="9525" marT="9525" marB="0" anchor="ctr"/>
                </a:tc>
                <a:tc>
                  <a:txBody>
                    <a:bodyPr/>
                    <a:lstStyle/>
                    <a:p>
                      <a:pPr marL="0" algn="ctr" defTabSz="914400" rtl="0" eaLnBrk="1" fontAlgn="ctr" latinLnBrk="0" hangingPunct="1"/>
                      <a:r>
                        <a:rPr lang="en-US" sz="1600" b="1" u="none" strike="noStrike" kern="1200">
                          <a:solidFill>
                            <a:schemeClr val="tx1"/>
                          </a:solidFill>
                          <a:effectLst/>
                          <a:latin typeface="Times New Roman" panose="02020603050405020304" pitchFamily="18" charset="0"/>
                          <a:ea typeface="+mn-ea"/>
                          <a:cs typeface="Times New Roman" panose="02020603050405020304" pitchFamily="18" charset="0"/>
                        </a:rPr>
                        <a:t>19</a:t>
                      </a:r>
                    </a:p>
                  </a:txBody>
                  <a:tcPr marL="9525" marR="9525" marT="9525" marB="0" anchor="ctr"/>
                </a:tc>
                <a:tc>
                  <a:txBody>
                    <a:bodyPr/>
                    <a:lstStyle/>
                    <a:p>
                      <a:pPr marL="0" algn="ctr" defTabSz="914400" rtl="0" eaLnBrk="1" fontAlgn="ctr" latinLnBrk="0" hangingPunct="1"/>
                      <a:r>
                        <a:rPr lang="en-US" sz="1600" b="1" u="none" strike="noStrike" kern="1200">
                          <a:solidFill>
                            <a:schemeClr val="tx1"/>
                          </a:solidFill>
                          <a:effectLst/>
                          <a:latin typeface="Times New Roman" panose="02020603050405020304" pitchFamily="18" charset="0"/>
                          <a:ea typeface="+mn-ea"/>
                          <a:cs typeface="Times New Roman" panose="02020603050405020304" pitchFamily="18" charset="0"/>
                        </a:rPr>
                        <a:t>800</a:t>
                      </a:r>
                    </a:p>
                  </a:txBody>
                  <a:tcPr marL="9525" marR="9525" marT="9525" marB="0" anchor="ctr"/>
                </a:tc>
                <a:tc>
                  <a:txBody>
                    <a:bodyPr/>
                    <a:lstStyle/>
                    <a:p>
                      <a:pPr marL="0" algn="ctr" defTabSz="914400" rtl="0" eaLnBrk="1" fontAlgn="ctr" latinLnBrk="0" hangingPunct="1"/>
                      <a:r>
                        <a:rPr lang="en-US" sz="1600" b="1" u="none" strike="noStrike" kern="1200">
                          <a:solidFill>
                            <a:schemeClr val="tx1"/>
                          </a:solidFill>
                          <a:effectLst/>
                          <a:latin typeface="Times New Roman" panose="02020603050405020304" pitchFamily="18" charset="0"/>
                          <a:ea typeface="+mn-ea"/>
                          <a:cs typeface="Times New Roman" panose="02020603050405020304" pitchFamily="18" charset="0"/>
                        </a:rPr>
                        <a:t>0.2</a:t>
                      </a:r>
                    </a:p>
                  </a:txBody>
                  <a:tcPr marL="9525" marR="9525" marT="9525" marB="0" anchor="ctr"/>
                </a:tc>
                <a:tc>
                  <a:txBody>
                    <a:bodyPr/>
                    <a:lstStyle/>
                    <a:p>
                      <a:pPr marL="0" algn="ctr" defTabSz="914400" rtl="0" eaLnBrk="1" fontAlgn="ctr" latinLnBrk="0" hangingPunct="1"/>
                      <a:r>
                        <a:rPr lang="en-US" sz="1600" b="1" u="none" strike="noStrike" kern="1200">
                          <a:solidFill>
                            <a:schemeClr val="tx1"/>
                          </a:solidFill>
                          <a:effectLst/>
                          <a:latin typeface="Times New Roman" panose="02020603050405020304" pitchFamily="18" charset="0"/>
                          <a:ea typeface="+mn-ea"/>
                          <a:cs typeface="Times New Roman" panose="02020603050405020304" pitchFamily="18" charset="0"/>
                        </a:rPr>
                        <a:t>AFG cubes + 1m </a:t>
                      </a:r>
                      <a:r>
                        <a:rPr lang="en-US" sz="1600" b="1" u="none" strike="noStrike" kern="1200" err="1">
                          <a:solidFill>
                            <a:schemeClr val="tx1"/>
                          </a:solidFill>
                          <a:effectLst/>
                          <a:latin typeface="Times New Roman" panose="02020603050405020304" pitchFamily="18" charset="0"/>
                          <a:ea typeface="+mn-ea"/>
                          <a:cs typeface="Times New Roman" panose="02020603050405020304" pitchFamily="18" charset="0"/>
                        </a:rPr>
                        <a:t>NaF</a:t>
                      </a:r>
                      <a:endParaRPr lang="en-US" sz="1600" b="1" u="none" strike="noStrike" kern="1200">
                        <a:solidFill>
                          <a:schemeClr val="tx1"/>
                        </a:solidFill>
                        <a:effectLst/>
                        <a:latin typeface="Times New Roman" panose="02020603050405020304" pitchFamily="18" charset="0"/>
                        <a:ea typeface="+mn-ea"/>
                        <a:cs typeface="Times New Roman" panose="02020603050405020304" pitchFamily="18" charset="0"/>
                      </a:endParaRPr>
                    </a:p>
                  </a:txBody>
                  <a:tcPr marL="9525" marR="9525" marT="9525" marB="0" anchor="ctr"/>
                </a:tc>
                <a:tc>
                  <a:txBody>
                    <a:bodyPr/>
                    <a:lstStyle/>
                    <a:p>
                      <a:pPr marL="0" algn="ctr" defTabSz="914400" rtl="0" eaLnBrk="1" fontAlgn="ctr" latinLnBrk="0" hangingPunct="1"/>
                      <a:r>
                        <a:rPr lang="en-US" sz="1600" b="1" u="none" strike="noStrike" kern="1200">
                          <a:solidFill>
                            <a:schemeClr val="tx1"/>
                          </a:solidFill>
                          <a:effectLst/>
                          <a:latin typeface="Times New Roman" panose="02020603050405020304" pitchFamily="18" charset="0"/>
                          <a:ea typeface="+mn-ea"/>
                          <a:cs typeface="Times New Roman" panose="02020603050405020304" pitchFamily="18" charset="0"/>
                        </a:rPr>
                        <a:t>Yes</a:t>
                      </a:r>
                    </a:p>
                  </a:txBody>
                  <a:tcPr marL="9525" marR="9525" marT="9525" marB="0" anchor="ctr"/>
                </a:tc>
                <a:extLst>
                  <a:ext uri="{0D108BD9-81ED-4DB2-BD59-A6C34878D82A}">
                    <a16:rowId xmlns:a16="http://schemas.microsoft.com/office/drawing/2014/main" val="607800394"/>
                  </a:ext>
                </a:extLst>
              </a:tr>
              <a:tr h="382617">
                <a:tc>
                  <a:txBody>
                    <a:bodyPr/>
                    <a:lstStyle/>
                    <a:p>
                      <a:pPr marL="0" algn="ctr" defTabSz="914400" rtl="0" eaLnBrk="1" fontAlgn="ctr" latinLnBrk="0" hangingPunct="1"/>
                      <a:r>
                        <a:rPr lang="en-US" sz="1600" b="1" u="none" strike="noStrike" kern="1200">
                          <a:solidFill>
                            <a:schemeClr val="tx1"/>
                          </a:solidFill>
                          <a:effectLst/>
                          <a:latin typeface="Times New Roman" panose="02020603050405020304" pitchFamily="18" charset="0"/>
                          <a:ea typeface="+mn-ea"/>
                          <a:cs typeface="Times New Roman" panose="02020603050405020304" pitchFamily="18" charset="0"/>
                        </a:rPr>
                        <a:t>Z_016</a:t>
                      </a:r>
                    </a:p>
                  </a:txBody>
                  <a:tcPr marL="9525" marR="9525" marT="9525" marB="0" anchor="ctr"/>
                </a:tc>
                <a:tc>
                  <a:txBody>
                    <a:bodyPr/>
                    <a:lstStyle/>
                    <a:p>
                      <a:pPr marL="0" algn="ctr" defTabSz="914400" rtl="0" eaLnBrk="1" fontAlgn="ctr" latinLnBrk="0" hangingPunct="1"/>
                      <a:r>
                        <a:rPr lang="en-US" sz="1600" b="1" u="none" strike="noStrike" kern="1200">
                          <a:solidFill>
                            <a:schemeClr val="tx1"/>
                          </a:solidFill>
                          <a:effectLst/>
                          <a:latin typeface="Times New Roman" panose="02020603050405020304" pitchFamily="18" charset="0"/>
                          <a:ea typeface="+mn-ea"/>
                          <a:cs typeface="Times New Roman" panose="02020603050405020304" pitchFamily="18" charset="0"/>
                        </a:rPr>
                        <a:t>7</a:t>
                      </a:r>
                    </a:p>
                  </a:txBody>
                  <a:tcPr marL="9525" marR="9525" marT="9525" marB="0" anchor="ctr"/>
                </a:tc>
                <a:tc>
                  <a:txBody>
                    <a:bodyPr/>
                    <a:lstStyle/>
                    <a:p>
                      <a:pPr marL="0" algn="ctr" defTabSz="914400" rtl="0" eaLnBrk="1" fontAlgn="ctr" latinLnBrk="0" hangingPunct="1"/>
                      <a:r>
                        <a:rPr lang="en-US" sz="1600" b="1" u="none" strike="noStrike" kern="1200">
                          <a:solidFill>
                            <a:schemeClr val="tx1"/>
                          </a:solidFill>
                          <a:effectLst/>
                          <a:latin typeface="Times New Roman" panose="02020603050405020304" pitchFamily="18" charset="0"/>
                          <a:ea typeface="+mn-ea"/>
                          <a:cs typeface="Times New Roman" panose="02020603050405020304" pitchFamily="18" charset="0"/>
                        </a:rPr>
                        <a:t>800</a:t>
                      </a:r>
                    </a:p>
                  </a:txBody>
                  <a:tcPr marL="9525" marR="9525" marT="9525" marB="0" anchor="ctr"/>
                </a:tc>
                <a:tc>
                  <a:txBody>
                    <a:bodyPr/>
                    <a:lstStyle/>
                    <a:p>
                      <a:pPr marL="0" algn="ctr" defTabSz="914400" rtl="0" eaLnBrk="1" fontAlgn="ctr" latinLnBrk="0" hangingPunct="1"/>
                      <a:r>
                        <a:rPr lang="en-US" sz="1600" b="1" u="none" strike="noStrike" kern="1200">
                          <a:solidFill>
                            <a:schemeClr val="tx1"/>
                          </a:solidFill>
                          <a:effectLst/>
                          <a:latin typeface="Times New Roman" panose="02020603050405020304" pitchFamily="18" charset="0"/>
                          <a:ea typeface="+mn-ea"/>
                          <a:cs typeface="Times New Roman" panose="02020603050405020304" pitchFamily="18" charset="0"/>
                        </a:rPr>
                        <a:t>0.2</a:t>
                      </a:r>
                    </a:p>
                  </a:txBody>
                  <a:tcPr marL="9525" marR="9525" marT="9525" marB="0" anchor="ctr"/>
                </a:tc>
                <a:tc>
                  <a:txBody>
                    <a:bodyPr/>
                    <a:lstStyle/>
                    <a:p>
                      <a:pPr marL="0" algn="ctr" defTabSz="914400" rtl="0" eaLnBrk="1" fontAlgn="ctr" latinLnBrk="0" hangingPunct="1"/>
                      <a:r>
                        <a:rPr lang="en-US" sz="1600" b="1" u="none" strike="noStrike" kern="1200">
                          <a:solidFill>
                            <a:schemeClr val="tx1"/>
                          </a:solidFill>
                          <a:effectLst/>
                          <a:latin typeface="Times New Roman" panose="02020603050405020304" pitchFamily="18" charset="0"/>
                          <a:ea typeface="+mn-ea"/>
                          <a:cs typeface="Times New Roman" panose="02020603050405020304" pitchFamily="18" charset="0"/>
                        </a:rPr>
                        <a:t>AFG cubes + 1m </a:t>
                      </a:r>
                      <a:r>
                        <a:rPr lang="en-US" sz="1600" b="1" u="none" strike="noStrike" kern="1200" err="1">
                          <a:solidFill>
                            <a:schemeClr val="tx1"/>
                          </a:solidFill>
                          <a:effectLst/>
                          <a:latin typeface="Times New Roman" panose="02020603050405020304" pitchFamily="18" charset="0"/>
                          <a:ea typeface="+mn-ea"/>
                          <a:cs typeface="Times New Roman" panose="02020603050405020304" pitchFamily="18" charset="0"/>
                        </a:rPr>
                        <a:t>NaF</a:t>
                      </a:r>
                      <a:endParaRPr lang="en-US" sz="1600" b="1" u="none" strike="noStrike" kern="1200">
                        <a:solidFill>
                          <a:schemeClr val="tx1"/>
                        </a:solidFill>
                        <a:effectLst/>
                        <a:latin typeface="Times New Roman" panose="02020603050405020304" pitchFamily="18" charset="0"/>
                        <a:ea typeface="+mn-ea"/>
                        <a:cs typeface="Times New Roman" panose="02020603050405020304" pitchFamily="18" charset="0"/>
                      </a:endParaRPr>
                    </a:p>
                  </a:txBody>
                  <a:tcPr marL="9525" marR="9525" marT="9525" marB="0" anchor="ctr"/>
                </a:tc>
                <a:tc>
                  <a:txBody>
                    <a:bodyPr/>
                    <a:lstStyle/>
                    <a:p>
                      <a:pPr marL="0" algn="ctr" defTabSz="914400" rtl="0" eaLnBrk="1" fontAlgn="ctr" latinLnBrk="0" hangingPunct="1"/>
                      <a:r>
                        <a:rPr lang="en-US" sz="1600" b="1" u="none" strike="noStrike" kern="1200">
                          <a:solidFill>
                            <a:schemeClr val="tx1"/>
                          </a:solidFill>
                          <a:effectLst/>
                          <a:latin typeface="Times New Roman" panose="02020603050405020304" pitchFamily="18" charset="0"/>
                          <a:ea typeface="+mn-ea"/>
                          <a:cs typeface="Times New Roman" panose="02020603050405020304" pitchFamily="18" charset="0"/>
                        </a:rPr>
                        <a:t>Yes</a:t>
                      </a:r>
                    </a:p>
                  </a:txBody>
                  <a:tcPr marL="9525" marR="9525" marT="9525" marB="0" anchor="ctr"/>
                </a:tc>
                <a:extLst>
                  <a:ext uri="{0D108BD9-81ED-4DB2-BD59-A6C34878D82A}">
                    <a16:rowId xmlns:a16="http://schemas.microsoft.com/office/drawing/2014/main" val="3974298957"/>
                  </a:ext>
                </a:extLst>
              </a:tr>
              <a:tr h="382617">
                <a:tc>
                  <a:txBody>
                    <a:bodyPr/>
                    <a:lstStyle/>
                    <a:p>
                      <a:pPr marL="0" algn="ctr" defTabSz="914400" rtl="0" eaLnBrk="1" fontAlgn="ctr" latinLnBrk="0" hangingPunct="1"/>
                      <a:r>
                        <a:rPr lang="en-US" sz="1600" b="1" u="none" strike="noStrike" kern="1200">
                          <a:solidFill>
                            <a:schemeClr val="tx1"/>
                          </a:solidFill>
                          <a:effectLst/>
                          <a:latin typeface="Times New Roman" panose="02020603050405020304" pitchFamily="18" charset="0"/>
                          <a:ea typeface="+mn-ea"/>
                          <a:cs typeface="Times New Roman" panose="02020603050405020304" pitchFamily="18" charset="0"/>
                        </a:rPr>
                        <a:t>Z_017</a:t>
                      </a:r>
                    </a:p>
                  </a:txBody>
                  <a:tcPr marL="9525" marR="9525" marT="9525" marB="0" anchor="ctr"/>
                </a:tc>
                <a:tc>
                  <a:txBody>
                    <a:bodyPr/>
                    <a:lstStyle/>
                    <a:p>
                      <a:pPr marL="0" algn="ctr" defTabSz="914400" rtl="0" eaLnBrk="1" fontAlgn="ctr" latinLnBrk="0" hangingPunct="1"/>
                      <a:r>
                        <a:rPr lang="en-US" sz="1600" b="1" u="none" strike="noStrike" kern="1200">
                          <a:solidFill>
                            <a:schemeClr val="tx1"/>
                          </a:solidFill>
                          <a:effectLst/>
                          <a:latin typeface="Times New Roman" panose="02020603050405020304" pitchFamily="18" charset="0"/>
                          <a:ea typeface="+mn-ea"/>
                          <a:cs typeface="Times New Roman" panose="02020603050405020304" pitchFamily="18" charset="0"/>
                        </a:rPr>
                        <a:t>1</a:t>
                      </a:r>
                    </a:p>
                  </a:txBody>
                  <a:tcPr marL="9525" marR="9525" marT="9525" marB="0" anchor="ctr"/>
                </a:tc>
                <a:tc>
                  <a:txBody>
                    <a:bodyPr/>
                    <a:lstStyle/>
                    <a:p>
                      <a:pPr marL="0" algn="ctr" defTabSz="914400" rtl="0" eaLnBrk="1" fontAlgn="ctr" latinLnBrk="0" hangingPunct="1"/>
                      <a:r>
                        <a:rPr lang="en-US" sz="1600" b="1" u="none" strike="noStrike" kern="1200">
                          <a:solidFill>
                            <a:schemeClr val="tx1"/>
                          </a:solidFill>
                          <a:effectLst/>
                          <a:latin typeface="Times New Roman" panose="02020603050405020304" pitchFamily="18" charset="0"/>
                          <a:ea typeface="+mn-ea"/>
                          <a:cs typeface="Times New Roman" panose="02020603050405020304" pitchFamily="18" charset="0"/>
                        </a:rPr>
                        <a:t>600</a:t>
                      </a:r>
                    </a:p>
                  </a:txBody>
                  <a:tcPr marL="9525" marR="9525" marT="9525" marB="0" anchor="ctr"/>
                </a:tc>
                <a:tc>
                  <a:txBody>
                    <a:bodyPr/>
                    <a:lstStyle/>
                    <a:p>
                      <a:pPr marL="0" algn="ctr" defTabSz="914400" rtl="0" eaLnBrk="1" fontAlgn="ctr" latinLnBrk="0" hangingPunct="1"/>
                      <a:r>
                        <a:rPr lang="en-US" sz="1600" b="1" u="none" strike="noStrike" kern="1200">
                          <a:solidFill>
                            <a:schemeClr val="tx1"/>
                          </a:solidFill>
                          <a:effectLst/>
                          <a:latin typeface="Times New Roman" panose="02020603050405020304" pitchFamily="18" charset="0"/>
                          <a:ea typeface="+mn-ea"/>
                          <a:cs typeface="Times New Roman" panose="02020603050405020304" pitchFamily="18" charset="0"/>
                        </a:rPr>
                        <a:t>0.2</a:t>
                      </a:r>
                    </a:p>
                  </a:txBody>
                  <a:tcPr marL="9525" marR="9525" marT="9525" marB="0" anchor="ctr"/>
                </a:tc>
                <a:tc>
                  <a:txBody>
                    <a:bodyPr/>
                    <a:lstStyle/>
                    <a:p>
                      <a:pPr marL="0" algn="ctr" defTabSz="914400" rtl="0" eaLnBrk="1" fontAlgn="ctr" latinLnBrk="0" hangingPunct="1"/>
                      <a:r>
                        <a:rPr lang="en-US" sz="1600" b="1" u="none" strike="noStrike" kern="1200">
                          <a:solidFill>
                            <a:schemeClr val="tx1"/>
                          </a:solidFill>
                          <a:effectLst/>
                          <a:latin typeface="Times New Roman" panose="02020603050405020304" pitchFamily="18" charset="0"/>
                          <a:ea typeface="+mn-ea"/>
                          <a:cs typeface="Times New Roman" panose="02020603050405020304" pitchFamily="18" charset="0"/>
                        </a:rPr>
                        <a:t>Norway fragments + H2O</a:t>
                      </a:r>
                    </a:p>
                  </a:txBody>
                  <a:tcPr marL="9525" marR="9525" marT="9525" marB="0" anchor="ctr"/>
                </a:tc>
                <a:tc>
                  <a:txBody>
                    <a:bodyPr/>
                    <a:lstStyle/>
                    <a:p>
                      <a:pPr marL="0" algn="ctr" defTabSz="914400" rtl="0" eaLnBrk="1" fontAlgn="ctr" latinLnBrk="0" hangingPunct="1"/>
                      <a:r>
                        <a:rPr lang="en-US" sz="1600" b="1" u="none" strike="noStrike" kern="1200">
                          <a:solidFill>
                            <a:schemeClr val="tx1"/>
                          </a:solidFill>
                          <a:effectLst/>
                          <a:latin typeface="Times New Roman" panose="02020603050405020304" pitchFamily="18" charset="0"/>
                          <a:ea typeface="+mn-ea"/>
                          <a:cs typeface="Times New Roman" panose="02020603050405020304" pitchFamily="18" charset="0"/>
                        </a:rPr>
                        <a:t>Yes</a:t>
                      </a:r>
                    </a:p>
                  </a:txBody>
                  <a:tcPr marL="9525" marR="9525" marT="9525" marB="0" anchor="ctr"/>
                </a:tc>
                <a:extLst>
                  <a:ext uri="{0D108BD9-81ED-4DB2-BD59-A6C34878D82A}">
                    <a16:rowId xmlns:a16="http://schemas.microsoft.com/office/drawing/2014/main" val="2544602739"/>
                  </a:ext>
                </a:extLst>
              </a:tr>
              <a:tr h="382617">
                <a:tc>
                  <a:txBody>
                    <a:bodyPr/>
                    <a:lstStyle/>
                    <a:p>
                      <a:pPr marL="0" algn="ctr" defTabSz="914400" rtl="0" eaLnBrk="1" fontAlgn="ctr" latinLnBrk="0" hangingPunct="1"/>
                      <a:r>
                        <a:rPr lang="en-US" sz="1600" b="1" u="none" strike="noStrike" kern="1200">
                          <a:solidFill>
                            <a:schemeClr val="tx1"/>
                          </a:solidFill>
                          <a:effectLst/>
                          <a:latin typeface="Times New Roman" panose="02020603050405020304" pitchFamily="18" charset="0"/>
                          <a:ea typeface="+mn-ea"/>
                          <a:cs typeface="Times New Roman" panose="02020603050405020304" pitchFamily="18" charset="0"/>
                        </a:rPr>
                        <a:t>Z-018</a:t>
                      </a:r>
                    </a:p>
                  </a:txBody>
                  <a:tcPr marL="9525" marR="9525" marT="9525" marB="0" anchor="ctr"/>
                </a:tc>
                <a:tc>
                  <a:txBody>
                    <a:bodyPr/>
                    <a:lstStyle/>
                    <a:p>
                      <a:pPr marL="0" algn="ctr" defTabSz="914400" rtl="0" eaLnBrk="1" fontAlgn="ctr" latinLnBrk="0" hangingPunct="1"/>
                      <a:r>
                        <a:rPr lang="en-US" sz="1600" b="1" u="none" strike="noStrike" kern="1200">
                          <a:solidFill>
                            <a:schemeClr val="tx1"/>
                          </a:solidFill>
                          <a:effectLst/>
                          <a:latin typeface="Times New Roman" panose="02020603050405020304" pitchFamily="18" charset="0"/>
                          <a:ea typeface="+mn-ea"/>
                          <a:cs typeface="Times New Roman" panose="02020603050405020304" pitchFamily="18" charset="0"/>
                        </a:rPr>
                        <a:t>1</a:t>
                      </a:r>
                    </a:p>
                  </a:txBody>
                  <a:tcPr marL="9525" marR="9525" marT="9525" marB="0" anchor="ctr"/>
                </a:tc>
                <a:tc>
                  <a:txBody>
                    <a:bodyPr/>
                    <a:lstStyle/>
                    <a:p>
                      <a:pPr marL="0" algn="ctr" defTabSz="914400" rtl="0" eaLnBrk="1" fontAlgn="ctr" latinLnBrk="0" hangingPunct="1"/>
                      <a:r>
                        <a:rPr lang="en-US" sz="1600" b="1" u="none" strike="noStrike" kern="1200">
                          <a:solidFill>
                            <a:schemeClr val="tx1"/>
                          </a:solidFill>
                          <a:effectLst/>
                          <a:latin typeface="Times New Roman" panose="02020603050405020304" pitchFamily="18" charset="0"/>
                          <a:ea typeface="+mn-ea"/>
                          <a:cs typeface="Times New Roman" panose="02020603050405020304" pitchFamily="18" charset="0"/>
                        </a:rPr>
                        <a:t>600</a:t>
                      </a:r>
                    </a:p>
                  </a:txBody>
                  <a:tcPr marL="9525" marR="9525" marT="9525" marB="0" anchor="ctr"/>
                </a:tc>
                <a:tc>
                  <a:txBody>
                    <a:bodyPr/>
                    <a:lstStyle/>
                    <a:p>
                      <a:pPr marL="0" algn="ctr" defTabSz="914400" rtl="0" eaLnBrk="1" fontAlgn="ctr" latinLnBrk="0" hangingPunct="1"/>
                      <a:r>
                        <a:rPr lang="en-US" sz="1600" b="1" u="none" strike="noStrike" kern="1200">
                          <a:solidFill>
                            <a:schemeClr val="tx1"/>
                          </a:solidFill>
                          <a:effectLst/>
                          <a:latin typeface="Times New Roman" panose="02020603050405020304" pitchFamily="18" charset="0"/>
                          <a:ea typeface="+mn-ea"/>
                          <a:cs typeface="Times New Roman" panose="02020603050405020304" pitchFamily="18" charset="0"/>
                        </a:rPr>
                        <a:t>0.2</a:t>
                      </a:r>
                    </a:p>
                  </a:txBody>
                  <a:tcPr marL="9525" marR="9525" marT="9525" marB="0" anchor="ctr"/>
                </a:tc>
                <a:tc>
                  <a:txBody>
                    <a:bodyPr/>
                    <a:lstStyle/>
                    <a:p>
                      <a:pPr marL="0" algn="ctr" defTabSz="914400" rtl="0" eaLnBrk="1" fontAlgn="ctr" latinLnBrk="0" hangingPunct="1"/>
                      <a:r>
                        <a:rPr lang="en-US" sz="1600" b="1" u="none" strike="noStrike" kern="1200">
                          <a:solidFill>
                            <a:schemeClr val="tx1"/>
                          </a:solidFill>
                          <a:effectLst/>
                          <a:latin typeface="Times New Roman" panose="02020603050405020304" pitchFamily="18" charset="0"/>
                          <a:ea typeface="+mn-ea"/>
                          <a:cs typeface="Times New Roman" panose="02020603050405020304" pitchFamily="18" charset="0"/>
                        </a:rPr>
                        <a:t>Norway fragments + 1m </a:t>
                      </a:r>
                      <a:r>
                        <a:rPr lang="en-US" sz="1600" b="1" u="none" strike="noStrike" kern="1200" err="1">
                          <a:solidFill>
                            <a:schemeClr val="tx1"/>
                          </a:solidFill>
                          <a:effectLst/>
                          <a:latin typeface="Times New Roman" panose="02020603050405020304" pitchFamily="18" charset="0"/>
                          <a:ea typeface="+mn-ea"/>
                          <a:cs typeface="Times New Roman" panose="02020603050405020304" pitchFamily="18" charset="0"/>
                        </a:rPr>
                        <a:t>NaF</a:t>
                      </a:r>
                      <a:endParaRPr lang="en-US" sz="1600" b="1" u="none" strike="noStrike" kern="1200">
                        <a:solidFill>
                          <a:schemeClr val="tx1"/>
                        </a:solidFill>
                        <a:effectLst/>
                        <a:latin typeface="Times New Roman" panose="02020603050405020304" pitchFamily="18" charset="0"/>
                        <a:ea typeface="+mn-ea"/>
                        <a:cs typeface="Times New Roman" panose="02020603050405020304" pitchFamily="18" charset="0"/>
                      </a:endParaRPr>
                    </a:p>
                  </a:txBody>
                  <a:tcPr marL="9525" marR="9525" marT="9525" marB="0" anchor="ctr"/>
                </a:tc>
                <a:tc>
                  <a:txBody>
                    <a:bodyPr/>
                    <a:lstStyle/>
                    <a:p>
                      <a:pPr marL="0" algn="ctr" defTabSz="914400" rtl="0" eaLnBrk="1" fontAlgn="ctr" latinLnBrk="0" hangingPunct="1"/>
                      <a:endParaRPr lang="en-US" sz="1600" b="1"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9525" marR="9525" marT="9525" marB="0" anchor="ctr"/>
                </a:tc>
                <a:extLst>
                  <a:ext uri="{0D108BD9-81ED-4DB2-BD59-A6C34878D82A}">
                    <a16:rowId xmlns:a16="http://schemas.microsoft.com/office/drawing/2014/main" val="1930944289"/>
                  </a:ext>
                </a:extLst>
              </a:tr>
            </a:tbl>
          </a:graphicData>
        </a:graphic>
      </p:graphicFrame>
      <p:sp>
        <p:nvSpPr>
          <p:cNvPr id="8" name="Title 1">
            <a:extLst>
              <a:ext uri="{FF2B5EF4-FFF2-40B4-BE49-F238E27FC236}">
                <a16:creationId xmlns:a16="http://schemas.microsoft.com/office/drawing/2014/main" id="{3C21F8E0-A558-5558-FD98-C9E4D816FC30}"/>
              </a:ext>
            </a:extLst>
          </p:cNvPr>
          <p:cNvSpPr>
            <a:spLocks noGrp="1"/>
          </p:cNvSpPr>
          <p:nvPr>
            <p:ph type="title"/>
          </p:nvPr>
        </p:nvSpPr>
        <p:spPr>
          <a:xfrm>
            <a:off x="838200" y="365125"/>
            <a:ext cx="10515600" cy="1325563"/>
          </a:xfrm>
        </p:spPr>
        <p:txBody>
          <a:bodyPr>
            <a:normAutofit/>
          </a:bodyPr>
          <a:lstStyle/>
          <a:p>
            <a:pPr algn="ctr"/>
            <a:r>
              <a:rPr lang="en-US" sz="3600">
                <a:latin typeface="Arial" panose="020B0604020202020204" pitchFamily="34" charset="0"/>
                <a:cs typeface="Arial" panose="020B0604020202020204" pitchFamily="34" charset="0"/>
              </a:rPr>
              <a:t>List of experiments</a:t>
            </a:r>
          </a:p>
        </p:txBody>
      </p:sp>
      <p:sp>
        <p:nvSpPr>
          <p:cNvPr id="2" name="TextBox 1">
            <a:extLst>
              <a:ext uri="{FF2B5EF4-FFF2-40B4-BE49-F238E27FC236}">
                <a16:creationId xmlns:a16="http://schemas.microsoft.com/office/drawing/2014/main" id="{5B89F782-BD7E-8AED-3F1D-4F300E4D4A3D}"/>
              </a:ext>
            </a:extLst>
          </p:cNvPr>
          <p:cNvSpPr txBox="1"/>
          <p:nvPr/>
        </p:nvSpPr>
        <p:spPr>
          <a:xfrm>
            <a:off x="404949" y="6048103"/>
            <a:ext cx="11469807" cy="430887"/>
          </a:xfrm>
          <a:prstGeom prst="rect">
            <a:avLst/>
          </a:prstGeom>
          <a:noFill/>
        </p:spPr>
        <p:txBody>
          <a:bodyPr wrap="none" rtlCol="0">
            <a:spAutoFit/>
          </a:bodyPr>
          <a:lstStyle/>
          <a:p>
            <a:r>
              <a:rPr lang="en-US" sz="2200" dirty="0"/>
              <a:t>In all experiments starting fluid was USGS-49, and amorphous </a:t>
            </a:r>
            <a:r>
              <a:rPr lang="en-US" sz="2200" baseline="30000" dirty="0"/>
              <a:t>29</a:t>
            </a:r>
            <a:r>
              <a:rPr lang="en-US" sz="2200" dirty="0"/>
              <a:t>SiO</a:t>
            </a:r>
            <a:r>
              <a:rPr lang="en-US" sz="2200" baseline="-25000" dirty="0"/>
              <a:t>2</a:t>
            </a:r>
            <a:r>
              <a:rPr lang="en-US" sz="2200" dirty="0"/>
              <a:t> dissolved in the fluid</a:t>
            </a:r>
          </a:p>
        </p:txBody>
      </p:sp>
    </p:spTree>
    <p:extLst>
      <p:ext uri="{BB962C8B-B14F-4D97-AF65-F5344CB8AC3E}">
        <p14:creationId xmlns:p14="http://schemas.microsoft.com/office/powerpoint/2010/main" val="946107207"/>
      </p:ext>
    </p:extLst>
  </p:cSld>
  <p:clrMapOvr>
    <a:masterClrMapping/>
  </p:clrMapOvr>
  <p:extLst>
    <p:ext uri="{6950BFC3-D8DA-4A85-94F7-54DA5524770B}">
      <p188:commentRel xmlns:p188="http://schemas.microsoft.com/office/powerpoint/2018/8/main" r:id="rId2"/>
    </p:ext>
  </p:extLs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D7CD25-6B09-EBB8-36D4-F5E2D2A2A767}"/>
              </a:ext>
            </a:extLst>
          </p:cNvPr>
          <p:cNvSpPr>
            <a:spLocks noGrp="1"/>
          </p:cNvSpPr>
          <p:nvPr>
            <p:ph type="title"/>
          </p:nvPr>
        </p:nvSpPr>
        <p:spPr>
          <a:xfrm>
            <a:off x="632460" y="176768"/>
            <a:ext cx="10927080" cy="1325563"/>
          </a:xfrm>
        </p:spPr>
        <p:txBody>
          <a:bodyPr/>
          <a:lstStyle/>
          <a:p>
            <a:r>
              <a:rPr lang="en-US">
                <a:latin typeface="Arial"/>
                <a:cs typeface="Arial"/>
              </a:rPr>
              <a:t>Evidence for dissolution of metamict zircon</a:t>
            </a:r>
          </a:p>
        </p:txBody>
      </p:sp>
      <p:pic>
        <p:nvPicPr>
          <p:cNvPr id="5" name="Content Placeholder 4">
            <a:extLst>
              <a:ext uri="{FF2B5EF4-FFF2-40B4-BE49-F238E27FC236}">
                <a16:creationId xmlns:a16="http://schemas.microsoft.com/office/drawing/2014/main" id="{67B12753-6B2C-EF04-F016-D62F01E0E062}"/>
              </a:ext>
            </a:extLst>
          </p:cNvPr>
          <p:cNvPicPr>
            <a:picLocks noGrp="1" noChangeAspect="1"/>
          </p:cNvPicPr>
          <p:nvPr>
            <p:ph sz="half" idx="1"/>
          </p:nvPr>
        </p:nvPicPr>
        <p:blipFill>
          <a:blip r:embed="rId2"/>
          <a:srcRect/>
          <a:stretch/>
        </p:blipFill>
        <p:spPr>
          <a:xfrm>
            <a:off x="920120" y="1825625"/>
            <a:ext cx="5017759" cy="4351338"/>
          </a:xfrm>
          <a:prstGeom prst="rect">
            <a:avLst/>
          </a:prstGeom>
        </p:spPr>
      </p:pic>
      <p:pic>
        <p:nvPicPr>
          <p:cNvPr id="6" name="Content Placeholder 5">
            <a:extLst>
              <a:ext uri="{FF2B5EF4-FFF2-40B4-BE49-F238E27FC236}">
                <a16:creationId xmlns:a16="http://schemas.microsoft.com/office/drawing/2014/main" id="{7DCA0150-F1F8-5A4D-BF62-F4447FB17E48}"/>
              </a:ext>
            </a:extLst>
          </p:cNvPr>
          <p:cNvPicPr>
            <a:picLocks noGrp="1" noChangeAspect="1"/>
          </p:cNvPicPr>
          <p:nvPr>
            <p:ph sz="half" idx="2"/>
          </p:nvPr>
        </p:nvPicPr>
        <p:blipFill>
          <a:blip r:embed="rId3"/>
          <a:srcRect/>
          <a:stretch/>
        </p:blipFill>
        <p:spPr>
          <a:xfrm>
            <a:off x="6254120" y="1825625"/>
            <a:ext cx="5017759" cy="4351338"/>
          </a:xfrm>
          <a:prstGeom prst="rect">
            <a:avLst/>
          </a:prstGeom>
        </p:spPr>
      </p:pic>
      <p:sp>
        <p:nvSpPr>
          <p:cNvPr id="4" name="文本框 3">
            <a:extLst>
              <a:ext uri="{FF2B5EF4-FFF2-40B4-BE49-F238E27FC236}">
                <a16:creationId xmlns:a16="http://schemas.microsoft.com/office/drawing/2014/main" id="{AACA87D1-37A5-EDB4-5F58-6167D160490E}"/>
              </a:ext>
            </a:extLst>
          </p:cNvPr>
          <p:cNvSpPr txBox="1"/>
          <p:nvPr/>
        </p:nvSpPr>
        <p:spPr>
          <a:xfrm>
            <a:off x="731520" y="6311900"/>
            <a:ext cx="6096000" cy="369332"/>
          </a:xfrm>
          <a:prstGeom prst="rect">
            <a:avLst/>
          </a:prstGeom>
          <a:noFill/>
        </p:spPr>
        <p:txBody>
          <a:bodyPr wrap="square">
            <a:spAutoFit/>
          </a:bodyPr>
          <a:lstStyle/>
          <a:p>
            <a:r>
              <a:rPr lang="en-US" altLang="zh-CN">
                <a:latin typeface="Arial"/>
                <a:cs typeface="Arial"/>
              </a:rPr>
              <a:t>7 days at 800° C and 1m </a:t>
            </a:r>
            <a:r>
              <a:rPr lang="en-US" altLang="zh-CN" err="1">
                <a:latin typeface="Arial"/>
                <a:cs typeface="Arial"/>
              </a:rPr>
              <a:t>NaF</a:t>
            </a:r>
            <a:endParaRPr lang="zh-CN" altLang="en-US"/>
          </a:p>
        </p:txBody>
      </p:sp>
    </p:spTree>
    <p:extLst>
      <p:ext uri="{BB962C8B-B14F-4D97-AF65-F5344CB8AC3E}">
        <p14:creationId xmlns:p14="http://schemas.microsoft.com/office/powerpoint/2010/main" val="12954163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对象 9">
            <a:extLst>
              <a:ext uri="{FF2B5EF4-FFF2-40B4-BE49-F238E27FC236}">
                <a16:creationId xmlns:a16="http://schemas.microsoft.com/office/drawing/2014/main" id="{880E2AA8-F727-7CF7-61EE-C23EAE180465}"/>
              </a:ext>
            </a:extLst>
          </p:cNvPr>
          <p:cNvGraphicFramePr>
            <a:graphicFrameLocks noChangeAspect="1"/>
          </p:cNvGraphicFramePr>
          <p:nvPr/>
        </p:nvGraphicFramePr>
        <p:xfrm>
          <a:off x="388937" y="1592580"/>
          <a:ext cx="11414125" cy="4949825"/>
        </p:xfrm>
        <a:graphic>
          <a:graphicData uri="http://schemas.openxmlformats.org/presentationml/2006/ole">
            <mc:AlternateContent xmlns:mc="http://schemas.openxmlformats.org/markup-compatibility/2006">
              <mc:Choice xmlns:v="urn:schemas-microsoft-com:vml" Requires="v">
                <p:oleObj name="CorelDRAW" r:id="rId3" imgW="11414079" imgH="4950128" progId="CorelDraw.Graphic.25">
                  <p:embed/>
                </p:oleObj>
              </mc:Choice>
              <mc:Fallback>
                <p:oleObj name="CorelDRAW" r:id="rId3" imgW="11414079" imgH="4950128" progId="CorelDraw.Graphic.25">
                  <p:embed/>
                  <p:pic>
                    <p:nvPicPr>
                      <p:cNvPr id="10" name="对象 9">
                        <a:extLst>
                          <a:ext uri="{FF2B5EF4-FFF2-40B4-BE49-F238E27FC236}">
                            <a16:creationId xmlns:a16="http://schemas.microsoft.com/office/drawing/2014/main" id="{880E2AA8-F727-7CF7-61EE-C23EAE180465}"/>
                          </a:ext>
                        </a:extLst>
                      </p:cNvPr>
                      <p:cNvPicPr/>
                      <p:nvPr/>
                    </p:nvPicPr>
                    <p:blipFill>
                      <a:blip r:embed="rId4"/>
                      <a:stretch>
                        <a:fillRect/>
                      </a:stretch>
                    </p:blipFill>
                    <p:spPr>
                      <a:xfrm>
                        <a:off x="388937" y="1592580"/>
                        <a:ext cx="11414125" cy="4949825"/>
                      </a:xfrm>
                      <a:prstGeom prst="rect">
                        <a:avLst/>
                      </a:prstGeom>
                    </p:spPr>
                  </p:pic>
                </p:oleObj>
              </mc:Fallback>
            </mc:AlternateContent>
          </a:graphicData>
        </a:graphic>
      </p:graphicFrame>
      <p:sp>
        <p:nvSpPr>
          <p:cNvPr id="11" name="Title 1">
            <a:extLst>
              <a:ext uri="{FF2B5EF4-FFF2-40B4-BE49-F238E27FC236}">
                <a16:creationId xmlns:a16="http://schemas.microsoft.com/office/drawing/2014/main" id="{AD5B8972-2707-F1B7-70FC-4FF90048B18F}"/>
              </a:ext>
            </a:extLst>
          </p:cNvPr>
          <p:cNvSpPr>
            <a:spLocks noGrp="1"/>
          </p:cNvSpPr>
          <p:nvPr>
            <p:ph type="title"/>
          </p:nvPr>
        </p:nvSpPr>
        <p:spPr>
          <a:xfrm>
            <a:off x="632459" y="176768"/>
            <a:ext cx="11299345" cy="1325563"/>
          </a:xfrm>
        </p:spPr>
        <p:txBody>
          <a:bodyPr>
            <a:normAutofit/>
          </a:bodyPr>
          <a:lstStyle/>
          <a:p>
            <a:pPr algn="ctr"/>
            <a:r>
              <a:rPr lang="en-US" dirty="0">
                <a:latin typeface="Arial"/>
                <a:cs typeface="Arial"/>
              </a:rPr>
              <a:t>CL imaging of the replacement domain in run product grains</a:t>
            </a:r>
          </a:p>
        </p:txBody>
      </p:sp>
      <p:cxnSp>
        <p:nvCxnSpPr>
          <p:cNvPr id="13" name="直接箭头连接符 12">
            <a:extLst>
              <a:ext uri="{FF2B5EF4-FFF2-40B4-BE49-F238E27FC236}">
                <a16:creationId xmlns:a16="http://schemas.microsoft.com/office/drawing/2014/main" id="{BE84B6CB-F6FA-C407-FD5D-ED1F577C4E3A}"/>
              </a:ext>
            </a:extLst>
          </p:cNvPr>
          <p:cNvCxnSpPr/>
          <p:nvPr/>
        </p:nvCxnSpPr>
        <p:spPr>
          <a:xfrm>
            <a:off x="1899920" y="2814320"/>
            <a:ext cx="162560" cy="21336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5" name="直接箭头连接符 14">
            <a:extLst>
              <a:ext uri="{FF2B5EF4-FFF2-40B4-BE49-F238E27FC236}">
                <a16:creationId xmlns:a16="http://schemas.microsoft.com/office/drawing/2014/main" id="{2F57CBF1-AA1D-291A-86FE-D95A9500EA5D}"/>
              </a:ext>
            </a:extLst>
          </p:cNvPr>
          <p:cNvCxnSpPr/>
          <p:nvPr/>
        </p:nvCxnSpPr>
        <p:spPr>
          <a:xfrm>
            <a:off x="2682240" y="2377440"/>
            <a:ext cx="91440" cy="19304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7" name="直接箭头连接符 16">
            <a:extLst>
              <a:ext uri="{FF2B5EF4-FFF2-40B4-BE49-F238E27FC236}">
                <a16:creationId xmlns:a16="http://schemas.microsoft.com/office/drawing/2014/main" id="{BD93219D-2D3D-D1FF-904E-FE5490A1EC2A}"/>
              </a:ext>
            </a:extLst>
          </p:cNvPr>
          <p:cNvCxnSpPr/>
          <p:nvPr/>
        </p:nvCxnSpPr>
        <p:spPr>
          <a:xfrm flipH="1">
            <a:off x="4612640" y="1808480"/>
            <a:ext cx="172720" cy="13208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9" name="直接箭头连接符 18">
            <a:extLst>
              <a:ext uri="{FF2B5EF4-FFF2-40B4-BE49-F238E27FC236}">
                <a16:creationId xmlns:a16="http://schemas.microsoft.com/office/drawing/2014/main" id="{2841F258-F934-592F-0C0F-9182C05FE2E7}"/>
              </a:ext>
            </a:extLst>
          </p:cNvPr>
          <p:cNvCxnSpPr>
            <a:cxnSpLocks/>
          </p:cNvCxnSpPr>
          <p:nvPr/>
        </p:nvCxnSpPr>
        <p:spPr>
          <a:xfrm>
            <a:off x="3307080" y="2123440"/>
            <a:ext cx="101600" cy="17272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1" name="直接箭头连接符 20">
            <a:extLst>
              <a:ext uri="{FF2B5EF4-FFF2-40B4-BE49-F238E27FC236}">
                <a16:creationId xmlns:a16="http://schemas.microsoft.com/office/drawing/2014/main" id="{E4D30D76-1720-7DDD-9EF3-9BDAE3C8C924}"/>
              </a:ext>
            </a:extLst>
          </p:cNvPr>
          <p:cNvCxnSpPr>
            <a:cxnSpLocks/>
          </p:cNvCxnSpPr>
          <p:nvPr/>
        </p:nvCxnSpPr>
        <p:spPr>
          <a:xfrm flipH="1">
            <a:off x="4958080" y="2473960"/>
            <a:ext cx="170180" cy="9652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5" name="直接箭头连接符 24">
            <a:extLst>
              <a:ext uri="{FF2B5EF4-FFF2-40B4-BE49-F238E27FC236}">
                <a16:creationId xmlns:a16="http://schemas.microsoft.com/office/drawing/2014/main" id="{CBFB9CFB-9DA8-BB87-F89E-679DC4BE3930}"/>
              </a:ext>
            </a:extLst>
          </p:cNvPr>
          <p:cNvCxnSpPr/>
          <p:nvPr/>
        </p:nvCxnSpPr>
        <p:spPr>
          <a:xfrm flipH="1">
            <a:off x="5598160" y="3429000"/>
            <a:ext cx="15240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7" name="直接箭头连接符 26">
            <a:extLst>
              <a:ext uri="{FF2B5EF4-FFF2-40B4-BE49-F238E27FC236}">
                <a16:creationId xmlns:a16="http://schemas.microsoft.com/office/drawing/2014/main" id="{71796E99-205E-3B45-286E-E8CF2FBB07A1}"/>
              </a:ext>
            </a:extLst>
          </p:cNvPr>
          <p:cNvCxnSpPr/>
          <p:nvPr/>
        </p:nvCxnSpPr>
        <p:spPr>
          <a:xfrm flipH="1" flipV="1">
            <a:off x="3352800" y="4958080"/>
            <a:ext cx="101600" cy="16256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9" name="直接箭头连接符 28">
            <a:extLst>
              <a:ext uri="{FF2B5EF4-FFF2-40B4-BE49-F238E27FC236}">
                <a16:creationId xmlns:a16="http://schemas.microsoft.com/office/drawing/2014/main" id="{5ED73D5E-D585-DA90-AAA7-19E365B26F52}"/>
              </a:ext>
            </a:extLst>
          </p:cNvPr>
          <p:cNvCxnSpPr/>
          <p:nvPr/>
        </p:nvCxnSpPr>
        <p:spPr>
          <a:xfrm>
            <a:off x="934720" y="3627120"/>
            <a:ext cx="142240" cy="17272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1" name="直接箭头连接符 30">
            <a:extLst>
              <a:ext uri="{FF2B5EF4-FFF2-40B4-BE49-F238E27FC236}">
                <a16:creationId xmlns:a16="http://schemas.microsoft.com/office/drawing/2014/main" id="{53347911-2D39-7B53-4B89-3F35C24FB28B}"/>
              </a:ext>
            </a:extLst>
          </p:cNvPr>
          <p:cNvCxnSpPr/>
          <p:nvPr/>
        </p:nvCxnSpPr>
        <p:spPr>
          <a:xfrm flipV="1">
            <a:off x="782320" y="4622800"/>
            <a:ext cx="152400" cy="9144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3" name="直接箭头连接符 32">
            <a:extLst>
              <a:ext uri="{FF2B5EF4-FFF2-40B4-BE49-F238E27FC236}">
                <a16:creationId xmlns:a16="http://schemas.microsoft.com/office/drawing/2014/main" id="{E3842E3A-C063-F48A-DA32-5494BE2AEADB}"/>
              </a:ext>
            </a:extLst>
          </p:cNvPr>
          <p:cNvCxnSpPr/>
          <p:nvPr/>
        </p:nvCxnSpPr>
        <p:spPr>
          <a:xfrm flipV="1">
            <a:off x="1005840" y="4958080"/>
            <a:ext cx="203200" cy="16256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5" name="直接箭头连接符 34">
            <a:extLst>
              <a:ext uri="{FF2B5EF4-FFF2-40B4-BE49-F238E27FC236}">
                <a16:creationId xmlns:a16="http://schemas.microsoft.com/office/drawing/2014/main" id="{8564003E-733C-52DE-F7F5-754402A9A06D}"/>
              </a:ext>
            </a:extLst>
          </p:cNvPr>
          <p:cNvCxnSpPr/>
          <p:nvPr/>
        </p:nvCxnSpPr>
        <p:spPr>
          <a:xfrm flipV="1">
            <a:off x="1452880" y="5445760"/>
            <a:ext cx="203200" cy="15240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7" name="直接箭头连接符 36">
            <a:extLst>
              <a:ext uri="{FF2B5EF4-FFF2-40B4-BE49-F238E27FC236}">
                <a16:creationId xmlns:a16="http://schemas.microsoft.com/office/drawing/2014/main" id="{0E8E0A64-C4C6-8F35-9E8B-4E4774B49FBB}"/>
              </a:ext>
            </a:extLst>
          </p:cNvPr>
          <p:cNvCxnSpPr/>
          <p:nvPr/>
        </p:nvCxnSpPr>
        <p:spPr>
          <a:xfrm flipH="1" flipV="1">
            <a:off x="4699000" y="4450080"/>
            <a:ext cx="167640" cy="26416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1" name="直接箭头连接符 40">
            <a:extLst>
              <a:ext uri="{FF2B5EF4-FFF2-40B4-BE49-F238E27FC236}">
                <a16:creationId xmlns:a16="http://schemas.microsoft.com/office/drawing/2014/main" id="{854BEDAB-6AED-C511-3910-DC451E152C63}"/>
              </a:ext>
            </a:extLst>
          </p:cNvPr>
          <p:cNvCxnSpPr/>
          <p:nvPr/>
        </p:nvCxnSpPr>
        <p:spPr>
          <a:xfrm>
            <a:off x="518160" y="4135120"/>
            <a:ext cx="19304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43" name="文本框 42">
            <a:extLst>
              <a:ext uri="{FF2B5EF4-FFF2-40B4-BE49-F238E27FC236}">
                <a16:creationId xmlns:a16="http://schemas.microsoft.com/office/drawing/2014/main" id="{B05EAE54-E6F5-135B-42C0-F6A736304131}"/>
              </a:ext>
            </a:extLst>
          </p:cNvPr>
          <p:cNvSpPr txBox="1"/>
          <p:nvPr/>
        </p:nvSpPr>
        <p:spPr>
          <a:xfrm>
            <a:off x="388937" y="1614289"/>
            <a:ext cx="3262432" cy="584775"/>
          </a:xfrm>
          <a:prstGeom prst="rect">
            <a:avLst/>
          </a:prstGeom>
          <a:solidFill>
            <a:schemeClr val="bg1"/>
          </a:solidFill>
        </p:spPr>
        <p:txBody>
          <a:bodyPr wrap="none" rtlCol="0">
            <a:spAutoFit/>
          </a:bodyPr>
          <a:lstStyle/>
          <a:p>
            <a:r>
              <a:rPr lang="en-US" altLang="zh-CN" sz="1600" dirty="0">
                <a:solidFill>
                  <a:srgbClr val="FF0000"/>
                </a:solidFill>
                <a:latin typeface="Arial" panose="020B0604020202020204" pitchFamily="34" charset="0"/>
                <a:cs typeface="Arial" panose="020B0604020202020204" pitchFamily="34" charset="0"/>
              </a:rPr>
              <a:t>Replacement domain forms rim</a:t>
            </a:r>
          </a:p>
          <a:p>
            <a:r>
              <a:rPr lang="en-US" altLang="zh-CN" sz="1600" dirty="0">
                <a:solidFill>
                  <a:srgbClr val="FF0000"/>
                </a:solidFill>
                <a:latin typeface="Arial" panose="020B0604020202020204" pitchFamily="34" charset="0"/>
                <a:cs typeface="Arial" panose="020B0604020202020204" pitchFamily="34" charset="0"/>
              </a:rPr>
              <a:t>Replacement occurs</a:t>
            </a:r>
            <a:r>
              <a:rPr lang="zh-CN" altLang="en-US" sz="1600" dirty="0">
                <a:solidFill>
                  <a:srgbClr val="FF0000"/>
                </a:solidFill>
                <a:latin typeface="Arial" panose="020B0604020202020204" pitchFamily="34" charset="0"/>
                <a:cs typeface="Arial" panose="020B0604020202020204" pitchFamily="34" charset="0"/>
              </a:rPr>
              <a:t> </a:t>
            </a:r>
            <a:r>
              <a:rPr lang="en-US" altLang="zh-CN" sz="1600" dirty="0">
                <a:solidFill>
                  <a:srgbClr val="FF0000"/>
                </a:solidFill>
                <a:latin typeface="Arial" panose="020B0604020202020204" pitchFamily="34" charset="0"/>
                <a:cs typeface="Arial" panose="020B0604020202020204" pitchFamily="34" charset="0"/>
              </a:rPr>
              <a:t>along</a:t>
            </a:r>
            <a:r>
              <a:rPr lang="zh-CN" altLang="en-US" sz="1600" dirty="0">
                <a:solidFill>
                  <a:srgbClr val="FF0000"/>
                </a:solidFill>
                <a:latin typeface="Arial" panose="020B0604020202020204" pitchFamily="34" charset="0"/>
                <a:cs typeface="Arial" panose="020B0604020202020204" pitchFamily="34" charset="0"/>
              </a:rPr>
              <a:t> </a:t>
            </a:r>
            <a:r>
              <a:rPr lang="en-US" altLang="zh-CN" sz="1600" dirty="0">
                <a:solidFill>
                  <a:srgbClr val="FF0000"/>
                </a:solidFill>
                <a:latin typeface="Arial" panose="020B0604020202020204" pitchFamily="34" charset="0"/>
                <a:cs typeface="Arial" panose="020B0604020202020204" pitchFamily="34" charset="0"/>
              </a:rPr>
              <a:t>cracks</a:t>
            </a:r>
          </a:p>
        </p:txBody>
      </p:sp>
      <p:sp>
        <p:nvSpPr>
          <p:cNvPr id="44" name="文本框 43">
            <a:extLst>
              <a:ext uri="{FF2B5EF4-FFF2-40B4-BE49-F238E27FC236}">
                <a16:creationId xmlns:a16="http://schemas.microsoft.com/office/drawing/2014/main" id="{A090A868-3042-CC68-3DFD-37FC36242CEF}"/>
              </a:ext>
            </a:extLst>
          </p:cNvPr>
          <p:cNvSpPr txBox="1"/>
          <p:nvPr/>
        </p:nvSpPr>
        <p:spPr>
          <a:xfrm>
            <a:off x="6095999" y="1587520"/>
            <a:ext cx="2997201" cy="830997"/>
          </a:xfrm>
          <a:prstGeom prst="rect">
            <a:avLst/>
          </a:prstGeom>
          <a:solidFill>
            <a:schemeClr val="bg1"/>
          </a:solidFill>
        </p:spPr>
        <p:txBody>
          <a:bodyPr wrap="square" rtlCol="0">
            <a:spAutoFit/>
          </a:bodyPr>
          <a:lstStyle/>
          <a:p>
            <a:r>
              <a:rPr lang="en-US" altLang="zh-CN" sz="1600" dirty="0">
                <a:solidFill>
                  <a:srgbClr val="FF0000"/>
                </a:solidFill>
                <a:latin typeface="Arial" panose="020B0604020202020204" pitchFamily="34" charset="0"/>
                <a:cs typeface="Arial" panose="020B0604020202020204" pitchFamily="34" charset="0"/>
              </a:rPr>
              <a:t>Replacement domains are homogeneous and have porous texture.</a:t>
            </a:r>
          </a:p>
        </p:txBody>
      </p:sp>
      <p:sp>
        <p:nvSpPr>
          <p:cNvPr id="45" name="文本框 44">
            <a:extLst>
              <a:ext uri="{FF2B5EF4-FFF2-40B4-BE49-F238E27FC236}">
                <a16:creationId xmlns:a16="http://schemas.microsoft.com/office/drawing/2014/main" id="{56EB7BF8-C319-2C64-6107-A95BF39FC13E}"/>
              </a:ext>
            </a:extLst>
          </p:cNvPr>
          <p:cNvSpPr txBox="1"/>
          <p:nvPr/>
        </p:nvSpPr>
        <p:spPr>
          <a:xfrm>
            <a:off x="772160" y="6536115"/>
            <a:ext cx="6096000" cy="369332"/>
          </a:xfrm>
          <a:prstGeom prst="rect">
            <a:avLst/>
          </a:prstGeom>
          <a:noFill/>
        </p:spPr>
        <p:txBody>
          <a:bodyPr wrap="square">
            <a:spAutoFit/>
          </a:bodyPr>
          <a:lstStyle/>
          <a:p>
            <a:r>
              <a:rPr lang="en-US" altLang="zh-CN">
                <a:latin typeface="Arial"/>
                <a:cs typeface="Arial"/>
              </a:rPr>
              <a:t>7 days at 800° C and 1m </a:t>
            </a:r>
            <a:r>
              <a:rPr lang="en-US" altLang="zh-CN" err="1">
                <a:latin typeface="Arial"/>
                <a:cs typeface="Arial"/>
              </a:rPr>
              <a:t>NaF</a:t>
            </a:r>
            <a:endParaRPr lang="zh-CN" altLang="en-US"/>
          </a:p>
        </p:txBody>
      </p:sp>
    </p:spTree>
    <p:extLst>
      <p:ext uri="{BB962C8B-B14F-4D97-AF65-F5344CB8AC3E}">
        <p14:creationId xmlns:p14="http://schemas.microsoft.com/office/powerpoint/2010/main" val="24948959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9B20329-C4AE-F116-ADFA-0EDABEA28627}"/>
              </a:ext>
            </a:extLst>
          </p:cNvPr>
          <p:cNvSpPr>
            <a:spLocks noGrp="1"/>
          </p:cNvSpPr>
          <p:nvPr>
            <p:ph type="title"/>
          </p:nvPr>
        </p:nvSpPr>
        <p:spPr/>
        <p:txBody>
          <a:bodyPr/>
          <a:lstStyle/>
          <a:p>
            <a:pPr algn="ctr"/>
            <a:r>
              <a:rPr lang="en-US" altLang="zh-CN" dirty="0">
                <a:latin typeface="Arial" panose="020B0604020202020204" pitchFamily="34" charset="0"/>
                <a:cs typeface="Arial" panose="020B0604020202020204" pitchFamily="34" charset="0"/>
              </a:rPr>
              <a:t>Raman spectroscopy of different domains</a:t>
            </a:r>
            <a:endParaRPr lang="zh-CN" altLang="en-US" dirty="0">
              <a:latin typeface="Arial" panose="020B0604020202020204" pitchFamily="34" charset="0"/>
              <a:cs typeface="Arial" panose="020B0604020202020204" pitchFamily="34" charset="0"/>
            </a:endParaRPr>
          </a:p>
        </p:txBody>
      </p:sp>
      <p:pic>
        <p:nvPicPr>
          <p:cNvPr id="12" name="内容占位符 11" descr="图表, 图示&#10;&#10;AI 生成的内容可能不正确。">
            <a:extLst>
              <a:ext uri="{FF2B5EF4-FFF2-40B4-BE49-F238E27FC236}">
                <a16:creationId xmlns:a16="http://schemas.microsoft.com/office/drawing/2014/main" id="{9B0ABA12-2B88-32EA-D032-6C7347FD5FAB}"/>
              </a:ext>
            </a:extLst>
          </p:cNvPr>
          <p:cNvPicPr>
            <a:picLocks noGrp="1" noChangeAspect="1"/>
          </p:cNvPicPr>
          <p:nvPr>
            <p:ph sz="half" idx="1"/>
          </p:nvPr>
        </p:nvPicPr>
        <p:blipFill>
          <a:blip r:embed="rId2" cstate="print">
            <a:extLst>
              <a:ext uri="{28A0092B-C50C-407E-A947-70E740481C1C}">
                <a14:useLocalDpi xmlns:a14="http://schemas.microsoft.com/office/drawing/2010/main"/>
              </a:ext>
            </a:extLst>
          </a:blip>
          <a:stretch>
            <a:fillRect/>
          </a:stretch>
        </p:blipFill>
        <p:spPr>
          <a:xfrm>
            <a:off x="6871773" y="1883728"/>
            <a:ext cx="4619242" cy="4351338"/>
          </a:xfrm>
        </p:spPr>
      </p:pic>
      <p:grpSp>
        <p:nvGrpSpPr>
          <p:cNvPr id="22" name="组合 21">
            <a:extLst>
              <a:ext uri="{FF2B5EF4-FFF2-40B4-BE49-F238E27FC236}">
                <a16:creationId xmlns:a16="http://schemas.microsoft.com/office/drawing/2014/main" id="{69A233AD-054A-5458-61FF-60753226F5EA}"/>
              </a:ext>
            </a:extLst>
          </p:cNvPr>
          <p:cNvGrpSpPr/>
          <p:nvPr/>
        </p:nvGrpSpPr>
        <p:grpSpPr>
          <a:xfrm>
            <a:off x="685533" y="1883728"/>
            <a:ext cx="6528067" cy="4396885"/>
            <a:chOff x="756653" y="1416368"/>
            <a:chExt cx="6528067" cy="4396885"/>
          </a:xfrm>
        </p:grpSpPr>
        <p:grpSp>
          <p:nvGrpSpPr>
            <p:cNvPr id="5" name="Group 1">
              <a:extLst>
                <a:ext uri="{FF2B5EF4-FFF2-40B4-BE49-F238E27FC236}">
                  <a16:creationId xmlns:a16="http://schemas.microsoft.com/office/drawing/2014/main" id="{93D1907B-BBFF-FCC3-2AF0-8EF4BAEF90DC}"/>
                </a:ext>
              </a:extLst>
            </p:cNvPr>
            <p:cNvGrpSpPr/>
            <p:nvPr/>
          </p:nvGrpSpPr>
          <p:grpSpPr>
            <a:xfrm>
              <a:off x="756653" y="1416368"/>
              <a:ext cx="5660727" cy="4396885"/>
              <a:chOff x="2895600" y="654050"/>
              <a:chExt cx="6400800" cy="5549900"/>
            </a:xfrm>
          </p:grpSpPr>
          <p:pic>
            <p:nvPicPr>
              <p:cNvPr id="6" name="Picture 2">
                <a:extLst>
                  <a:ext uri="{FF2B5EF4-FFF2-40B4-BE49-F238E27FC236}">
                    <a16:creationId xmlns:a16="http://schemas.microsoft.com/office/drawing/2014/main" id="{6ABB7254-4AAE-352C-1EE2-6D7BE54372BE}"/>
                  </a:ext>
                </a:extLst>
              </p:cNvPr>
              <p:cNvPicPr>
                <a:picLocks noChangeAspect="1"/>
              </p:cNvPicPr>
              <p:nvPr/>
            </p:nvPicPr>
            <p:blipFill>
              <a:blip r:embed="rId3"/>
              <a:srcRect/>
              <a:stretch/>
            </p:blipFill>
            <p:spPr>
              <a:xfrm>
                <a:off x="2895600" y="654050"/>
                <a:ext cx="6400800" cy="5549900"/>
              </a:xfrm>
              <a:prstGeom prst="rect">
                <a:avLst/>
              </a:prstGeom>
            </p:spPr>
          </p:pic>
          <p:cxnSp>
            <p:nvCxnSpPr>
              <p:cNvPr id="7" name="Straight Connector 5">
                <a:extLst>
                  <a:ext uri="{FF2B5EF4-FFF2-40B4-BE49-F238E27FC236}">
                    <a16:creationId xmlns:a16="http://schemas.microsoft.com/office/drawing/2014/main" id="{F2B03BC7-6C10-8538-F8C0-0F916713F8C1}"/>
                  </a:ext>
                </a:extLst>
              </p:cNvPr>
              <p:cNvCxnSpPr>
                <a:cxnSpLocks/>
              </p:cNvCxnSpPr>
              <p:nvPr/>
            </p:nvCxnSpPr>
            <p:spPr>
              <a:xfrm>
                <a:off x="7876965" y="1766547"/>
                <a:ext cx="0" cy="787810"/>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grpSp>
        <p:cxnSp>
          <p:nvCxnSpPr>
            <p:cNvPr id="16" name="直接箭头连接符 15">
              <a:extLst>
                <a:ext uri="{FF2B5EF4-FFF2-40B4-BE49-F238E27FC236}">
                  <a16:creationId xmlns:a16="http://schemas.microsoft.com/office/drawing/2014/main" id="{4A7585CD-BAC1-79CC-C9A4-5874C3E5B660}"/>
                </a:ext>
              </a:extLst>
            </p:cNvPr>
            <p:cNvCxnSpPr/>
            <p:nvPr/>
          </p:nvCxnSpPr>
          <p:spPr>
            <a:xfrm>
              <a:off x="5242560" y="2921878"/>
              <a:ext cx="2042160" cy="2097162"/>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18" name="直接箭头连接符 17">
              <a:extLst>
                <a:ext uri="{FF2B5EF4-FFF2-40B4-BE49-F238E27FC236}">
                  <a16:creationId xmlns:a16="http://schemas.microsoft.com/office/drawing/2014/main" id="{233ADE2E-616C-4D41-26C0-E7B469DA292D}"/>
                </a:ext>
              </a:extLst>
            </p:cNvPr>
            <p:cNvCxnSpPr>
              <a:cxnSpLocks/>
            </p:cNvCxnSpPr>
            <p:nvPr/>
          </p:nvCxnSpPr>
          <p:spPr>
            <a:xfrm>
              <a:off x="5249108" y="2377440"/>
              <a:ext cx="2035612" cy="544438"/>
            </a:xfrm>
            <a:prstGeom prst="straightConnector1">
              <a:avLst/>
            </a:prstGeom>
            <a:ln>
              <a:solidFill>
                <a:schemeClr val="bg2">
                  <a:lumMod val="90000"/>
                </a:schemeClr>
              </a:solidFill>
              <a:tailEnd type="triangle"/>
            </a:ln>
          </p:spPr>
          <p:style>
            <a:lnRef idx="2">
              <a:schemeClr val="accent1"/>
            </a:lnRef>
            <a:fillRef idx="0">
              <a:schemeClr val="accent1"/>
            </a:fillRef>
            <a:effectRef idx="1">
              <a:schemeClr val="accent1"/>
            </a:effectRef>
            <a:fontRef idx="minor">
              <a:schemeClr val="tx1"/>
            </a:fontRef>
          </p:style>
        </p:cxnSp>
      </p:grpSp>
      <p:sp>
        <p:nvSpPr>
          <p:cNvPr id="3" name="TextBox 2">
            <a:extLst>
              <a:ext uri="{FF2B5EF4-FFF2-40B4-BE49-F238E27FC236}">
                <a16:creationId xmlns:a16="http://schemas.microsoft.com/office/drawing/2014/main" id="{C243819C-79A0-4EAC-9B03-5C393551EBF7}"/>
              </a:ext>
            </a:extLst>
          </p:cNvPr>
          <p:cNvSpPr txBox="1"/>
          <p:nvPr/>
        </p:nvSpPr>
        <p:spPr>
          <a:xfrm>
            <a:off x="6871773" y="1371600"/>
            <a:ext cx="4737194" cy="369332"/>
          </a:xfrm>
          <a:prstGeom prst="rect">
            <a:avLst/>
          </a:prstGeom>
          <a:noFill/>
        </p:spPr>
        <p:txBody>
          <a:bodyPr wrap="none" rtlCol="0">
            <a:spAutoFit/>
          </a:bodyPr>
          <a:lstStyle/>
          <a:p>
            <a:r>
              <a:rPr lang="en-US" dirty="0"/>
              <a:t>Replacement domain is perfectly crystalline!</a:t>
            </a:r>
          </a:p>
        </p:txBody>
      </p:sp>
    </p:spTree>
    <p:extLst>
      <p:ext uri="{BB962C8B-B14F-4D97-AF65-F5344CB8AC3E}">
        <p14:creationId xmlns:p14="http://schemas.microsoft.com/office/powerpoint/2010/main" val="38206007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内容占位符 5" descr="图形用户界面&#10;&#10;AI 生成的内容可能不正确。">
            <a:extLst>
              <a:ext uri="{FF2B5EF4-FFF2-40B4-BE49-F238E27FC236}">
                <a16:creationId xmlns:a16="http://schemas.microsoft.com/office/drawing/2014/main" id="{7584C157-9C07-4097-3886-B5AB55662BCE}"/>
              </a:ext>
            </a:extLst>
          </p:cNvPr>
          <p:cNvPicPr>
            <a:picLocks noGrp="1" noChangeAspect="1"/>
          </p:cNvPicPr>
          <p:nvPr>
            <p:ph sz="half" idx="1"/>
          </p:nvPr>
        </p:nvPicPr>
        <p:blipFill>
          <a:blip r:embed="rId3" cstate="print">
            <a:extLst>
              <a:ext uri="{28A0092B-C50C-407E-A947-70E740481C1C}">
                <a14:useLocalDpi xmlns:a14="http://schemas.microsoft.com/office/drawing/2010/main"/>
              </a:ext>
            </a:extLst>
          </a:blip>
          <a:stretch>
            <a:fillRect/>
          </a:stretch>
        </p:blipFill>
        <p:spPr>
          <a:xfrm>
            <a:off x="914400" y="562552"/>
            <a:ext cx="5181600" cy="1901504"/>
          </a:xfrm>
        </p:spPr>
      </p:pic>
      <p:pic>
        <p:nvPicPr>
          <p:cNvPr id="8" name="内容占位符 7" descr="图形用户界面&#10;&#10;AI 生成的内容可能不正确。">
            <a:extLst>
              <a:ext uri="{FF2B5EF4-FFF2-40B4-BE49-F238E27FC236}">
                <a16:creationId xmlns:a16="http://schemas.microsoft.com/office/drawing/2014/main" id="{5377BE8E-944E-6EAE-DA64-CE460DA5FE27}"/>
              </a:ext>
            </a:extLst>
          </p:cNvPr>
          <p:cNvPicPr>
            <a:picLocks noGrp="1" noChangeAspect="1"/>
          </p:cNvPicPr>
          <p:nvPr>
            <p:ph sz="half" idx="2"/>
          </p:nvPr>
        </p:nvPicPr>
        <p:blipFill>
          <a:blip r:embed="rId4" cstate="print">
            <a:extLst>
              <a:ext uri="{28A0092B-C50C-407E-A947-70E740481C1C}">
                <a14:useLocalDpi xmlns:a14="http://schemas.microsoft.com/office/drawing/2010/main"/>
              </a:ext>
            </a:extLst>
          </a:blip>
          <a:stretch>
            <a:fillRect/>
          </a:stretch>
        </p:blipFill>
        <p:spPr>
          <a:xfrm>
            <a:off x="914400" y="4483236"/>
            <a:ext cx="5181600" cy="1880750"/>
          </a:xfrm>
        </p:spPr>
      </p:pic>
      <p:pic>
        <p:nvPicPr>
          <p:cNvPr id="10" name="图片 9" descr="图形用户界面, 应用程序&#10;&#10;AI 生成的内容可能不正确。">
            <a:extLst>
              <a:ext uri="{FF2B5EF4-FFF2-40B4-BE49-F238E27FC236}">
                <a16:creationId xmlns:a16="http://schemas.microsoft.com/office/drawing/2014/main" id="{A5C0E0BE-7D98-3B94-DD67-0ABEF0222AA8}"/>
              </a:ext>
            </a:extLst>
          </p:cNvPr>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914400" y="2540766"/>
            <a:ext cx="5180400" cy="1865760"/>
          </a:xfrm>
          <a:prstGeom prst="rect">
            <a:avLst/>
          </a:prstGeom>
        </p:spPr>
      </p:pic>
      <p:graphicFrame>
        <p:nvGraphicFramePr>
          <p:cNvPr id="14" name="内容占位符 3">
            <a:extLst>
              <a:ext uri="{FF2B5EF4-FFF2-40B4-BE49-F238E27FC236}">
                <a16:creationId xmlns:a16="http://schemas.microsoft.com/office/drawing/2014/main" id="{1AF06E32-CAE6-F939-1056-9D5332114E42}"/>
              </a:ext>
            </a:extLst>
          </p:cNvPr>
          <p:cNvGraphicFramePr/>
          <p:nvPr/>
        </p:nvGraphicFramePr>
        <p:xfrm>
          <a:off x="6282048" y="523081"/>
          <a:ext cx="5181600" cy="5811838"/>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
        <p:nvSpPr>
          <p:cNvPr id="2" name="矩形 1">
            <a:extLst>
              <a:ext uri="{FF2B5EF4-FFF2-40B4-BE49-F238E27FC236}">
                <a16:creationId xmlns:a16="http://schemas.microsoft.com/office/drawing/2014/main" id="{ED9C0AF1-9014-0B2D-4D49-F7BF68C11A2C}"/>
              </a:ext>
            </a:extLst>
          </p:cNvPr>
          <p:cNvSpPr/>
          <p:nvPr/>
        </p:nvSpPr>
        <p:spPr>
          <a:xfrm>
            <a:off x="1050471" y="562552"/>
            <a:ext cx="468086" cy="234241"/>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a:extLst>
              <a:ext uri="{FF2B5EF4-FFF2-40B4-BE49-F238E27FC236}">
                <a16:creationId xmlns:a16="http://schemas.microsoft.com/office/drawing/2014/main" id="{F6303CCB-4C6B-08FF-1F76-7EA63C120E49}"/>
              </a:ext>
            </a:extLst>
          </p:cNvPr>
          <p:cNvSpPr/>
          <p:nvPr/>
        </p:nvSpPr>
        <p:spPr>
          <a:xfrm>
            <a:off x="2906980" y="2540766"/>
            <a:ext cx="468086" cy="234241"/>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a:extLst>
              <a:ext uri="{FF2B5EF4-FFF2-40B4-BE49-F238E27FC236}">
                <a16:creationId xmlns:a16="http://schemas.microsoft.com/office/drawing/2014/main" id="{FA21A17B-8497-F770-BF62-236C61BB5DF7}"/>
              </a:ext>
            </a:extLst>
          </p:cNvPr>
          <p:cNvSpPr/>
          <p:nvPr/>
        </p:nvSpPr>
        <p:spPr>
          <a:xfrm>
            <a:off x="1050471" y="4483236"/>
            <a:ext cx="468086" cy="234241"/>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a:extLst>
              <a:ext uri="{FF2B5EF4-FFF2-40B4-BE49-F238E27FC236}">
                <a16:creationId xmlns:a16="http://schemas.microsoft.com/office/drawing/2014/main" id="{02EC8484-D97B-68BE-72ED-C6A6000F0052}"/>
              </a:ext>
            </a:extLst>
          </p:cNvPr>
          <p:cNvSpPr txBox="1"/>
          <p:nvPr/>
        </p:nvSpPr>
        <p:spPr>
          <a:xfrm>
            <a:off x="0" y="1328638"/>
            <a:ext cx="864339" cy="369332"/>
          </a:xfrm>
          <a:prstGeom prst="rect">
            <a:avLst/>
          </a:prstGeom>
          <a:noFill/>
        </p:spPr>
        <p:txBody>
          <a:bodyPr wrap="none" rtlCol="0">
            <a:spAutoFit/>
          </a:bodyPr>
          <a:lstStyle/>
          <a:p>
            <a:r>
              <a:rPr lang="en-US" altLang="zh-CN">
                <a:latin typeface="Arial" panose="020B0604020202020204" pitchFamily="34" charset="0"/>
                <a:cs typeface="Arial" panose="020B0604020202020204" pitchFamily="34" charset="0"/>
              </a:rPr>
              <a:t>3 days</a:t>
            </a:r>
            <a:endParaRPr lang="zh-CN" altLang="en-US">
              <a:latin typeface="Arial" panose="020B0604020202020204" pitchFamily="34" charset="0"/>
              <a:cs typeface="Arial" panose="020B0604020202020204" pitchFamily="34" charset="0"/>
            </a:endParaRPr>
          </a:p>
        </p:txBody>
      </p:sp>
      <p:sp>
        <p:nvSpPr>
          <p:cNvPr id="7" name="文本框 6">
            <a:extLst>
              <a:ext uri="{FF2B5EF4-FFF2-40B4-BE49-F238E27FC236}">
                <a16:creationId xmlns:a16="http://schemas.microsoft.com/office/drawing/2014/main" id="{E565E5A2-8426-63AE-CD4A-F4877F7CE4BB}"/>
              </a:ext>
            </a:extLst>
          </p:cNvPr>
          <p:cNvSpPr txBox="1"/>
          <p:nvPr/>
        </p:nvSpPr>
        <p:spPr>
          <a:xfrm>
            <a:off x="0" y="3288980"/>
            <a:ext cx="864339" cy="369332"/>
          </a:xfrm>
          <a:prstGeom prst="rect">
            <a:avLst/>
          </a:prstGeom>
          <a:noFill/>
        </p:spPr>
        <p:txBody>
          <a:bodyPr wrap="none" rtlCol="0">
            <a:spAutoFit/>
          </a:bodyPr>
          <a:lstStyle/>
          <a:p>
            <a:r>
              <a:rPr lang="en-US" altLang="zh-CN">
                <a:latin typeface="Arial" panose="020B0604020202020204" pitchFamily="34" charset="0"/>
                <a:cs typeface="Arial" panose="020B0604020202020204" pitchFamily="34" charset="0"/>
              </a:rPr>
              <a:t>7 days</a:t>
            </a:r>
            <a:endParaRPr lang="zh-CN" altLang="en-US">
              <a:latin typeface="Arial" panose="020B0604020202020204" pitchFamily="34" charset="0"/>
              <a:cs typeface="Arial" panose="020B0604020202020204" pitchFamily="34" charset="0"/>
            </a:endParaRPr>
          </a:p>
        </p:txBody>
      </p:sp>
      <p:sp>
        <p:nvSpPr>
          <p:cNvPr id="9" name="文本框 8">
            <a:extLst>
              <a:ext uri="{FF2B5EF4-FFF2-40B4-BE49-F238E27FC236}">
                <a16:creationId xmlns:a16="http://schemas.microsoft.com/office/drawing/2014/main" id="{4FC3A7AD-DDC8-0C3F-7E3F-740B893098CC}"/>
              </a:ext>
            </a:extLst>
          </p:cNvPr>
          <p:cNvSpPr txBox="1"/>
          <p:nvPr/>
        </p:nvSpPr>
        <p:spPr>
          <a:xfrm>
            <a:off x="-64121" y="5238945"/>
            <a:ext cx="992579" cy="369332"/>
          </a:xfrm>
          <a:prstGeom prst="rect">
            <a:avLst/>
          </a:prstGeom>
          <a:noFill/>
        </p:spPr>
        <p:txBody>
          <a:bodyPr wrap="none" rtlCol="0">
            <a:spAutoFit/>
          </a:bodyPr>
          <a:lstStyle/>
          <a:p>
            <a:r>
              <a:rPr lang="en-US" altLang="zh-CN">
                <a:latin typeface="Arial" panose="020B0604020202020204" pitchFamily="34" charset="0"/>
                <a:cs typeface="Arial" panose="020B0604020202020204" pitchFamily="34" charset="0"/>
              </a:rPr>
              <a:t>19 days</a:t>
            </a:r>
            <a:endParaRPr lang="zh-CN" altLang="en-US">
              <a:latin typeface="Arial" panose="020B0604020202020204" pitchFamily="34" charset="0"/>
              <a:cs typeface="Arial" panose="020B0604020202020204" pitchFamily="34" charset="0"/>
            </a:endParaRPr>
          </a:p>
        </p:txBody>
      </p:sp>
      <p:sp>
        <p:nvSpPr>
          <p:cNvPr id="11" name="文本框 10">
            <a:extLst>
              <a:ext uri="{FF2B5EF4-FFF2-40B4-BE49-F238E27FC236}">
                <a16:creationId xmlns:a16="http://schemas.microsoft.com/office/drawing/2014/main" id="{DF1D758E-2C89-4C2A-4787-86EA634B6355}"/>
              </a:ext>
            </a:extLst>
          </p:cNvPr>
          <p:cNvSpPr txBox="1"/>
          <p:nvPr/>
        </p:nvSpPr>
        <p:spPr>
          <a:xfrm>
            <a:off x="4516011" y="195174"/>
            <a:ext cx="479618" cy="369332"/>
          </a:xfrm>
          <a:prstGeom prst="rect">
            <a:avLst/>
          </a:prstGeom>
          <a:noFill/>
        </p:spPr>
        <p:txBody>
          <a:bodyPr wrap="none" rtlCol="0">
            <a:spAutoFit/>
          </a:bodyPr>
          <a:lstStyle/>
          <a:p>
            <a:r>
              <a:rPr lang="en-US" altLang="zh-CN">
                <a:latin typeface="Arial" panose="020B0604020202020204" pitchFamily="34" charset="0"/>
                <a:cs typeface="Arial" panose="020B0604020202020204" pitchFamily="34" charset="0"/>
              </a:rPr>
              <a:t>CL</a:t>
            </a:r>
            <a:endParaRPr lang="zh-CN" altLang="en-US">
              <a:latin typeface="Arial" panose="020B0604020202020204" pitchFamily="34" charset="0"/>
              <a:cs typeface="Arial" panose="020B0604020202020204" pitchFamily="34" charset="0"/>
            </a:endParaRPr>
          </a:p>
        </p:txBody>
      </p:sp>
      <p:sp>
        <p:nvSpPr>
          <p:cNvPr id="12" name="文本框 11">
            <a:extLst>
              <a:ext uri="{FF2B5EF4-FFF2-40B4-BE49-F238E27FC236}">
                <a16:creationId xmlns:a16="http://schemas.microsoft.com/office/drawing/2014/main" id="{A67DEA5B-1617-0C10-8C1B-E1C826A158C0}"/>
              </a:ext>
            </a:extLst>
          </p:cNvPr>
          <p:cNvSpPr txBox="1"/>
          <p:nvPr/>
        </p:nvSpPr>
        <p:spPr>
          <a:xfrm>
            <a:off x="1883837" y="191105"/>
            <a:ext cx="646331" cy="369332"/>
          </a:xfrm>
          <a:prstGeom prst="rect">
            <a:avLst/>
          </a:prstGeom>
          <a:noFill/>
        </p:spPr>
        <p:txBody>
          <a:bodyPr wrap="none" rtlCol="0">
            <a:spAutoFit/>
          </a:bodyPr>
          <a:lstStyle/>
          <a:p>
            <a:r>
              <a:rPr lang="en-US" altLang="zh-CN">
                <a:latin typeface="Arial" panose="020B0604020202020204" pitchFamily="34" charset="0"/>
                <a:cs typeface="Arial" panose="020B0604020202020204" pitchFamily="34" charset="0"/>
              </a:rPr>
              <a:t>BSE</a:t>
            </a:r>
            <a:endParaRPr lang="zh-CN"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094861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218393-C5AA-A3A8-5FD1-97DD0AA7617C}"/>
              </a:ext>
            </a:extLst>
          </p:cNvPr>
          <p:cNvSpPr>
            <a:spLocks noGrp="1"/>
          </p:cNvSpPr>
          <p:nvPr>
            <p:ph type="title"/>
          </p:nvPr>
        </p:nvSpPr>
        <p:spPr/>
        <p:txBody>
          <a:bodyPr/>
          <a:lstStyle/>
          <a:p>
            <a:pPr algn="ctr"/>
            <a:r>
              <a:rPr lang="en-US" dirty="0"/>
              <a:t>Stable Isotope Analysis</a:t>
            </a:r>
          </a:p>
        </p:txBody>
      </p:sp>
      <p:sp>
        <p:nvSpPr>
          <p:cNvPr id="3" name="Text Placeholder 2">
            <a:extLst>
              <a:ext uri="{FF2B5EF4-FFF2-40B4-BE49-F238E27FC236}">
                <a16:creationId xmlns:a16="http://schemas.microsoft.com/office/drawing/2014/main" id="{CE00A0A7-9811-8743-6D26-F8BAFCB25459}"/>
              </a:ext>
            </a:extLst>
          </p:cNvPr>
          <p:cNvSpPr>
            <a:spLocks noGrp="1"/>
          </p:cNvSpPr>
          <p:nvPr>
            <p:ph type="body" idx="1"/>
          </p:nvPr>
        </p:nvSpPr>
        <p:spPr/>
        <p:txBody>
          <a:bodyPr>
            <a:normAutofit fontScale="92500" lnSpcReduction="20000"/>
          </a:bodyPr>
          <a:lstStyle/>
          <a:p>
            <a:r>
              <a:rPr lang="en-US"/>
              <a:t>Picarro L2130-i: O and H isotopes of fluids</a:t>
            </a:r>
          </a:p>
        </p:txBody>
      </p:sp>
      <p:sp>
        <p:nvSpPr>
          <p:cNvPr id="5" name="Text Placeholder 4">
            <a:extLst>
              <a:ext uri="{FF2B5EF4-FFF2-40B4-BE49-F238E27FC236}">
                <a16:creationId xmlns:a16="http://schemas.microsoft.com/office/drawing/2014/main" id="{0E49390F-6F88-9781-F1E2-F54B658844C4}"/>
              </a:ext>
            </a:extLst>
          </p:cNvPr>
          <p:cNvSpPr>
            <a:spLocks noGrp="1"/>
          </p:cNvSpPr>
          <p:nvPr>
            <p:ph type="body" sz="quarter" idx="3"/>
          </p:nvPr>
        </p:nvSpPr>
        <p:spPr/>
        <p:txBody>
          <a:bodyPr>
            <a:normAutofit fontScale="92500" lnSpcReduction="20000"/>
          </a:bodyPr>
          <a:lstStyle/>
          <a:p>
            <a:r>
              <a:rPr lang="en-US"/>
              <a:t>Cameca </a:t>
            </a:r>
            <a:r>
              <a:rPr lang="en-US" err="1"/>
              <a:t>ims</a:t>
            </a:r>
            <a:r>
              <a:rPr lang="en-US"/>
              <a:t> 7f at Caltech: Si and O isotope composition of solids and quenched solutes</a:t>
            </a:r>
          </a:p>
        </p:txBody>
      </p:sp>
      <p:pic>
        <p:nvPicPr>
          <p:cNvPr id="8" name="Picture 2" descr="Instrument Image">
            <a:extLst>
              <a:ext uri="{FF2B5EF4-FFF2-40B4-BE49-F238E27FC236}">
                <a16:creationId xmlns:a16="http://schemas.microsoft.com/office/drawing/2014/main" id="{A77C49DC-4869-21A1-CE15-05CC6C7D73AF}"/>
              </a:ext>
            </a:extLst>
          </p:cNvPr>
          <p:cNvPicPr>
            <a:picLocks noGrp="1" noChangeAspect="1" noChangeArrowheads="1"/>
          </p:cNvPicPr>
          <p:nvPr>
            <p:ph sz="quarter" idx="4"/>
          </p:nvPr>
        </p:nvPicPr>
        <p:blipFill>
          <a:blip r:embed="rId2">
            <a:extLst>
              <a:ext uri="{28A0092B-C50C-407E-A947-70E740481C1C}">
                <a14:useLocalDpi xmlns:a14="http://schemas.microsoft.com/office/drawing/2010/main"/>
              </a:ext>
            </a:extLst>
          </a:blip>
          <a:srcRect/>
          <a:stretch>
            <a:fillRect/>
          </a:stretch>
        </p:blipFill>
        <p:spPr bwMode="auto">
          <a:xfrm>
            <a:off x="6858794" y="2918619"/>
            <a:ext cx="3810000" cy="2857500"/>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4">
            <a:extLst>
              <a:ext uri="{FF2B5EF4-FFF2-40B4-BE49-F238E27FC236}">
                <a16:creationId xmlns:a16="http://schemas.microsoft.com/office/drawing/2014/main" id="{CA944E90-3586-FAD1-C21E-97BB109B9880}"/>
              </a:ext>
            </a:extLst>
          </p:cNvPr>
          <p:cNvPicPr>
            <a:picLocks noGrp="1" noChangeAspect="1" noChangeArrowheads="1"/>
          </p:cNvPicPr>
          <p:nvPr>
            <p:ph sz="half" idx="2"/>
          </p:nvPr>
        </p:nvPicPr>
        <p:blipFill>
          <a:blip r:embed="rId3">
            <a:extLst>
              <a:ext uri="{28A0092B-C50C-407E-A947-70E740481C1C}">
                <a14:useLocalDpi xmlns:a14="http://schemas.microsoft.com/office/drawing/2010/main"/>
              </a:ext>
            </a:extLst>
          </a:blip>
          <a:srcRect/>
          <a:stretch>
            <a:fillRect/>
          </a:stretch>
        </p:blipFill>
        <p:spPr bwMode="auto">
          <a:xfrm>
            <a:off x="1923353" y="2505075"/>
            <a:ext cx="2990657" cy="36845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631525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7B33BF6-0E1C-557A-B7BC-105DD048DF81}"/>
              </a:ext>
            </a:extLst>
          </p:cNvPr>
          <p:cNvSpPr>
            <a:spLocks noGrp="1"/>
          </p:cNvSpPr>
          <p:nvPr>
            <p:ph type="title"/>
          </p:nvPr>
        </p:nvSpPr>
        <p:spPr/>
        <p:txBody>
          <a:bodyPr/>
          <a:lstStyle/>
          <a:p>
            <a:r>
              <a:rPr lang="en-US" altLang="zh-CN">
                <a:latin typeface="Arial" panose="020B0604020202020204" pitchFamily="34" charset="0"/>
                <a:cs typeface="Arial" panose="020B0604020202020204" pitchFamily="34" charset="0"/>
              </a:rPr>
              <a:t>Oxygen isotope results from capsule fluid</a:t>
            </a:r>
            <a:endParaRPr lang="zh-CN" altLang="en-US">
              <a:latin typeface="Arial" panose="020B0604020202020204" pitchFamily="34" charset="0"/>
              <a:cs typeface="Arial" panose="020B0604020202020204" pitchFamily="34" charset="0"/>
            </a:endParaRPr>
          </a:p>
        </p:txBody>
      </p:sp>
      <p:sp>
        <p:nvSpPr>
          <p:cNvPr id="3" name="Text Placeholder 2">
            <a:extLst>
              <a:ext uri="{FF2B5EF4-FFF2-40B4-BE49-F238E27FC236}">
                <a16:creationId xmlns:a16="http://schemas.microsoft.com/office/drawing/2014/main" id="{C43906D3-2EB3-EC87-4A60-61DA3A6B7B5C}"/>
              </a:ext>
            </a:extLst>
          </p:cNvPr>
          <p:cNvSpPr>
            <a:spLocks noGrp="1"/>
          </p:cNvSpPr>
          <p:nvPr>
            <p:ph type="body" idx="1"/>
          </p:nvPr>
        </p:nvSpPr>
        <p:spPr>
          <a:xfrm>
            <a:off x="327546" y="1681163"/>
            <a:ext cx="5670029" cy="823912"/>
          </a:xfrm>
        </p:spPr>
        <p:txBody>
          <a:bodyPr/>
          <a:lstStyle/>
          <a:p>
            <a:r>
              <a:rPr lang="en-US" dirty="0"/>
              <a:t>Reaction rate is high and then levels off</a:t>
            </a:r>
          </a:p>
        </p:txBody>
      </p:sp>
      <p:sp>
        <p:nvSpPr>
          <p:cNvPr id="6" name="Text Placeholder 5">
            <a:extLst>
              <a:ext uri="{FF2B5EF4-FFF2-40B4-BE49-F238E27FC236}">
                <a16:creationId xmlns:a16="http://schemas.microsoft.com/office/drawing/2014/main" id="{35C45611-53EE-BDE5-5EEC-291446EA5914}"/>
              </a:ext>
            </a:extLst>
          </p:cNvPr>
          <p:cNvSpPr>
            <a:spLocks noGrp="1"/>
          </p:cNvSpPr>
          <p:nvPr>
            <p:ph type="body" sz="quarter" idx="3"/>
          </p:nvPr>
        </p:nvSpPr>
        <p:spPr/>
        <p:txBody>
          <a:bodyPr/>
          <a:lstStyle/>
          <a:p>
            <a:r>
              <a:rPr lang="en-US" dirty="0"/>
              <a:t>Two measures of extent of reaction show good agreement</a:t>
            </a:r>
          </a:p>
        </p:txBody>
      </p:sp>
      <p:pic>
        <p:nvPicPr>
          <p:cNvPr id="21" name="Content Placeholder 20">
            <a:extLst>
              <a:ext uri="{FF2B5EF4-FFF2-40B4-BE49-F238E27FC236}">
                <a16:creationId xmlns:a16="http://schemas.microsoft.com/office/drawing/2014/main" id="{05640B53-3038-4AD7-089A-59AE67D9DD38}"/>
              </a:ext>
            </a:extLst>
          </p:cNvPr>
          <p:cNvPicPr>
            <a:picLocks noGrp="1" noChangeAspect="1"/>
          </p:cNvPicPr>
          <p:nvPr>
            <p:ph sz="quarter" idx="4"/>
          </p:nvPr>
        </p:nvPicPr>
        <p:blipFill>
          <a:blip r:embed="rId2"/>
          <a:stretch>
            <a:fillRect/>
          </a:stretch>
        </p:blipFill>
        <p:spPr>
          <a:xfrm>
            <a:off x="6486740" y="2996987"/>
            <a:ext cx="5647558" cy="3349221"/>
          </a:xfrm>
          <a:prstGeom prst="rect">
            <a:avLst/>
          </a:prstGeom>
        </p:spPr>
      </p:pic>
      <p:pic>
        <p:nvPicPr>
          <p:cNvPr id="25" name="Content Placeholder 24">
            <a:extLst>
              <a:ext uri="{FF2B5EF4-FFF2-40B4-BE49-F238E27FC236}">
                <a16:creationId xmlns:a16="http://schemas.microsoft.com/office/drawing/2014/main" id="{18E10510-E616-E821-62ED-CC31E0FB38D8}"/>
              </a:ext>
            </a:extLst>
          </p:cNvPr>
          <p:cNvPicPr>
            <a:picLocks noGrp="1" noChangeAspect="1"/>
          </p:cNvPicPr>
          <p:nvPr>
            <p:ph sz="half" idx="2"/>
          </p:nvPr>
        </p:nvPicPr>
        <p:blipFill>
          <a:blip r:embed="rId3"/>
          <a:stretch>
            <a:fillRect/>
          </a:stretch>
        </p:blipFill>
        <p:spPr>
          <a:xfrm>
            <a:off x="89825" y="2984794"/>
            <a:ext cx="5612006" cy="3349221"/>
          </a:xfrm>
          <a:prstGeom prst="rect">
            <a:avLst/>
          </a:prstGeom>
        </p:spPr>
      </p:pic>
    </p:spTree>
    <p:extLst>
      <p:ext uri="{BB962C8B-B14F-4D97-AF65-F5344CB8AC3E}">
        <p14:creationId xmlns:p14="http://schemas.microsoft.com/office/powerpoint/2010/main" val="305156236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C925CAF-C2E1-3ED4-6F50-5FF1D8245BF4}"/>
              </a:ext>
            </a:extLst>
          </p:cNvPr>
          <p:cNvSpPr txBox="1"/>
          <p:nvPr/>
        </p:nvSpPr>
        <p:spPr>
          <a:xfrm>
            <a:off x="27709" y="32375"/>
            <a:ext cx="3016517" cy="1384995"/>
          </a:xfrm>
          <a:prstGeom prst="rect">
            <a:avLst/>
          </a:prstGeom>
          <a:noFill/>
        </p:spPr>
        <p:txBody>
          <a:bodyPr wrap="square" rtlCol="0">
            <a:spAutoFit/>
          </a:bodyPr>
          <a:lstStyle/>
          <a:p>
            <a:r>
              <a:rPr lang="en-US" sz="1200">
                <a:latin typeface="Baskerville" panose="02020502070401020303" pitchFamily="18" charset="0"/>
                <a:ea typeface="Baskerville" panose="02020502070401020303" pitchFamily="18" charset="0"/>
              </a:rPr>
              <a:t>Experiment: Zircon_015</a:t>
            </a:r>
          </a:p>
          <a:p>
            <a:r>
              <a:rPr lang="en-US" sz="1200">
                <a:latin typeface="Baskerville" panose="02020502070401020303" pitchFamily="18" charset="0"/>
                <a:ea typeface="Baskerville" panose="02020502070401020303" pitchFamily="18" charset="0"/>
              </a:rPr>
              <a:t>Temperature: 800 ºC</a:t>
            </a:r>
          </a:p>
          <a:p>
            <a:r>
              <a:rPr lang="en-US" sz="1200">
                <a:latin typeface="Baskerville" panose="02020502070401020303" pitchFamily="18" charset="0"/>
                <a:ea typeface="Baskerville" panose="02020502070401020303" pitchFamily="18" charset="0"/>
              </a:rPr>
              <a:t>Pressure: 2 kbar</a:t>
            </a:r>
          </a:p>
          <a:p>
            <a:r>
              <a:rPr lang="en-US" sz="1200">
                <a:latin typeface="Baskerville" panose="02020502070401020303" pitchFamily="18" charset="0"/>
                <a:ea typeface="Baskerville" panose="02020502070401020303" pitchFamily="18" charset="0"/>
              </a:rPr>
              <a:t>Time: 19 days</a:t>
            </a:r>
          </a:p>
          <a:p>
            <a:r>
              <a:rPr lang="en-US" sz="1200">
                <a:latin typeface="Baskerville" panose="02020502070401020303" pitchFamily="18" charset="0"/>
                <a:ea typeface="Baskerville" panose="02020502070401020303" pitchFamily="18" charset="0"/>
              </a:rPr>
              <a:t>Solute: </a:t>
            </a:r>
            <a:r>
              <a:rPr lang="en-US" sz="1200" err="1">
                <a:latin typeface="Baskerville" panose="02020502070401020303" pitchFamily="18" charset="0"/>
                <a:ea typeface="Baskerville" panose="02020502070401020303" pitchFamily="18" charset="0"/>
              </a:rPr>
              <a:t>NaF</a:t>
            </a:r>
            <a:r>
              <a:rPr lang="en-US" sz="1200">
                <a:latin typeface="Baskerville" panose="02020502070401020303" pitchFamily="18" charset="0"/>
                <a:ea typeface="Baskerville" panose="02020502070401020303" pitchFamily="18" charset="0"/>
              </a:rPr>
              <a:t> + </a:t>
            </a:r>
            <a:r>
              <a:rPr lang="en-US" sz="1200" baseline="30000">
                <a:latin typeface="Baskerville" panose="02020502070401020303" pitchFamily="18" charset="0"/>
                <a:ea typeface="Baskerville" panose="02020502070401020303" pitchFamily="18" charset="0"/>
              </a:rPr>
              <a:t>29</a:t>
            </a:r>
            <a:r>
              <a:rPr lang="en-US" sz="1200">
                <a:latin typeface="Baskerville" panose="02020502070401020303" pitchFamily="18" charset="0"/>
                <a:ea typeface="Baskerville" panose="02020502070401020303" pitchFamily="18" charset="0"/>
              </a:rPr>
              <a:t>Si</a:t>
            </a:r>
          </a:p>
          <a:p>
            <a:r>
              <a:rPr lang="en-US" sz="1200">
                <a:latin typeface="Baskerville" panose="02020502070401020303" pitchFamily="18" charset="0"/>
                <a:ea typeface="Baskerville" panose="02020502070401020303" pitchFamily="18" charset="0"/>
              </a:rPr>
              <a:t>Solvent: USGS49</a:t>
            </a:r>
          </a:p>
          <a:p>
            <a:endParaRPr lang="en-US" sz="1200">
              <a:latin typeface="Baskerville" panose="02020502070401020303" pitchFamily="18" charset="0"/>
              <a:ea typeface="Baskerville" panose="02020502070401020303" pitchFamily="18" charset="0"/>
            </a:endParaRPr>
          </a:p>
        </p:txBody>
      </p:sp>
      <p:pic>
        <p:nvPicPr>
          <p:cNvPr id="2" name="图片 1"/>
          <p:cNvPicPr>
            <a:picLocks noChangeAspect="1"/>
          </p:cNvPicPr>
          <p:nvPr/>
        </p:nvPicPr>
        <p:blipFill rotWithShape="1">
          <a:blip r:embed="rId3" cstate="print">
            <a:extLst>
              <a:ext uri="{28A0092B-C50C-407E-A947-70E740481C1C}">
                <a14:useLocalDpi xmlns:a14="http://schemas.microsoft.com/office/drawing/2010/main"/>
              </a:ext>
            </a:extLst>
          </a:blip>
          <a:srcRect r="5935"/>
          <a:stretch/>
        </p:blipFill>
        <p:spPr>
          <a:xfrm>
            <a:off x="1003748" y="1227951"/>
            <a:ext cx="7598900" cy="5514547"/>
          </a:xfrm>
          <a:prstGeom prst="rect">
            <a:avLst/>
          </a:prstGeom>
        </p:spPr>
      </p:pic>
      <p:graphicFrame>
        <p:nvGraphicFramePr>
          <p:cNvPr id="11" name="图表 10"/>
          <p:cNvGraphicFramePr>
            <a:graphicFrameLocks/>
          </p:cNvGraphicFramePr>
          <p:nvPr/>
        </p:nvGraphicFramePr>
        <p:xfrm>
          <a:off x="8869680" y="720090"/>
          <a:ext cx="3413760" cy="2758440"/>
        </p:xfrm>
        <a:graphic>
          <a:graphicData uri="http://schemas.openxmlformats.org/drawingml/2006/chart">
            <c:chart xmlns:c="http://schemas.openxmlformats.org/drawingml/2006/chart" xmlns:r="http://schemas.openxmlformats.org/officeDocument/2006/relationships" r:id="rId4"/>
          </a:graphicData>
        </a:graphic>
      </p:graphicFrame>
      <p:sp>
        <p:nvSpPr>
          <p:cNvPr id="6" name="文本框 5"/>
          <p:cNvSpPr txBox="1"/>
          <p:nvPr/>
        </p:nvSpPr>
        <p:spPr>
          <a:xfrm>
            <a:off x="10195617" y="6219318"/>
            <a:ext cx="811441" cy="307777"/>
          </a:xfrm>
          <a:prstGeom prst="rect">
            <a:avLst/>
          </a:prstGeom>
          <a:noFill/>
        </p:spPr>
        <p:txBody>
          <a:bodyPr wrap="none" rtlCol="0">
            <a:spAutoFit/>
          </a:bodyPr>
          <a:lstStyle/>
          <a:p>
            <a:r>
              <a:rPr lang="en-US" altLang="zh-CN" sz="1400"/>
              <a:t>δ</a:t>
            </a:r>
            <a:r>
              <a:rPr lang="en-US" altLang="zh-CN" sz="1400" baseline="30000"/>
              <a:t>29</a:t>
            </a:r>
            <a:r>
              <a:rPr lang="en-US" altLang="zh-CN" sz="1400"/>
              <a:t>Si ‰</a:t>
            </a:r>
            <a:endParaRPr lang="zh-CN" altLang="en-US" sz="1400"/>
          </a:p>
        </p:txBody>
      </p:sp>
      <p:sp>
        <p:nvSpPr>
          <p:cNvPr id="7" name="矩形 6"/>
          <p:cNvSpPr/>
          <p:nvPr/>
        </p:nvSpPr>
        <p:spPr>
          <a:xfrm rot="16200000">
            <a:off x="7638282" y="4819898"/>
            <a:ext cx="2236510" cy="307777"/>
          </a:xfrm>
          <a:prstGeom prst="rect">
            <a:avLst/>
          </a:prstGeom>
        </p:spPr>
        <p:txBody>
          <a:bodyPr wrap="none">
            <a:spAutoFit/>
          </a:bodyPr>
          <a:lstStyle/>
          <a:p>
            <a:r>
              <a:rPr lang="zh-CN" altLang="en-US" sz="1400"/>
              <a:t>Kernel Density Estimation</a:t>
            </a:r>
          </a:p>
        </p:txBody>
      </p:sp>
      <p:sp>
        <p:nvSpPr>
          <p:cNvPr id="8" name="文本框 7"/>
          <p:cNvSpPr txBox="1"/>
          <p:nvPr/>
        </p:nvSpPr>
        <p:spPr>
          <a:xfrm>
            <a:off x="10205647" y="3463944"/>
            <a:ext cx="814647" cy="307777"/>
          </a:xfrm>
          <a:prstGeom prst="rect">
            <a:avLst/>
          </a:prstGeom>
          <a:noFill/>
        </p:spPr>
        <p:txBody>
          <a:bodyPr wrap="none" rtlCol="0">
            <a:spAutoFit/>
          </a:bodyPr>
          <a:lstStyle/>
          <a:p>
            <a:r>
              <a:rPr lang="en-US" altLang="zh-CN" sz="1400"/>
              <a:t>δ</a:t>
            </a:r>
            <a:r>
              <a:rPr lang="en-US" altLang="zh-CN" sz="1400" baseline="30000"/>
              <a:t>18</a:t>
            </a:r>
            <a:r>
              <a:rPr lang="en-US" altLang="zh-CN" sz="1400"/>
              <a:t>O ‰</a:t>
            </a:r>
            <a:endParaRPr lang="zh-CN" altLang="en-US" sz="1400"/>
          </a:p>
        </p:txBody>
      </p:sp>
      <p:sp>
        <p:nvSpPr>
          <p:cNvPr id="9" name="矩形 8"/>
          <p:cNvSpPr/>
          <p:nvPr/>
        </p:nvSpPr>
        <p:spPr>
          <a:xfrm rot="16200000">
            <a:off x="7648312" y="2064524"/>
            <a:ext cx="2236510" cy="307777"/>
          </a:xfrm>
          <a:prstGeom prst="rect">
            <a:avLst/>
          </a:prstGeom>
        </p:spPr>
        <p:txBody>
          <a:bodyPr wrap="none">
            <a:spAutoFit/>
          </a:bodyPr>
          <a:lstStyle/>
          <a:p>
            <a:r>
              <a:rPr lang="zh-CN" altLang="en-US" sz="1400"/>
              <a:t>Kernel Density Estimation</a:t>
            </a:r>
          </a:p>
        </p:txBody>
      </p:sp>
      <p:graphicFrame>
        <p:nvGraphicFramePr>
          <p:cNvPr id="3" name="图表 2">
            <a:extLst>
              <a:ext uri="{FF2B5EF4-FFF2-40B4-BE49-F238E27FC236}">
                <a16:creationId xmlns:a16="http://schemas.microsoft.com/office/drawing/2014/main" id="{35FFE304-0732-5275-9497-F4618BF6BDF6}"/>
              </a:ext>
            </a:extLst>
          </p:cNvPr>
          <p:cNvGraphicFramePr>
            <a:graphicFrameLocks/>
          </p:cNvGraphicFramePr>
          <p:nvPr/>
        </p:nvGraphicFramePr>
        <p:xfrm>
          <a:off x="8869680" y="3687911"/>
          <a:ext cx="3413760" cy="2571750"/>
        </p:xfrm>
        <a:graphic>
          <a:graphicData uri="http://schemas.openxmlformats.org/drawingml/2006/chart">
            <c:chart xmlns:c="http://schemas.openxmlformats.org/drawingml/2006/chart" xmlns:r="http://schemas.openxmlformats.org/officeDocument/2006/relationships" r:id="rId5"/>
          </a:graphicData>
        </a:graphic>
      </p:graphicFrame>
      <p:sp>
        <p:nvSpPr>
          <p:cNvPr id="5" name="TextBox 4">
            <a:extLst>
              <a:ext uri="{FF2B5EF4-FFF2-40B4-BE49-F238E27FC236}">
                <a16:creationId xmlns:a16="http://schemas.microsoft.com/office/drawing/2014/main" id="{64C43FB9-373B-2961-C069-281C99783EE3}"/>
              </a:ext>
            </a:extLst>
          </p:cNvPr>
          <p:cNvSpPr txBox="1"/>
          <p:nvPr/>
        </p:nvSpPr>
        <p:spPr>
          <a:xfrm>
            <a:off x="1937263" y="225694"/>
            <a:ext cx="8039380" cy="523220"/>
          </a:xfrm>
          <a:prstGeom prst="rect">
            <a:avLst/>
          </a:prstGeom>
          <a:noFill/>
        </p:spPr>
        <p:txBody>
          <a:bodyPr wrap="none" rtlCol="0">
            <a:spAutoFit/>
          </a:bodyPr>
          <a:lstStyle/>
          <a:p>
            <a:r>
              <a:rPr lang="en-US" sz="2800" dirty="0"/>
              <a:t>SIMS Si and O isotope data on run product solids</a:t>
            </a:r>
          </a:p>
        </p:txBody>
      </p:sp>
    </p:spTree>
    <p:extLst>
      <p:ext uri="{BB962C8B-B14F-4D97-AF65-F5344CB8AC3E}">
        <p14:creationId xmlns:p14="http://schemas.microsoft.com/office/powerpoint/2010/main" val="22379703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9D14DC-1A58-B04C-CEEA-A977DCB766FD}"/>
              </a:ext>
            </a:extLst>
          </p:cNvPr>
          <p:cNvSpPr>
            <a:spLocks noGrp="1"/>
          </p:cNvSpPr>
          <p:nvPr>
            <p:ph type="title"/>
          </p:nvPr>
        </p:nvSpPr>
        <p:spPr/>
        <p:txBody>
          <a:bodyPr/>
          <a:lstStyle/>
          <a:p>
            <a:pPr algn="ctr"/>
            <a:r>
              <a:rPr lang="en-US" dirty="0"/>
              <a:t>Quenched solutes</a:t>
            </a:r>
          </a:p>
        </p:txBody>
      </p:sp>
      <p:sp>
        <p:nvSpPr>
          <p:cNvPr id="3" name="Text Placeholder 2">
            <a:extLst>
              <a:ext uri="{FF2B5EF4-FFF2-40B4-BE49-F238E27FC236}">
                <a16:creationId xmlns:a16="http://schemas.microsoft.com/office/drawing/2014/main" id="{029761E0-49A2-5A4F-659C-9D43AB80AAC6}"/>
              </a:ext>
            </a:extLst>
          </p:cNvPr>
          <p:cNvSpPr>
            <a:spLocks noGrp="1"/>
          </p:cNvSpPr>
          <p:nvPr>
            <p:ph type="body" idx="1"/>
          </p:nvPr>
        </p:nvSpPr>
        <p:spPr/>
        <p:txBody>
          <a:bodyPr/>
          <a:lstStyle/>
          <a:p>
            <a:r>
              <a:rPr lang="en-US" dirty="0"/>
              <a:t>Zir-016 quenched solute</a:t>
            </a:r>
          </a:p>
        </p:txBody>
      </p:sp>
      <p:pic>
        <p:nvPicPr>
          <p:cNvPr id="8" name="Content Placeholder 7">
            <a:extLst>
              <a:ext uri="{FF2B5EF4-FFF2-40B4-BE49-F238E27FC236}">
                <a16:creationId xmlns:a16="http://schemas.microsoft.com/office/drawing/2014/main" id="{A0D873E2-0D40-7E28-4705-3B73BF7DC706}"/>
              </a:ext>
            </a:extLst>
          </p:cNvPr>
          <p:cNvPicPr>
            <a:picLocks noGrp="1" noChangeAspect="1"/>
          </p:cNvPicPr>
          <p:nvPr>
            <p:ph sz="half" idx="2"/>
          </p:nvPr>
        </p:nvPicPr>
        <p:blipFill>
          <a:blip r:embed="rId2">
            <a:extLst>
              <a:ext uri="{BEBA8EAE-BF5A-486C-A8C5-ECC9F3942E4B}">
                <a14:imgProps xmlns:a14="http://schemas.microsoft.com/office/drawing/2010/main">
                  <a14:imgLayer r:embed="rId3">
                    <a14:imgEffect>
                      <a14:brightnessContrast bright="40000" contrast="40000"/>
                    </a14:imgEffect>
                  </a14:imgLayer>
                </a14:imgProps>
              </a:ext>
            </a:extLst>
          </a:blip>
          <a:stretch>
            <a:fillRect/>
          </a:stretch>
        </p:blipFill>
        <p:spPr>
          <a:xfrm>
            <a:off x="1039091" y="2728740"/>
            <a:ext cx="3861047" cy="4218552"/>
          </a:xfrm>
          <a:prstGeom prst="rect">
            <a:avLst/>
          </a:prstGeom>
        </p:spPr>
      </p:pic>
      <p:sp>
        <p:nvSpPr>
          <p:cNvPr id="5" name="Text Placeholder 4">
            <a:extLst>
              <a:ext uri="{FF2B5EF4-FFF2-40B4-BE49-F238E27FC236}">
                <a16:creationId xmlns:a16="http://schemas.microsoft.com/office/drawing/2014/main" id="{7527E424-37A0-B290-026D-30ACCC023455}"/>
              </a:ext>
            </a:extLst>
          </p:cNvPr>
          <p:cNvSpPr>
            <a:spLocks noGrp="1"/>
          </p:cNvSpPr>
          <p:nvPr>
            <p:ph type="body" sz="quarter" idx="3"/>
          </p:nvPr>
        </p:nvSpPr>
        <p:spPr/>
        <p:txBody>
          <a:bodyPr/>
          <a:lstStyle/>
          <a:p>
            <a:r>
              <a:rPr lang="en-US" dirty="0"/>
              <a:t>Avg. EDS composition</a:t>
            </a:r>
          </a:p>
        </p:txBody>
      </p:sp>
      <p:graphicFrame>
        <p:nvGraphicFramePr>
          <p:cNvPr id="9" name="Content Placeholder 8">
            <a:extLst>
              <a:ext uri="{FF2B5EF4-FFF2-40B4-BE49-F238E27FC236}">
                <a16:creationId xmlns:a16="http://schemas.microsoft.com/office/drawing/2014/main" id="{DDCA143D-A3C8-B560-9FBE-68D2EB9198A9}"/>
              </a:ext>
            </a:extLst>
          </p:cNvPr>
          <p:cNvGraphicFramePr>
            <a:graphicFrameLocks noGrp="1"/>
          </p:cNvGraphicFramePr>
          <p:nvPr>
            <p:ph sz="quarter" idx="4"/>
            <p:extLst>
              <p:ext uri="{D42A27DB-BD31-4B8C-83A1-F6EECF244321}">
                <p14:modId xmlns:p14="http://schemas.microsoft.com/office/powerpoint/2010/main" val="10120826"/>
              </p:ext>
            </p:extLst>
          </p:nvPr>
        </p:nvGraphicFramePr>
        <p:xfrm>
          <a:off x="6673755" y="2728741"/>
          <a:ext cx="4479153" cy="3764136"/>
        </p:xfrm>
        <a:graphic>
          <a:graphicData uri="http://schemas.openxmlformats.org/drawingml/2006/table">
            <a:tbl>
              <a:tblPr>
                <a:tableStyleId>{0E3FDE45-AF77-4B5C-9715-49D594BDF05E}</a:tableStyleId>
              </a:tblPr>
              <a:tblGrid>
                <a:gridCol w="1442949">
                  <a:extLst>
                    <a:ext uri="{9D8B030D-6E8A-4147-A177-3AD203B41FA5}">
                      <a16:colId xmlns:a16="http://schemas.microsoft.com/office/drawing/2014/main" val="2376685592"/>
                    </a:ext>
                  </a:extLst>
                </a:gridCol>
                <a:gridCol w="1442949">
                  <a:extLst>
                    <a:ext uri="{9D8B030D-6E8A-4147-A177-3AD203B41FA5}">
                      <a16:colId xmlns:a16="http://schemas.microsoft.com/office/drawing/2014/main" val="1854865265"/>
                    </a:ext>
                  </a:extLst>
                </a:gridCol>
                <a:gridCol w="1593255">
                  <a:extLst>
                    <a:ext uri="{9D8B030D-6E8A-4147-A177-3AD203B41FA5}">
                      <a16:colId xmlns:a16="http://schemas.microsoft.com/office/drawing/2014/main" val="1820777820"/>
                    </a:ext>
                  </a:extLst>
                </a:gridCol>
              </a:tblGrid>
              <a:tr h="543215">
                <a:tc>
                  <a:txBody>
                    <a:bodyPr/>
                    <a:lstStyle/>
                    <a:p>
                      <a:pPr algn="r" fontAlgn="b">
                        <a:buNone/>
                      </a:pPr>
                      <a:r>
                        <a:rPr lang="en-US" sz="1800" u="none" strike="noStrike">
                          <a:effectLst/>
                        </a:rPr>
                        <a:t>Element</a:t>
                      </a:r>
                      <a:endParaRPr lang="en-US" sz="1800" b="0" i="0" u="none" strike="noStrike">
                        <a:solidFill>
                          <a:srgbClr val="000000"/>
                        </a:solidFill>
                        <a:effectLst/>
                        <a:latin typeface="Calibri" panose="020F0502020204030204" pitchFamily="34" charset="0"/>
                      </a:endParaRPr>
                    </a:p>
                  </a:txBody>
                  <a:tcPr marL="6350" marR="6350" marT="6350" marB="0" anchor="b"/>
                </a:tc>
                <a:tc>
                  <a:txBody>
                    <a:bodyPr/>
                    <a:lstStyle/>
                    <a:p>
                      <a:pPr algn="r" fontAlgn="b">
                        <a:buNone/>
                      </a:pPr>
                      <a:r>
                        <a:rPr lang="en-US" sz="1800" u="none" strike="noStrike">
                          <a:effectLst/>
                        </a:rPr>
                        <a:t>Wt%</a:t>
                      </a:r>
                      <a:endParaRPr lang="en-US" sz="1800" b="0" i="0" u="none" strike="noStrike">
                        <a:solidFill>
                          <a:srgbClr val="000000"/>
                        </a:solidFill>
                        <a:effectLst/>
                        <a:latin typeface="Calibri" panose="020F0502020204030204" pitchFamily="34" charset="0"/>
                      </a:endParaRPr>
                    </a:p>
                  </a:txBody>
                  <a:tcPr marL="6350" marR="6350" marT="6350" marB="0" anchor="b"/>
                </a:tc>
                <a:tc>
                  <a:txBody>
                    <a:bodyPr/>
                    <a:lstStyle/>
                    <a:p>
                      <a:pPr algn="r" fontAlgn="b">
                        <a:buNone/>
                      </a:pPr>
                      <a:r>
                        <a:rPr lang="en-US" sz="1800" u="none" strike="noStrike">
                          <a:effectLst/>
                        </a:rPr>
                        <a:t>Wt% Sigma</a:t>
                      </a:r>
                      <a:endParaRPr lang="en-US" sz="1800" b="0" i="0" u="none" strike="noStrike">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3709283221"/>
                  </a:ext>
                </a:extLst>
              </a:tr>
              <a:tr h="292811">
                <a:tc>
                  <a:txBody>
                    <a:bodyPr/>
                    <a:lstStyle/>
                    <a:p>
                      <a:pPr algn="r" fontAlgn="b">
                        <a:buNone/>
                      </a:pPr>
                      <a:r>
                        <a:rPr lang="en-US" sz="1800" u="none" strike="noStrike">
                          <a:effectLst/>
                        </a:rPr>
                        <a:t>O</a:t>
                      </a:r>
                      <a:endParaRPr lang="en-US" sz="1800" b="0" i="0" u="none" strike="noStrike">
                        <a:solidFill>
                          <a:srgbClr val="000000"/>
                        </a:solidFill>
                        <a:effectLst/>
                        <a:latin typeface="Calibri" panose="020F0502020204030204" pitchFamily="34" charset="0"/>
                      </a:endParaRPr>
                    </a:p>
                  </a:txBody>
                  <a:tcPr marL="6350" marR="6350" marT="6350" marB="0" anchor="b"/>
                </a:tc>
                <a:tc>
                  <a:txBody>
                    <a:bodyPr/>
                    <a:lstStyle/>
                    <a:p>
                      <a:pPr algn="r" fontAlgn="b">
                        <a:buNone/>
                      </a:pPr>
                      <a:r>
                        <a:rPr lang="en-US" sz="1800" u="none" strike="noStrike">
                          <a:effectLst/>
                        </a:rPr>
                        <a:t>47.75</a:t>
                      </a:r>
                      <a:endParaRPr lang="en-US" sz="1800" b="0" i="0" u="none" strike="noStrike">
                        <a:solidFill>
                          <a:srgbClr val="000000"/>
                        </a:solidFill>
                        <a:effectLst/>
                        <a:latin typeface="Calibri" panose="020F0502020204030204" pitchFamily="34" charset="0"/>
                      </a:endParaRPr>
                    </a:p>
                  </a:txBody>
                  <a:tcPr marL="6350" marR="6350" marT="6350" marB="0" anchor="b"/>
                </a:tc>
                <a:tc>
                  <a:txBody>
                    <a:bodyPr/>
                    <a:lstStyle/>
                    <a:p>
                      <a:pPr algn="r" fontAlgn="b">
                        <a:buNone/>
                      </a:pPr>
                      <a:endParaRPr lang="en-US" sz="1800" b="0" i="0" u="none" strike="noStrike">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236921825"/>
                  </a:ext>
                </a:extLst>
              </a:tr>
              <a:tr h="292811">
                <a:tc>
                  <a:txBody>
                    <a:bodyPr/>
                    <a:lstStyle/>
                    <a:p>
                      <a:pPr algn="r" fontAlgn="b">
                        <a:buNone/>
                      </a:pPr>
                      <a:r>
                        <a:rPr lang="en-US" sz="1800" u="none" strike="noStrike">
                          <a:effectLst/>
                        </a:rPr>
                        <a:t>Na</a:t>
                      </a:r>
                      <a:endParaRPr lang="en-US" sz="1800" b="0" i="0" u="none" strike="noStrike">
                        <a:solidFill>
                          <a:srgbClr val="000000"/>
                        </a:solidFill>
                        <a:effectLst/>
                        <a:latin typeface="Calibri" panose="020F0502020204030204" pitchFamily="34" charset="0"/>
                      </a:endParaRPr>
                    </a:p>
                  </a:txBody>
                  <a:tcPr marL="6350" marR="6350" marT="6350" marB="0" anchor="b"/>
                </a:tc>
                <a:tc>
                  <a:txBody>
                    <a:bodyPr/>
                    <a:lstStyle/>
                    <a:p>
                      <a:pPr algn="r" fontAlgn="b">
                        <a:buNone/>
                      </a:pPr>
                      <a:r>
                        <a:rPr lang="en-US" sz="1800" u="none" strike="noStrike">
                          <a:effectLst/>
                        </a:rPr>
                        <a:t>12.49</a:t>
                      </a:r>
                      <a:endParaRPr lang="en-US" sz="1800" b="0" i="0" u="none" strike="noStrike">
                        <a:solidFill>
                          <a:srgbClr val="000000"/>
                        </a:solidFill>
                        <a:effectLst/>
                        <a:latin typeface="Calibri" panose="020F0502020204030204" pitchFamily="34" charset="0"/>
                      </a:endParaRPr>
                    </a:p>
                  </a:txBody>
                  <a:tcPr marL="6350" marR="6350" marT="6350" marB="0" anchor="b"/>
                </a:tc>
                <a:tc>
                  <a:txBody>
                    <a:bodyPr/>
                    <a:lstStyle/>
                    <a:p>
                      <a:pPr algn="r" fontAlgn="b">
                        <a:buNone/>
                      </a:pPr>
                      <a:r>
                        <a:rPr lang="en-US" sz="1800" u="none" strike="noStrike">
                          <a:effectLst/>
                        </a:rPr>
                        <a:t>0.09</a:t>
                      </a:r>
                      <a:endParaRPr lang="en-US" sz="1800" b="0" i="0" u="none" strike="noStrike">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2984827133"/>
                  </a:ext>
                </a:extLst>
              </a:tr>
              <a:tr h="292811">
                <a:tc>
                  <a:txBody>
                    <a:bodyPr/>
                    <a:lstStyle/>
                    <a:p>
                      <a:pPr algn="r" fontAlgn="b">
                        <a:buNone/>
                      </a:pPr>
                      <a:r>
                        <a:rPr lang="en-US" sz="1800" u="none" strike="noStrike">
                          <a:effectLst/>
                        </a:rPr>
                        <a:t>Mg</a:t>
                      </a:r>
                      <a:endParaRPr lang="en-US" sz="1800" b="0" i="0" u="none" strike="noStrike">
                        <a:solidFill>
                          <a:srgbClr val="000000"/>
                        </a:solidFill>
                        <a:effectLst/>
                        <a:latin typeface="Calibri" panose="020F0502020204030204" pitchFamily="34" charset="0"/>
                      </a:endParaRPr>
                    </a:p>
                  </a:txBody>
                  <a:tcPr marL="6350" marR="6350" marT="6350" marB="0" anchor="b"/>
                </a:tc>
                <a:tc>
                  <a:txBody>
                    <a:bodyPr/>
                    <a:lstStyle/>
                    <a:p>
                      <a:pPr algn="r" fontAlgn="b">
                        <a:buNone/>
                      </a:pPr>
                      <a:r>
                        <a:rPr lang="en-US" sz="1800" u="none" strike="noStrike">
                          <a:effectLst/>
                        </a:rPr>
                        <a:t>0.02</a:t>
                      </a:r>
                      <a:endParaRPr lang="en-US" sz="1800" b="0" i="0" u="none" strike="noStrike">
                        <a:solidFill>
                          <a:srgbClr val="000000"/>
                        </a:solidFill>
                        <a:effectLst/>
                        <a:latin typeface="Calibri" panose="020F0502020204030204" pitchFamily="34" charset="0"/>
                      </a:endParaRPr>
                    </a:p>
                  </a:txBody>
                  <a:tcPr marL="6350" marR="6350" marT="6350" marB="0" anchor="b"/>
                </a:tc>
                <a:tc>
                  <a:txBody>
                    <a:bodyPr/>
                    <a:lstStyle/>
                    <a:p>
                      <a:pPr algn="r" fontAlgn="b">
                        <a:buNone/>
                      </a:pPr>
                      <a:r>
                        <a:rPr lang="en-US" sz="1800" u="none" strike="noStrike">
                          <a:effectLst/>
                        </a:rPr>
                        <a:t>0.04</a:t>
                      </a:r>
                      <a:endParaRPr lang="en-US" sz="1800" b="0" i="0" u="none" strike="noStrike">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1572887026"/>
                  </a:ext>
                </a:extLst>
              </a:tr>
              <a:tr h="292811">
                <a:tc>
                  <a:txBody>
                    <a:bodyPr/>
                    <a:lstStyle/>
                    <a:p>
                      <a:pPr algn="r" fontAlgn="b">
                        <a:buNone/>
                      </a:pPr>
                      <a:r>
                        <a:rPr lang="en-US" sz="1800" u="none" strike="noStrike">
                          <a:effectLst/>
                        </a:rPr>
                        <a:t>Al</a:t>
                      </a:r>
                      <a:endParaRPr lang="en-US" sz="1800" b="0" i="0" u="none" strike="noStrike">
                        <a:solidFill>
                          <a:srgbClr val="000000"/>
                        </a:solidFill>
                        <a:effectLst/>
                        <a:latin typeface="Calibri" panose="020F0502020204030204" pitchFamily="34" charset="0"/>
                      </a:endParaRPr>
                    </a:p>
                  </a:txBody>
                  <a:tcPr marL="6350" marR="6350" marT="6350" marB="0" anchor="b"/>
                </a:tc>
                <a:tc>
                  <a:txBody>
                    <a:bodyPr/>
                    <a:lstStyle/>
                    <a:p>
                      <a:pPr algn="r" fontAlgn="b">
                        <a:buNone/>
                      </a:pPr>
                      <a:r>
                        <a:rPr lang="en-US" sz="1800" u="none" strike="noStrike">
                          <a:effectLst/>
                        </a:rPr>
                        <a:t>2.74</a:t>
                      </a:r>
                      <a:endParaRPr lang="en-US" sz="1800" b="0" i="0" u="none" strike="noStrike">
                        <a:solidFill>
                          <a:srgbClr val="000000"/>
                        </a:solidFill>
                        <a:effectLst/>
                        <a:latin typeface="Calibri" panose="020F0502020204030204" pitchFamily="34" charset="0"/>
                      </a:endParaRPr>
                    </a:p>
                  </a:txBody>
                  <a:tcPr marL="6350" marR="6350" marT="6350" marB="0" anchor="b"/>
                </a:tc>
                <a:tc>
                  <a:txBody>
                    <a:bodyPr/>
                    <a:lstStyle/>
                    <a:p>
                      <a:pPr algn="r" fontAlgn="b">
                        <a:buNone/>
                      </a:pPr>
                      <a:r>
                        <a:rPr lang="en-US" sz="1800" u="none" strike="noStrike">
                          <a:effectLst/>
                        </a:rPr>
                        <a:t>0.05</a:t>
                      </a:r>
                      <a:endParaRPr lang="en-US" sz="1800" b="0" i="0" u="none" strike="noStrike">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2801660958"/>
                  </a:ext>
                </a:extLst>
              </a:tr>
              <a:tr h="292811">
                <a:tc>
                  <a:txBody>
                    <a:bodyPr/>
                    <a:lstStyle/>
                    <a:p>
                      <a:pPr algn="r" fontAlgn="b">
                        <a:buNone/>
                      </a:pPr>
                      <a:r>
                        <a:rPr lang="en-US" sz="1800" u="none" strike="noStrike">
                          <a:effectLst/>
                        </a:rPr>
                        <a:t>Si</a:t>
                      </a:r>
                      <a:endParaRPr lang="en-US" sz="1800" b="0" i="0" u="none" strike="noStrike">
                        <a:solidFill>
                          <a:srgbClr val="000000"/>
                        </a:solidFill>
                        <a:effectLst/>
                        <a:latin typeface="Calibri" panose="020F0502020204030204" pitchFamily="34" charset="0"/>
                      </a:endParaRPr>
                    </a:p>
                  </a:txBody>
                  <a:tcPr marL="6350" marR="6350" marT="6350" marB="0" anchor="b"/>
                </a:tc>
                <a:tc>
                  <a:txBody>
                    <a:bodyPr/>
                    <a:lstStyle/>
                    <a:p>
                      <a:pPr algn="r" fontAlgn="b">
                        <a:buNone/>
                      </a:pPr>
                      <a:r>
                        <a:rPr lang="en-US" sz="1800" u="none" strike="noStrike">
                          <a:effectLst/>
                        </a:rPr>
                        <a:t>35.01</a:t>
                      </a:r>
                      <a:endParaRPr lang="en-US" sz="1800" b="0" i="0" u="none" strike="noStrike">
                        <a:solidFill>
                          <a:srgbClr val="000000"/>
                        </a:solidFill>
                        <a:effectLst/>
                        <a:latin typeface="Calibri" panose="020F0502020204030204" pitchFamily="34" charset="0"/>
                      </a:endParaRPr>
                    </a:p>
                  </a:txBody>
                  <a:tcPr marL="6350" marR="6350" marT="6350" marB="0" anchor="b"/>
                </a:tc>
                <a:tc>
                  <a:txBody>
                    <a:bodyPr/>
                    <a:lstStyle/>
                    <a:p>
                      <a:pPr algn="r" fontAlgn="b">
                        <a:buNone/>
                      </a:pPr>
                      <a:r>
                        <a:rPr lang="en-US" sz="1800" u="none" strike="noStrike">
                          <a:effectLst/>
                        </a:rPr>
                        <a:t>0.12</a:t>
                      </a:r>
                      <a:endParaRPr lang="en-US" sz="1800" b="0" i="0" u="none" strike="noStrike">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2108633941"/>
                  </a:ext>
                </a:extLst>
              </a:tr>
              <a:tr h="292811">
                <a:tc>
                  <a:txBody>
                    <a:bodyPr/>
                    <a:lstStyle/>
                    <a:p>
                      <a:pPr algn="r" fontAlgn="b">
                        <a:buNone/>
                      </a:pPr>
                      <a:r>
                        <a:rPr lang="en-US" sz="1800" u="none" strike="noStrike">
                          <a:effectLst/>
                        </a:rPr>
                        <a:t>K</a:t>
                      </a:r>
                      <a:endParaRPr lang="en-US" sz="1800" b="0" i="0" u="none" strike="noStrike">
                        <a:solidFill>
                          <a:srgbClr val="000000"/>
                        </a:solidFill>
                        <a:effectLst/>
                        <a:latin typeface="Calibri" panose="020F0502020204030204" pitchFamily="34" charset="0"/>
                      </a:endParaRPr>
                    </a:p>
                  </a:txBody>
                  <a:tcPr marL="6350" marR="6350" marT="6350" marB="0" anchor="b"/>
                </a:tc>
                <a:tc>
                  <a:txBody>
                    <a:bodyPr/>
                    <a:lstStyle/>
                    <a:p>
                      <a:pPr algn="r" fontAlgn="b">
                        <a:buNone/>
                      </a:pPr>
                      <a:r>
                        <a:rPr lang="en-US" sz="1800" u="none" strike="noStrike">
                          <a:effectLst/>
                        </a:rPr>
                        <a:t>0.32</a:t>
                      </a:r>
                      <a:endParaRPr lang="en-US" sz="1800" b="0" i="0" u="none" strike="noStrike">
                        <a:solidFill>
                          <a:srgbClr val="000000"/>
                        </a:solidFill>
                        <a:effectLst/>
                        <a:latin typeface="Calibri" panose="020F0502020204030204" pitchFamily="34" charset="0"/>
                      </a:endParaRPr>
                    </a:p>
                  </a:txBody>
                  <a:tcPr marL="6350" marR="6350" marT="6350" marB="0" anchor="b"/>
                </a:tc>
                <a:tc>
                  <a:txBody>
                    <a:bodyPr/>
                    <a:lstStyle/>
                    <a:p>
                      <a:pPr algn="r" fontAlgn="b">
                        <a:buNone/>
                      </a:pPr>
                      <a:r>
                        <a:rPr lang="en-US" sz="1800" u="none" strike="noStrike">
                          <a:effectLst/>
                        </a:rPr>
                        <a:t>0.04</a:t>
                      </a:r>
                      <a:endParaRPr lang="en-US" sz="1800" b="0" i="0" u="none" strike="noStrike">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4088083697"/>
                  </a:ext>
                </a:extLst>
              </a:tr>
              <a:tr h="292811">
                <a:tc>
                  <a:txBody>
                    <a:bodyPr/>
                    <a:lstStyle/>
                    <a:p>
                      <a:pPr algn="r" fontAlgn="b">
                        <a:buNone/>
                      </a:pPr>
                      <a:r>
                        <a:rPr lang="en-US" sz="1800" u="none" strike="noStrike">
                          <a:effectLst/>
                        </a:rPr>
                        <a:t>Ca</a:t>
                      </a:r>
                      <a:endParaRPr lang="en-US" sz="1800" b="0" i="0" u="none" strike="noStrike">
                        <a:solidFill>
                          <a:srgbClr val="000000"/>
                        </a:solidFill>
                        <a:effectLst/>
                        <a:latin typeface="Calibri" panose="020F0502020204030204" pitchFamily="34" charset="0"/>
                      </a:endParaRPr>
                    </a:p>
                  </a:txBody>
                  <a:tcPr marL="6350" marR="6350" marT="6350" marB="0" anchor="b"/>
                </a:tc>
                <a:tc>
                  <a:txBody>
                    <a:bodyPr/>
                    <a:lstStyle/>
                    <a:p>
                      <a:pPr algn="r" fontAlgn="b">
                        <a:buNone/>
                      </a:pPr>
                      <a:r>
                        <a:rPr lang="en-US" sz="1800" u="none" strike="noStrike">
                          <a:effectLst/>
                        </a:rPr>
                        <a:t>0.37</a:t>
                      </a:r>
                      <a:endParaRPr lang="en-US" sz="1800" b="0" i="0" u="none" strike="noStrike">
                        <a:solidFill>
                          <a:srgbClr val="000000"/>
                        </a:solidFill>
                        <a:effectLst/>
                        <a:latin typeface="Calibri" panose="020F0502020204030204" pitchFamily="34" charset="0"/>
                      </a:endParaRPr>
                    </a:p>
                  </a:txBody>
                  <a:tcPr marL="6350" marR="6350" marT="6350" marB="0" anchor="b"/>
                </a:tc>
                <a:tc>
                  <a:txBody>
                    <a:bodyPr/>
                    <a:lstStyle/>
                    <a:p>
                      <a:pPr algn="r" fontAlgn="b">
                        <a:buNone/>
                      </a:pPr>
                      <a:r>
                        <a:rPr lang="en-US" sz="1800" u="none" strike="noStrike">
                          <a:effectLst/>
                        </a:rPr>
                        <a:t>0.05</a:t>
                      </a:r>
                      <a:endParaRPr lang="en-US" sz="1800" b="0" i="0" u="none" strike="noStrike">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3321508775"/>
                  </a:ext>
                </a:extLst>
              </a:tr>
              <a:tr h="292811">
                <a:tc>
                  <a:txBody>
                    <a:bodyPr/>
                    <a:lstStyle/>
                    <a:p>
                      <a:pPr algn="r" fontAlgn="b">
                        <a:buNone/>
                      </a:pPr>
                      <a:r>
                        <a:rPr lang="en-US" sz="1800" u="none" strike="noStrike">
                          <a:effectLst/>
                        </a:rPr>
                        <a:t>Ti</a:t>
                      </a:r>
                      <a:endParaRPr lang="en-US" sz="1800" b="0" i="0" u="none" strike="noStrike">
                        <a:solidFill>
                          <a:srgbClr val="000000"/>
                        </a:solidFill>
                        <a:effectLst/>
                        <a:latin typeface="Calibri" panose="020F0502020204030204" pitchFamily="34" charset="0"/>
                      </a:endParaRPr>
                    </a:p>
                  </a:txBody>
                  <a:tcPr marL="6350" marR="6350" marT="6350" marB="0" anchor="b"/>
                </a:tc>
                <a:tc>
                  <a:txBody>
                    <a:bodyPr/>
                    <a:lstStyle/>
                    <a:p>
                      <a:pPr algn="r" fontAlgn="b">
                        <a:buNone/>
                      </a:pPr>
                      <a:r>
                        <a:rPr lang="en-US" sz="1800" u="none" strike="noStrike">
                          <a:effectLst/>
                        </a:rPr>
                        <a:t>1.25</a:t>
                      </a:r>
                      <a:endParaRPr lang="en-US" sz="1800" b="0" i="0" u="none" strike="noStrike">
                        <a:solidFill>
                          <a:srgbClr val="000000"/>
                        </a:solidFill>
                        <a:effectLst/>
                        <a:latin typeface="Calibri" panose="020F0502020204030204" pitchFamily="34" charset="0"/>
                      </a:endParaRPr>
                    </a:p>
                  </a:txBody>
                  <a:tcPr marL="6350" marR="6350" marT="6350" marB="0" anchor="b"/>
                </a:tc>
                <a:tc>
                  <a:txBody>
                    <a:bodyPr/>
                    <a:lstStyle/>
                    <a:p>
                      <a:pPr algn="r" fontAlgn="b">
                        <a:buNone/>
                      </a:pPr>
                      <a:r>
                        <a:rPr lang="en-US" sz="1800" u="none" strike="noStrike">
                          <a:effectLst/>
                        </a:rPr>
                        <a:t>0.07</a:t>
                      </a:r>
                      <a:endParaRPr lang="en-US" sz="1800" b="0" i="0" u="none" strike="noStrike">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3743841759"/>
                  </a:ext>
                </a:extLst>
              </a:tr>
              <a:tr h="292811">
                <a:tc>
                  <a:txBody>
                    <a:bodyPr/>
                    <a:lstStyle/>
                    <a:p>
                      <a:pPr algn="r" fontAlgn="b">
                        <a:buNone/>
                      </a:pPr>
                      <a:r>
                        <a:rPr lang="en-US" sz="1800" u="none" strike="noStrike">
                          <a:effectLst/>
                        </a:rPr>
                        <a:t>Mn</a:t>
                      </a:r>
                      <a:endParaRPr lang="en-US" sz="1800" b="0" i="0" u="none" strike="noStrike">
                        <a:solidFill>
                          <a:srgbClr val="000000"/>
                        </a:solidFill>
                        <a:effectLst/>
                        <a:latin typeface="Calibri" panose="020F0502020204030204" pitchFamily="34" charset="0"/>
                      </a:endParaRPr>
                    </a:p>
                  </a:txBody>
                  <a:tcPr marL="6350" marR="6350" marT="6350" marB="0" anchor="b"/>
                </a:tc>
                <a:tc>
                  <a:txBody>
                    <a:bodyPr/>
                    <a:lstStyle/>
                    <a:p>
                      <a:pPr algn="r" fontAlgn="b">
                        <a:buNone/>
                      </a:pPr>
                      <a:r>
                        <a:rPr lang="en-US" sz="1800" u="none" strike="noStrike">
                          <a:effectLst/>
                        </a:rPr>
                        <a:t>0</a:t>
                      </a:r>
                      <a:endParaRPr lang="en-US" sz="1800" b="0" i="0" u="none" strike="noStrike">
                        <a:solidFill>
                          <a:srgbClr val="000000"/>
                        </a:solidFill>
                        <a:effectLst/>
                        <a:latin typeface="Calibri" panose="020F0502020204030204" pitchFamily="34" charset="0"/>
                      </a:endParaRPr>
                    </a:p>
                  </a:txBody>
                  <a:tcPr marL="6350" marR="6350" marT="6350" marB="0" anchor="b"/>
                </a:tc>
                <a:tc>
                  <a:txBody>
                    <a:bodyPr/>
                    <a:lstStyle/>
                    <a:p>
                      <a:pPr algn="r" fontAlgn="b">
                        <a:buNone/>
                      </a:pPr>
                      <a:r>
                        <a:rPr lang="en-US" sz="1800" u="none" strike="noStrike">
                          <a:effectLst/>
                        </a:rPr>
                        <a:t>0.08</a:t>
                      </a:r>
                      <a:endParaRPr lang="en-US" sz="1800" b="0" i="0" u="none" strike="noStrike">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84328987"/>
                  </a:ext>
                </a:extLst>
              </a:tr>
              <a:tr h="292811">
                <a:tc>
                  <a:txBody>
                    <a:bodyPr/>
                    <a:lstStyle/>
                    <a:p>
                      <a:pPr algn="r" fontAlgn="b">
                        <a:buNone/>
                      </a:pPr>
                      <a:r>
                        <a:rPr lang="en-US" sz="1800" u="none" strike="noStrike">
                          <a:effectLst/>
                        </a:rPr>
                        <a:t>Fe</a:t>
                      </a:r>
                      <a:endParaRPr lang="en-US" sz="1800" b="0" i="0" u="none" strike="noStrike">
                        <a:solidFill>
                          <a:srgbClr val="000000"/>
                        </a:solidFill>
                        <a:effectLst/>
                        <a:latin typeface="Calibri" panose="020F0502020204030204" pitchFamily="34" charset="0"/>
                      </a:endParaRPr>
                    </a:p>
                  </a:txBody>
                  <a:tcPr marL="6350" marR="6350" marT="6350" marB="0" anchor="b"/>
                </a:tc>
                <a:tc>
                  <a:txBody>
                    <a:bodyPr/>
                    <a:lstStyle/>
                    <a:p>
                      <a:pPr algn="r" fontAlgn="b">
                        <a:buNone/>
                      </a:pPr>
                      <a:r>
                        <a:rPr lang="en-US" sz="1800" u="none" strike="noStrike">
                          <a:effectLst/>
                        </a:rPr>
                        <a:t>0.04</a:t>
                      </a:r>
                      <a:endParaRPr lang="en-US" sz="1800" b="0" i="0" u="none" strike="noStrike">
                        <a:solidFill>
                          <a:srgbClr val="000000"/>
                        </a:solidFill>
                        <a:effectLst/>
                        <a:latin typeface="Calibri" panose="020F0502020204030204" pitchFamily="34" charset="0"/>
                      </a:endParaRPr>
                    </a:p>
                  </a:txBody>
                  <a:tcPr marL="6350" marR="6350" marT="6350" marB="0" anchor="b"/>
                </a:tc>
                <a:tc>
                  <a:txBody>
                    <a:bodyPr/>
                    <a:lstStyle/>
                    <a:p>
                      <a:pPr algn="r" fontAlgn="b">
                        <a:buNone/>
                      </a:pPr>
                      <a:r>
                        <a:rPr lang="en-US" sz="1800" u="none" strike="noStrike">
                          <a:effectLst/>
                        </a:rPr>
                        <a:t>0.09</a:t>
                      </a:r>
                      <a:endParaRPr lang="en-US" sz="1800" b="0" i="0" u="none" strike="noStrike">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3093495244"/>
                  </a:ext>
                </a:extLst>
              </a:tr>
              <a:tr h="292811">
                <a:tc>
                  <a:txBody>
                    <a:bodyPr/>
                    <a:lstStyle/>
                    <a:p>
                      <a:pPr algn="r" fontAlgn="b">
                        <a:buNone/>
                      </a:pPr>
                      <a:r>
                        <a:rPr lang="en-US" sz="1800" u="none" strike="noStrike">
                          <a:effectLst/>
                        </a:rPr>
                        <a:t>Total:</a:t>
                      </a:r>
                      <a:endParaRPr lang="en-US" sz="1800" b="0" i="0" u="none" strike="noStrike">
                        <a:solidFill>
                          <a:srgbClr val="000000"/>
                        </a:solidFill>
                        <a:effectLst/>
                        <a:latin typeface="Calibri" panose="020F0502020204030204" pitchFamily="34" charset="0"/>
                      </a:endParaRPr>
                    </a:p>
                  </a:txBody>
                  <a:tcPr marL="6350" marR="6350" marT="6350" marB="0" anchor="b"/>
                </a:tc>
                <a:tc>
                  <a:txBody>
                    <a:bodyPr/>
                    <a:lstStyle/>
                    <a:p>
                      <a:pPr algn="r" fontAlgn="b">
                        <a:buNone/>
                      </a:pPr>
                      <a:r>
                        <a:rPr lang="en-US" sz="1800" u="none" strike="noStrike">
                          <a:effectLst/>
                        </a:rPr>
                        <a:t>100</a:t>
                      </a:r>
                      <a:endParaRPr lang="en-US" sz="1800" b="0" i="0" u="none" strike="noStrike">
                        <a:solidFill>
                          <a:srgbClr val="000000"/>
                        </a:solidFill>
                        <a:effectLst/>
                        <a:latin typeface="Calibri" panose="020F0502020204030204" pitchFamily="34" charset="0"/>
                      </a:endParaRPr>
                    </a:p>
                  </a:txBody>
                  <a:tcPr marL="6350" marR="6350" marT="6350" marB="0" anchor="b"/>
                </a:tc>
                <a:tc>
                  <a:txBody>
                    <a:bodyPr/>
                    <a:lstStyle/>
                    <a:p>
                      <a:pPr algn="r" fontAlgn="b">
                        <a:buNone/>
                      </a:pPr>
                      <a:endParaRPr lang="en-US" sz="1800" b="0" i="0" u="none" strike="noStrike" dirty="0">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2883648233"/>
                  </a:ext>
                </a:extLst>
              </a:tr>
            </a:tbl>
          </a:graphicData>
        </a:graphic>
      </p:graphicFrame>
    </p:spTree>
    <p:extLst>
      <p:ext uri="{BB962C8B-B14F-4D97-AF65-F5344CB8AC3E}">
        <p14:creationId xmlns:p14="http://schemas.microsoft.com/office/powerpoint/2010/main" val="272255398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5D88C-7F9F-4732-5535-665590BE109A}"/>
              </a:ext>
            </a:extLst>
          </p:cNvPr>
          <p:cNvSpPr>
            <a:spLocks noGrp="1"/>
          </p:cNvSpPr>
          <p:nvPr>
            <p:ph type="title"/>
          </p:nvPr>
        </p:nvSpPr>
        <p:spPr/>
        <p:txBody>
          <a:bodyPr/>
          <a:lstStyle/>
          <a:p>
            <a:pPr algn="ctr"/>
            <a:r>
              <a:rPr lang="en-US"/>
              <a:t>Percent Replacement Results for AFG at 800</a:t>
            </a:r>
            <a:r>
              <a:rPr lang="en-US">
                <a:latin typeface="Calibri" panose="020F0502020204030204" pitchFamily="34" charset="0"/>
                <a:ea typeface="Calibri" panose="020F0502020204030204" pitchFamily="34" charset="0"/>
                <a:cs typeface="Calibri" panose="020F0502020204030204" pitchFamily="34" charset="0"/>
              </a:rPr>
              <a:t>°C</a:t>
            </a:r>
            <a:endParaRPr lang="en-US"/>
          </a:p>
        </p:txBody>
      </p:sp>
      <p:graphicFrame>
        <p:nvGraphicFramePr>
          <p:cNvPr id="17" name="Content Placeholder 16">
            <a:extLst>
              <a:ext uri="{FF2B5EF4-FFF2-40B4-BE49-F238E27FC236}">
                <a16:creationId xmlns:a16="http://schemas.microsoft.com/office/drawing/2014/main" id="{06EF5D38-B520-9CD7-4FA8-6E8F352FDE7C}"/>
              </a:ext>
            </a:extLst>
          </p:cNvPr>
          <p:cNvGraphicFramePr>
            <a:graphicFrameLocks noGrp="1"/>
          </p:cNvGraphicFramePr>
          <p:nvPr>
            <p:ph sz="quarter" idx="12"/>
            <p:extLst>
              <p:ext uri="{D42A27DB-BD31-4B8C-83A1-F6EECF244321}">
                <p14:modId xmlns:p14="http://schemas.microsoft.com/office/powerpoint/2010/main" val="785874768"/>
              </p:ext>
            </p:extLst>
          </p:nvPr>
        </p:nvGraphicFramePr>
        <p:xfrm>
          <a:off x="1468814" y="2057400"/>
          <a:ext cx="3532604" cy="2139020"/>
        </p:xfrm>
        <a:graphic>
          <a:graphicData uri="http://schemas.openxmlformats.org/drawingml/2006/table">
            <a:tbl>
              <a:tblPr/>
              <a:tblGrid>
                <a:gridCol w="883151">
                  <a:extLst>
                    <a:ext uri="{9D8B030D-6E8A-4147-A177-3AD203B41FA5}">
                      <a16:colId xmlns:a16="http://schemas.microsoft.com/office/drawing/2014/main" val="1633259129"/>
                    </a:ext>
                  </a:extLst>
                </a:gridCol>
                <a:gridCol w="883151">
                  <a:extLst>
                    <a:ext uri="{9D8B030D-6E8A-4147-A177-3AD203B41FA5}">
                      <a16:colId xmlns:a16="http://schemas.microsoft.com/office/drawing/2014/main" val="1327601929"/>
                    </a:ext>
                  </a:extLst>
                </a:gridCol>
                <a:gridCol w="883151">
                  <a:extLst>
                    <a:ext uri="{9D8B030D-6E8A-4147-A177-3AD203B41FA5}">
                      <a16:colId xmlns:a16="http://schemas.microsoft.com/office/drawing/2014/main" val="4053304001"/>
                    </a:ext>
                  </a:extLst>
                </a:gridCol>
                <a:gridCol w="883151">
                  <a:extLst>
                    <a:ext uri="{9D8B030D-6E8A-4147-A177-3AD203B41FA5}">
                      <a16:colId xmlns:a16="http://schemas.microsoft.com/office/drawing/2014/main" val="4288229425"/>
                    </a:ext>
                  </a:extLst>
                </a:gridCol>
              </a:tblGrid>
              <a:tr h="805796">
                <a:tc>
                  <a:txBody>
                    <a:bodyPr/>
                    <a:lstStyle/>
                    <a:p>
                      <a:pPr algn="l" fontAlgn="b">
                        <a:buNone/>
                      </a:pPr>
                      <a:r>
                        <a:rPr lang="en-US" sz="1600" b="1" i="0" u="none" strike="noStrike">
                          <a:solidFill>
                            <a:srgbClr val="FFFFFF"/>
                          </a:solidFill>
                          <a:effectLst/>
                          <a:latin typeface="Aptos Narrow" panose="020B0004020202020204" pitchFamily="34" charset="0"/>
                        </a:rPr>
                        <a:t>Duration (days)</a:t>
                      </a:r>
                    </a:p>
                  </a:txBody>
                  <a:tcPr marL="6350" marR="6350" marT="6350" marB="0" anchor="b">
                    <a:lnL w="6350" cap="flat" cmpd="sng" algn="ctr">
                      <a:solidFill>
                        <a:srgbClr val="44B3E1"/>
                      </a:solidFill>
                      <a:prstDash val="solid"/>
                      <a:round/>
                      <a:headEnd type="none" w="med" len="med"/>
                      <a:tailEnd type="none" w="med" len="med"/>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rgbClr val="156082"/>
                    </a:solidFill>
                  </a:tcPr>
                </a:tc>
                <a:tc>
                  <a:txBody>
                    <a:bodyPr/>
                    <a:lstStyle/>
                    <a:p>
                      <a:pPr algn="l" fontAlgn="b">
                        <a:buNone/>
                      </a:pPr>
                      <a:r>
                        <a:rPr lang="el-GR" sz="1600" b="1" i="0" u="none" strike="noStrike">
                          <a:solidFill>
                            <a:srgbClr val="FFFFFF"/>
                          </a:solidFill>
                          <a:effectLst/>
                          <a:latin typeface="Aptos Narrow" panose="020B0004020202020204" pitchFamily="34" charset="0"/>
                        </a:rPr>
                        <a:t>δ29</a:t>
                      </a:r>
                      <a:r>
                        <a:rPr lang="en-US" sz="1600" b="1" i="0" u="none" strike="noStrike">
                          <a:solidFill>
                            <a:srgbClr val="FFFFFF"/>
                          </a:solidFill>
                          <a:effectLst/>
                          <a:latin typeface="Aptos Narrow" panose="020B0004020202020204" pitchFamily="34" charset="0"/>
                        </a:rPr>
                        <a:t>Si of solids</a:t>
                      </a:r>
                    </a:p>
                  </a:txBody>
                  <a:tcPr marL="6350" marR="6350" marT="6350" marB="0" anchor="b">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rgbClr val="156082"/>
                    </a:solidFill>
                  </a:tcPr>
                </a:tc>
                <a:tc>
                  <a:txBody>
                    <a:bodyPr/>
                    <a:lstStyle/>
                    <a:p>
                      <a:pPr algn="l" fontAlgn="b">
                        <a:buNone/>
                      </a:pPr>
                      <a:r>
                        <a:rPr lang="el-GR" sz="1600" b="1" i="0" u="none" strike="noStrike">
                          <a:solidFill>
                            <a:srgbClr val="FFFFFF"/>
                          </a:solidFill>
                          <a:effectLst/>
                          <a:latin typeface="Aptos Narrow" panose="020B0004020202020204" pitchFamily="34" charset="0"/>
                        </a:rPr>
                        <a:t>δ29</a:t>
                      </a:r>
                      <a:r>
                        <a:rPr lang="en-US" sz="1600" b="1" i="0" u="none" strike="noStrike">
                          <a:solidFill>
                            <a:srgbClr val="FFFFFF"/>
                          </a:solidFill>
                          <a:effectLst/>
                          <a:latin typeface="Aptos Narrow" panose="020B0004020202020204" pitchFamily="34" charset="0"/>
                        </a:rPr>
                        <a:t>Si of solutes</a:t>
                      </a:r>
                    </a:p>
                  </a:txBody>
                  <a:tcPr marL="6350" marR="6350" marT="6350" marB="0" anchor="b">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rgbClr val="156082"/>
                    </a:solidFill>
                  </a:tcPr>
                </a:tc>
                <a:tc>
                  <a:txBody>
                    <a:bodyPr/>
                    <a:lstStyle/>
                    <a:p>
                      <a:pPr algn="l" fontAlgn="b">
                        <a:buNone/>
                      </a:pPr>
                      <a:r>
                        <a:rPr lang="en-US" sz="1600" b="1" i="0" u="none" strike="noStrike">
                          <a:solidFill>
                            <a:srgbClr val="FFFFFF"/>
                          </a:solidFill>
                          <a:effectLst/>
                          <a:latin typeface="Aptos Narrow" panose="020B0004020202020204" pitchFamily="34" charset="0"/>
                        </a:rPr>
                        <a:t>Image analysis</a:t>
                      </a:r>
                    </a:p>
                  </a:txBody>
                  <a:tcPr marL="6350" marR="6350" marT="6350" marB="0" anchor="b">
                    <a:lnL>
                      <a:noFill/>
                    </a:lnL>
                    <a:lnR w="6350" cap="flat" cmpd="sng" algn="ctr">
                      <a:solidFill>
                        <a:srgbClr val="44B3E1"/>
                      </a:solidFill>
                      <a:prstDash val="solid"/>
                      <a:round/>
                      <a:headEnd type="none" w="med" len="med"/>
                      <a:tailEnd type="none" w="med" len="med"/>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rgbClr val="156082"/>
                    </a:solidFill>
                  </a:tcPr>
                </a:tc>
                <a:extLst>
                  <a:ext uri="{0D108BD9-81ED-4DB2-BD59-A6C34878D82A}">
                    <a16:rowId xmlns:a16="http://schemas.microsoft.com/office/drawing/2014/main" val="985212967"/>
                  </a:ext>
                </a:extLst>
              </a:tr>
              <a:tr h="436473">
                <a:tc>
                  <a:txBody>
                    <a:bodyPr/>
                    <a:lstStyle/>
                    <a:p>
                      <a:pPr algn="r" fontAlgn="b">
                        <a:buNone/>
                      </a:pPr>
                      <a:r>
                        <a:rPr lang="en-US" sz="1600" b="0" i="0" u="none" strike="noStrike">
                          <a:solidFill>
                            <a:srgbClr val="000000"/>
                          </a:solidFill>
                          <a:effectLst/>
                          <a:latin typeface="Aptos Narrow" panose="020B0004020202020204" pitchFamily="34" charset="0"/>
                        </a:rPr>
                        <a:t>3</a:t>
                      </a:r>
                    </a:p>
                  </a:txBody>
                  <a:tcPr marL="6350" marR="6350" marT="6350" marB="0" anchor="b">
                    <a:lnL w="6350" cap="flat" cmpd="sng" algn="ctr">
                      <a:solidFill>
                        <a:srgbClr val="44B3E1"/>
                      </a:solidFill>
                      <a:prstDash val="solid"/>
                      <a:round/>
                      <a:headEnd type="none" w="med" len="med"/>
                      <a:tailEnd type="none" w="med" len="med"/>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rgbClr val="C0E6F5"/>
                    </a:solidFill>
                  </a:tcPr>
                </a:tc>
                <a:tc>
                  <a:txBody>
                    <a:bodyPr/>
                    <a:lstStyle/>
                    <a:p>
                      <a:pPr algn="r" fontAlgn="b">
                        <a:buNone/>
                      </a:pPr>
                      <a:r>
                        <a:rPr lang="en-US" sz="1600" b="0" i="0" u="none" strike="noStrike">
                          <a:solidFill>
                            <a:srgbClr val="000000"/>
                          </a:solidFill>
                          <a:effectLst/>
                          <a:latin typeface="Aptos Narrow" panose="020B0004020202020204" pitchFamily="34" charset="0"/>
                        </a:rPr>
                        <a:t>6.0</a:t>
                      </a:r>
                    </a:p>
                  </a:txBody>
                  <a:tcPr marL="6350" marR="6350" marT="6350" marB="0" anchor="b">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rgbClr val="C0E6F5"/>
                    </a:solidFill>
                  </a:tcPr>
                </a:tc>
                <a:tc>
                  <a:txBody>
                    <a:bodyPr/>
                    <a:lstStyle/>
                    <a:p>
                      <a:pPr algn="r" fontAlgn="b">
                        <a:buNone/>
                      </a:pPr>
                      <a:r>
                        <a:rPr lang="en-US" sz="1600" b="0" i="0" u="none" strike="noStrike">
                          <a:solidFill>
                            <a:srgbClr val="000000"/>
                          </a:solidFill>
                          <a:effectLst/>
                          <a:latin typeface="Aptos Narrow" panose="020B0004020202020204" pitchFamily="34" charset="0"/>
                        </a:rPr>
                        <a:t>14.8</a:t>
                      </a:r>
                    </a:p>
                  </a:txBody>
                  <a:tcPr marL="6350" marR="6350" marT="6350" marB="0" anchor="b">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rgbClr val="C0E6F5"/>
                    </a:solidFill>
                  </a:tcPr>
                </a:tc>
                <a:tc>
                  <a:txBody>
                    <a:bodyPr/>
                    <a:lstStyle/>
                    <a:p>
                      <a:pPr algn="r" fontAlgn="b">
                        <a:buNone/>
                      </a:pPr>
                      <a:r>
                        <a:rPr lang="en-US" sz="1600" b="0" i="0" u="none" strike="noStrike">
                          <a:solidFill>
                            <a:srgbClr val="000000"/>
                          </a:solidFill>
                          <a:effectLst/>
                          <a:latin typeface="Aptos Narrow" panose="020B0004020202020204" pitchFamily="34" charset="0"/>
                        </a:rPr>
                        <a:t>15.3</a:t>
                      </a:r>
                    </a:p>
                  </a:txBody>
                  <a:tcPr marL="6350" marR="6350" marT="6350" marB="0" anchor="b">
                    <a:lnL>
                      <a:noFill/>
                    </a:lnL>
                    <a:lnR w="6350" cap="flat" cmpd="sng" algn="ctr">
                      <a:solidFill>
                        <a:srgbClr val="44B3E1"/>
                      </a:solidFill>
                      <a:prstDash val="solid"/>
                      <a:round/>
                      <a:headEnd type="none" w="med" len="med"/>
                      <a:tailEnd type="none" w="med" len="med"/>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rgbClr val="C0E6F5"/>
                    </a:solidFill>
                  </a:tcPr>
                </a:tc>
                <a:extLst>
                  <a:ext uri="{0D108BD9-81ED-4DB2-BD59-A6C34878D82A}">
                    <a16:rowId xmlns:a16="http://schemas.microsoft.com/office/drawing/2014/main" val="2271068409"/>
                  </a:ext>
                </a:extLst>
              </a:tr>
              <a:tr h="439551">
                <a:tc>
                  <a:txBody>
                    <a:bodyPr/>
                    <a:lstStyle/>
                    <a:p>
                      <a:pPr algn="r" fontAlgn="b">
                        <a:buNone/>
                      </a:pPr>
                      <a:r>
                        <a:rPr lang="en-US" sz="1600" b="0" i="0" u="none" strike="noStrike">
                          <a:solidFill>
                            <a:srgbClr val="000000"/>
                          </a:solidFill>
                          <a:effectLst/>
                          <a:latin typeface="Aptos Narrow" panose="020B0004020202020204" pitchFamily="34" charset="0"/>
                        </a:rPr>
                        <a:t>7</a:t>
                      </a:r>
                    </a:p>
                  </a:txBody>
                  <a:tcPr marL="6350" marR="6350" marT="6350" marB="0" anchor="b">
                    <a:lnL w="6350" cap="flat" cmpd="sng" algn="ctr">
                      <a:solidFill>
                        <a:srgbClr val="44B3E1"/>
                      </a:solidFill>
                      <a:prstDash val="solid"/>
                      <a:round/>
                      <a:headEnd type="none" w="med" len="med"/>
                      <a:tailEnd type="none" w="med" len="med"/>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algn="r" fontAlgn="b">
                        <a:buNone/>
                      </a:pPr>
                      <a:r>
                        <a:rPr lang="en-US" sz="1600" b="0" i="0" u="none" strike="noStrike">
                          <a:solidFill>
                            <a:srgbClr val="000000"/>
                          </a:solidFill>
                          <a:effectLst/>
                          <a:latin typeface="Aptos Narrow" panose="020B0004020202020204" pitchFamily="34" charset="0"/>
                        </a:rPr>
                        <a:t>26.5</a:t>
                      </a:r>
                    </a:p>
                  </a:txBody>
                  <a:tcPr marL="6350" marR="6350" marT="6350" marB="0" anchor="b">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algn="r" fontAlgn="b">
                        <a:buNone/>
                      </a:pPr>
                      <a:r>
                        <a:rPr lang="en-US" sz="1600" b="0" i="0" u="none" strike="noStrike">
                          <a:solidFill>
                            <a:srgbClr val="000000"/>
                          </a:solidFill>
                          <a:effectLst/>
                          <a:latin typeface="Aptos Narrow" panose="020B0004020202020204" pitchFamily="34" charset="0"/>
                        </a:rPr>
                        <a:t>10.2</a:t>
                      </a:r>
                    </a:p>
                  </a:txBody>
                  <a:tcPr marL="6350" marR="6350" marT="6350" marB="0" anchor="b">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algn="r" fontAlgn="b">
                        <a:buNone/>
                      </a:pPr>
                      <a:r>
                        <a:rPr lang="en-US" sz="1600" b="0" i="0" u="none" strike="noStrike">
                          <a:solidFill>
                            <a:srgbClr val="000000"/>
                          </a:solidFill>
                          <a:effectLst/>
                          <a:latin typeface="Aptos Narrow" panose="020B0004020202020204" pitchFamily="34" charset="0"/>
                        </a:rPr>
                        <a:t>17.8</a:t>
                      </a:r>
                    </a:p>
                  </a:txBody>
                  <a:tcPr marL="6350" marR="6350" marT="6350" marB="0" anchor="b">
                    <a:lnL>
                      <a:noFill/>
                    </a:lnL>
                    <a:lnR w="6350" cap="flat" cmpd="sng" algn="ctr">
                      <a:solidFill>
                        <a:srgbClr val="44B3E1"/>
                      </a:solidFill>
                      <a:prstDash val="solid"/>
                      <a:round/>
                      <a:headEnd type="none" w="med" len="med"/>
                      <a:tailEnd type="none" w="med" len="med"/>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extLst>
                  <a:ext uri="{0D108BD9-81ED-4DB2-BD59-A6C34878D82A}">
                    <a16:rowId xmlns:a16="http://schemas.microsoft.com/office/drawing/2014/main" val="3259911171"/>
                  </a:ext>
                </a:extLst>
              </a:tr>
              <a:tr h="457200">
                <a:tc>
                  <a:txBody>
                    <a:bodyPr/>
                    <a:lstStyle/>
                    <a:p>
                      <a:pPr algn="r" fontAlgn="b">
                        <a:buNone/>
                      </a:pPr>
                      <a:r>
                        <a:rPr lang="en-US" sz="1600" b="0" i="0" u="none" strike="noStrike">
                          <a:solidFill>
                            <a:srgbClr val="000000"/>
                          </a:solidFill>
                          <a:effectLst/>
                          <a:latin typeface="Aptos Narrow" panose="020B0004020202020204" pitchFamily="34" charset="0"/>
                        </a:rPr>
                        <a:t>19</a:t>
                      </a:r>
                    </a:p>
                  </a:txBody>
                  <a:tcPr marL="6350" marR="6350" marT="6350" marB="0" anchor="b">
                    <a:lnL w="6350" cap="flat" cmpd="sng" algn="ctr">
                      <a:solidFill>
                        <a:srgbClr val="44B3E1"/>
                      </a:solidFill>
                      <a:prstDash val="solid"/>
                      <a:round/>
                      <a:headEnd type="none" w="med" len="med"/>
                      <a:tailEnd type="none" w="med" len="med"/>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rgbClr val="C0E6F5"/>
                    </a:solidFill>
                  </a:tcPr>
                </a:tc>
                <a:tc>
                  <a:txBody>
                    <a:bodyPr/>
                    <a:lstStyle/>
                    <a:p>
                      <a:pPr algn="r" fontAlgn="b">
                        <a:buNone/>
                      </a:pPr>
                      <a:r>
                        <a:rPr lang="en-US" sz="1600" b="0" i="0" u="none" strike="noStrike">
                          <a:solidFill>
                            <a:srgbClr val="000000"/>
                          </a:solidFill>
                          <a:effectLst/>
                          <a:latin typeface="Aptos Narrow" panose="020B0004020202020204" pitchFamily="34" charset="0"/>
                        </a:rPr>
                        <a:t>19.3</a:t>
                      </a:r>
                    </a:p>
                  </a:txBody>
                  <a:tcPr marL="6350" marR="6350" marT="6350" marB="0" anchor="b">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rgbClr val="C0E6F5"/>
                    </a:solidFill>
                  </a:tcPr>
                </a:tc>
                <a:tc>
                  <a:txBody>
                    <a:bodyPr/>
                    <a:lstStyle/>
                    <a:p>
                      <a:pPr algn="r" fontAlgn="b">
                        <a:buNone/>
                      </a:pPr>
                      <a:r>
                        <a:rPr lang="en-US" sz="1600" b="0" i="0" u="none" strike="noStrike">
                          <a:solidFill>
                            <a:srgbClr val="000000"/>
                          </a:solidFill>
                          <a:effectLst/>
                          <a:latin typeface="Aptos Narrow" panose="020B0004020202020204" pitchFamily="34" charset="0"/>
                        </a:rPr>
                        <a:t>19.9</a:t>
                      </a:r>
                    </a:p>
                  </a:txBody>
                  <a:tcPr marL="6350" marR="6350" marT="6350" marB="0" anchor="b">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rgbClr val="C0E6F5"/>
                    </a:solidFill>
                  </a:tcPr>
                </a:tc>
                <a:tc>
                  <a:txBody>
                    <a:bodyPr/>
                    <a:lstStyle/>
                    <a:p>
                      <a:pPr algn="r" fontAlgn="b">
                        <a:buNone/>
                      </a:pPr>
                      <a:r>
                        <a:rPr lang="en-US" sz="1600" b="0" i="0" u="none" strike="noStrike">
                          <a:solidFill>
                            <a:srgbClr val="000000"/>
                          </a:solidFill>
                          <a:effectLst/>
                          <a:latin typeface="Aptos Narrow" panose="020B0004020202020204" pitchFamily="34" charset="0"/>
                        </a:rPr>
                        <a:t>18.5</a:t>
                      </a:r>
                    </a:p>
                  </a:txBody>
                  <a:tcPr marL="6350" marR="6350" marT="6350" marB="0" anchor="b">
                    <a:lnL>
                      <a:noFill/>
                    </a:lnL>
                    <a:lnR w="6350" cap="flat" cmpd="sng" algn="ctr">
                      <a:solidFill>
                        <a:srgbClr val="44B3E1"/>
                      </a:solidFill>
                      <a:prstDash val="solid"/>
                      <a:round/>
                      <a:headEnd type="none" w="med" len="med"/>
                      <a:tailEnd type="none" w="med" len="med"/>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rgbClr val="C0E6F5"/>
                    </a:solidFill>
                  </a:tcPr>
                </a:tc>
                <a:extLst>
                  <a:ext uri="{0D108BD9-81ED-4DB2-BD59-A6C34878D82A}">
                    <a16:rowId xmlns:a16="http://schemas.microsoft.com/office/drawing/2014/main" val="2135143612"/>
                  </a:ext>
                </a:extLst>
              </a:tr>
            </a:tbl>
          </a:graphicData>
        </a:graphic>
      </p:graphicFrame>
      <p:graphicFrame>
        <p:nvGraphicFramePr>
          <p:cNvPr id="18" name="Content Placeholder 17">
            <a:extLst>
              <a:ext uri="{FF2B5EF4-FFF2-40B4-BE49-F238E27FC236}">
                <a16:creationId xmlns:a16="http://schemas.microsoft.com/office/drawing/2014/main" id="{DBD49918-F443-0B55-61C5-D301DED9C072}"/>
              </a:ext>
            </a:extLst>
          </p:cNvPr>
          <p:cNvGraphicFramePr>
            <a:graphicFrameLocks noGrp="1"/>
          </p:cNvGraphicFramePr>
          <p:nvPr>
            <p:ph sz="quarter" idx="11"/>
            <p:extLst>
              <p:ext uri="{D42A27DB-BD31-4B8C-83A1-F6EECF244321}">
                <p14:modId xmlns:p14="http://schemas.microsoft.com/office/powerpoint/2010/main" val="3662931014"/>
              </p:ext>
            </p:extLst>
          </p:nvPr>
        </p:nvGraphicFramePr>
        <p:xfrm>
          <a:off x="6667500" y="2057400"/>
          <a:ext cx="4610100" cy="4119563"/>
        </p:xfrm>
        <a:graphic>
          <a:graphicData uri="http://schemas.openxmlformats.org/drawingml/2006/chart">
            <c:chart xmlns:c="http://schemas.openxmlformats.org/drawingml/2006/chart" xmlns:r="http://schemas.openxmlformats.org/officeDocument/2006/relationships" r:id="rId2"/>
          </a:graphicData>
        </a:graphic>
      </p:graphicFrame>
      <p:sp>
        <p:nvSpPr>
          <p:cNvPr id="19" name="TextBox 18">
            <a:extLst>
              <a:ext uri="{FF2B5EF4-FFF2-40B4-BE49-F238E27FC236}">
                <a16:creationId xmlns:a16="http://schemas.microsoft.com/office/drawing/2014/main" id="{64B253DF-75B9-42CF-3B66-A1CD8BF2CFE3}"/>
              </a:ext>
            </a:extLst>
          </p:cNvPr>
          <p:cNvSpPr txBox="1"/>
          <p:nvPr/>
        </p:nvSpPr>
        <p:spPr>
          <a:xfrm>
            <a:off x="535577" y="4722321"/>
            <a:ext cx="5133704" cy="1754326"/>
          </a:xfrm>
          <a:prstGeom prst="rect">
            <a:avLst/>
          </a:prstGeom>
          <a:noFill/>
        </p:spPr>
        <p:txBody>
          <a:bodyPr wrap="square" lIns="91440" tIns="45720" rIns="91440" bIns="45720" rtlCol="0" anchor="t">
            <a:spAutoFit/>
          </a:bodyPr>
          <a:lstStyle/>
          <a:p>
            <a:pPr marL="285750" indent="-285750">
              <a:buFont typeface="Arial" panose="020B0604020202020204" pitchFamily="34" charset="0"/>
              <a:buChar char="•"/>
            </a:pPr>
            <a:r>
              <a:rPr lang="en-US" dirty="0"/>
              <a:t>Calculation of % replacement from average </a:t>
            </a:r>
            <a:r>
              <a:rPr lang="el-GR" dirty="0">
                <a:latin typeface="Calibri"/>
                <a:ea typeface="Calibri"/>
                <a:cs typeface="Calibri"/>
              </a:rPr>
              <a:t>δ</a:t>
            </a:r>
            <a:r>
              <a:rPr lang="en-US" baseline="30000" dirty="0">
                <a:latin typeface="Calibri"/>
                <a:ea typeface="Calibri"/>
                <a:cs typeface="Calibri"/>
              </a:rPr>
              <a:t>29</a:t>
            </a:r>
            <a:r>
              <a:rPr lang="en-US" dirty="0">
                <a:latin typeface="Calibri"/>
                <a:ea typeface="Calibri"/>
                <a:cs typeface="Calibri"/>
              </a:rPr>
              <a:t>Si </a:t>
            </a:r>
            <a:r>
              <a:rPr lang="en-US" dirty="0"/>
              <a:t>assumes a homogeneous (batch equilibrium) model.  </a:t>
            </a:r>
          </a:p>
          <a:p>
            <a:pPr marL="285750" indent="-285750">
              <a:buFont typeface="Arial" panose="020B0604020202020204" pitchFamily="34" charset="0"/>
              <a:buChar char="•"/>
            </a:pPr>
            <a:r>
              <a:rPr lang="en-US" dirty="0"/>
              <a:t>In experiments Zir-017 and Zir-018 Norway zircon was completely replaced  after only one day at 600</a:t>
            </a:r>
            <a:r>
              <a:rPr lang="en-US" dirty="0">
                <a:latin typeface="Calibri" panose="020F0502020204030204" pitchFamily="34" charset="0"/>
                <a:ea typeface="Calibri" panose="020F0502020204030204" pitchFamily="34" charset="0"/>
                <a:cs typeface="Calibri" panose="020F0502020204030204" pitchFamily="34" charset="0"/>
              </a:rPr>
              <a:t>°C.</a:t>
            </a:r>
            <a:endParaRPr lang="en-US" dirty="0"/>
          </a:p>
        </p:txBody>
      </p:sp>
    </p:spTree>
    <p:extLst>
      <p:ext uri="{BB962C8B-B14F-4D97-AF65-F5344CB8AC3E}">
        <p14:creationId xmlns:p14="http://schemas.microsoft.com/office/powerpoint/2010/main" val="25196656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CADF64-C6B7-0A86-48C9-F5BCB0725E5C}"/>
              </a:ext>
            </a:extLst>
          </p:cNvPr>
          <p:cNvSpPr>
            <a:spLocks noGrp="1"/>
          </p:cNvSpPr>
          <p:nvPr>
            <p:ph type="title"/>
          </p:nvPr>
        </p:nvSpPr>
        <p:spPr/>
        <p:txBody>
          <a:bodyPr/>
          <a:lstStyle/>
          <a:p>
            <a:pPr algn="ctr"/>
            <a:r>
              <a:rPr lang="en-US" dirty="0"/>
              <a:t>Replacement rates</a:t>
            </a:r>
          </a:p>
        </p:txBody>
      </p:sp>
      <p:graphicFrame>
        <p:nvGraphicFramePr>
          <p:cNvPr id="5" name="Content Placeholder 4">
            <a:extLst>
              <a:ext uri="{FF2B5EF4-FFF2-40B4-BE49-F238E27FC236}">
                <a16:creationId xmlns:a16="http://schemas.microsoft.com/office/drawing/2014/main" id="{930F1E65-B951-44BD-EFFC-7F7C2C7E4B01}"/>
              </a:ext>
            </a:extLst>
          </p:cNvPr>
          <p:cNvGraphicFramePr>
            <a:graphicFrameLocks noGrp="1"/>
          </p:cNvGraphicFramePr>
          <p:nvPr>
            <p:ph sz="quarter" idx="12"/>
            <p:extLst>
              <p:ext uri="{D42A27DB-BD31-4B8C-83A1-F6EECF244321}">
                <p14:modId xmlns:p14="http://schemas.microsoft.com/office/powerpoint/2010/main" val="3979653733"/>
              </p:ext>
            </p:extLst>
          </p:nvPr>
        </p:nvGraphicFramePr>
        <p:xfrm>
          <a:off x="791572" y="2210938"/>
          <a:ext cx="10568203" cy="2530232"/>
        </p:xfrm>
        <a:graphic>
          <a:graphicData uri="http://schemas.openxmlformats.org/drawingml/2006/table">
            <a:tbl>
              <a:tblPr firstCol="1">
                <a:tableStyleId>{0E3FDE45-AF77-4B5C-9715-49D594BDF05E}</a:tableStyleId>
              </a:tblPr>
              <a:tblGrid>
                <a:gridCol w="2215774">
                  <a:extLst>
                    <a:ext uri="{9D8B030D-6E8A-4147-A177-3AD203B41FA5}">
                      <a16:colId xmlns:a16="http://schemas.microsoft.com/office/drawing/2014/main" val="3744725773"/>
                    </a:ext>
                  </a:extLst>
                </a:gridCol>
                <a:gridCol w="858312">
                  <a:extLst>
                    <a:ext uri="{9D8B030D-6E8A-4147-A177-3AD203B41FA5}">
                      <a16:colId xmlns:a16="http://schemas.microsoft.com/office/drawing/2014/main" val="2078496667"/>
                    </a:ext>
                  </a:extLst>
                </a:gridCol>
                <a:gridCol w="917359">
                  <a:extLst>
                    <a:ext uri="{9D8B030D-6E8A-4147-A177-3AD203B41FA5}">
                      <a16:colId xmlns:a16="http://schemas.microsoft.com/office/drawing/2014/main" val="3645243858"/>
                    </a:ext>
                  </a:extLst>
                </a:gridCol>
                <a:gridCol w="1157284">
                  <a:extLst>
                    <a:ext uri="{9D8B030D-6E8A-4147-A177-3AD203B41FA5}">
                      <a16:colId xmlns:a16="http://schemas.microsoft.com/office/drawing/2014/main" val="2418692686"/>
                    </a:ext>
                  </a:extLst>
                </a:gridCol>
                <a:gridCol w="1072604">
                  <a:extLst>
                    <a:ext uri="{9D8B030D-6E8A-4147-A177-3AD203B41FA5}">
                      <a16:colId xmlns:a16="http://schemas.microsoft.com/office/drawing/2014/main" val="1994453431"/>
                    </a:ext>
                  </a:extLst>
                </a:gridCol>
                <a:gridCol w="1072604">
                  <a:extLst>
                    <a:ext uri="{9D8B030D-6E8A-4147-A177-3AD203B41FA5}">
                      <a16:colId xmlns:a16="http://schemas.microsoft.com/office/drawing/2014/main" val="1470337071"/>
                    </a:ext>
                  </a:extLst>
                </a:gridCol>
                <a:gridCol w="1072604">
                  <a:extLst>
                    <a:ext uri="{9D8B030D-6E8A-4147-A177-3AD203B41FA5}">
                      <a16:colId xmlns:a16="http://schemas.microsoft.com/office/drawing/2014/main" val="20541768"/>
                    </a:ext>
                  </a:extLst>
                </a:gridCol>
                <a:gridCol w="1129058">
                  <a:extLst>
                    <a:ext uri="{9D8B030D-6E8A-4147-A177-3AD203B41FA5}">
                      <a16:colId xmlns:a16="http://schemas.microsoft.com/office/drawing/2014/main" val="2025997676"/>
                    </a:ext>
                  </a:extLst>
                </a:gridCol>
                <a:gridCol w="1072604">
                  <a:extLst>
                    <a:ext uri="{9D8B030D-6E8A-4147-A177-3AD203B41FA5}">
                      <a16:colId xmlns:a16="http://schemas.microsoft.com/office/drawing/2014/main" val="3429475212"/>
                    </a:ext>
                  </a:extLst>
                </a:gridCol>
              </a:tblGrid>
              <a:tr h="474178">
                <a:tc>
                  <a:txBody>
                    <a:bodyPr/>
                    <a:lstStyle/>
                    <a:p>
                      <a:pPr algn="l" fontAlgn="b">
                        <a:buNone/>
                      </a:pPr>
                      <a:r>
                        <a:rPr lang="en-US" sz="1800" b="1" u="none" strike="noStrike">
                          <a:effectLst/>
                        </a:rPr>
                        <a:t>Material</a:t>
                      </a:r>
                      <a:endParaRPr lang="en-US" sz="1800" b="1" i="0" u="none" strike="noStrike">
                        <a:solidFill>
                          <a:srgbClr val="000000"/>
                        </a:solidFill>
                        <a:effectLst/>
                        <a:latin typeface="Times New Roman" panose="02020603050405020304" pitchFamily="18" charset="0"/>
                      </a:endParaRPr>
                    </a:p>
                  </a:txBody>
                  <a:tcPr marL="5209" marR="5209" marT="5209" marB="0" anchor="ctr"/>
                </a:tc>
                <a:tc>
                  <a:txBody>
                    <a:bodyPr/>
                    <a:lstStyle/>
                    <a:p>
                      <a:pPr algn="ctr" fontAlgn="b">
                        <a:buNone/>
                      </a:pPr>
                      <a:r>
                        <a:rPr lang="en-US" sz="1800" u="none" strike="noStrike" dirty="0">
                          <a:effectLst/>
                        </a:rPr>
                        <a:t>AFG</a:t>
                      </a:r>
                      <a:endParaRPr lang="en-US" sz="1800" b="0" i="0" u="none" strike="noStrike" dirty="0">
                        <a:solidFill>
                          <a:srgbClr val="000000"/>
                        </a:solidFill>
                        <a:effectLst/>
                        <a:latin typeface="Times New Roman" panose="02020603050405020304" pitchFamily="18" charset="0"/>
                      </a:endParaRPr>
                    </a:p>
                  </a:txBody>
                  <a:tcPr marL="5209" marR="5209" marT="5209" marB="0" anchor="ctr">
                    <a:solidFill>
                      <a:srgbClr val="92D050"/>
                    </a:solidFill>
                  </a:tcPr>
                </a:tc>
                <a:tc>
                  <a:txBody>
                    <a:bodyPr/>
                    <a:lstStyle/>
                    <a:p>
                      <a:pPr algn="ctr" fontAlgn="b">
                        <a:buNone/>
                      </a:pPr>
                      <a:r>
                        <a:rPr lang="en-US" sz="1800" u="none" strike="noStrike">
                          <a:effectLst/>
                        </a:rPr>
                        <a:t>AFG</a:t>
                      </a:r>
                      <a:endParaRPr lang="en-US" sz="1800" b="0" i="0" u="none" strike="noStrike">
                        <a:solidFill>
                          <a:srgbClr val="000000"/>
                        </a:solidFill>
                        <a:effectLst/>
                        <a:latin typeface="Times New Roman" panose="02020603050405020304" pitchFamily="18" charset="0"/>
                      </a:endParaRPr>
                    </a:p>
                  </a:txBody>
                  <a:tcPr marL="5209" marR="5209" marT="5209" marB="0" anchor="ctr">
                    <a:solidFill>
                      <a:srgbClr val="92D050"/>
                    </a:solidFill>
                  </a:tcPr>
                </a:tc>
                <a:tc>
                  <a:txBody>
                    <a:bodyPr/>
                    <a:lstStyle/>
                    <a:p>
                      <a:pPr algn="ctr" fontAlgn="b">
                        <a:buNone/>
                      </a:pPr>
                      <a:r>
                        <a:rPr lang="en-US" sz="1800" u="none" strike="noStrike">
                          <a:effectLst/>
                        </a:rPr>
                        <a:t>AFG</a:t>
                      </a:r>
                      <a:endParaRPr lang="en-US" sz="1800" b="0" i="0" u="none" strike="noStrike">
                        <a:solidFill>
                          <a:srgbClr val="000000"/>
                        </a:solidFill>
                        <a:effectLst/>
                        <a:latin typeface="Times New Roman" panose="02020603050405020304" pitchFamily="18" charset="0"/>
                      </a:endParaRPr>
                    </a:p>
                  </a:txBody>
                  <a:tcPr marL="5209" marR="5209" marT="5209" marB="0" anchor="ctr">
                    <a:solidFill>
                      <a:srgbClr val="00B0F0"/>
                    </a:solidFill>
                  </a:tcPr>
                </a:tc>
                <a:tc>
                  <a:txBody>
                    <a:bodyPr/>
                    <a:lstStyle/>
                    <a:p>
                      <a:pPr algn="ctr" fontAlgn="b">
                        <a:buNone/>
                      </a:pPr>
                      <a:r>
                        <a:rPr lang="en-US" sz="1800" u="none" strike="noStrike">
                          <a:effectLst/>
                        </a:rPr>
                        <a:t>AFG</a:t>
                      </a:r>
                      <a:endParaRPr lang="en-US" sz="1800" b="0" i="0" u="none" strike="noStrike">
                        <a:solidFill>
                          <a:srgbClr val="000000"/>
                        </a:solidFill>
                        <a:effectLst/>
                        <a:latin typeface="Times New Roman" panose="02020603050405020304" pitchFamily="18" charset="0"/>
                      </a:endParaRPr>
                    </a:p>
                  </a:txBody>
                  <a:tcPr marL="5209" marR="5209" marT="5209" marB="0" anchor="ctr">
                    <a:solidFill>
                      <a:srgbClr val="00B0F0"/>
                    </a:solidFill>
                  </a:tcPr>
                </a:tc>
                <a:tc>
                  <a:txBody>
                    <a:bodyPr/>
                    <a:lstStyle/>
                    <a:p>
                      <a:pPr algn="ctr" fontAlgn="b">
                        <a:buNone/>
                      </a:pPr>
                      <a:r>
                        <a:rPr lang="en-US" sz="1800" u="none" strike="noStrike">
                          <a:effectLst/>
                        </a:rPr>
                        <a:t>AFG</a:t>
                      </a:r>
                      <a:endParaRPr lang="en-US" sz="1800" b="0" i="0" u="none" strike="noStrike">
                        <a:solidFill>
                          <a:srgbClr val="000000"/>
                        </a:solidFill>
                        <a:effectLst/>
                        <a:latin typeface="Times New Roman" panose="02020603050405020304" pitchFamily="18" charset="0"/>
                      </a:endParaRPr>
                    </a:p>
                  </a:txBody>
                  <a:tcPr marL="5209" marR="5209" marT="5209" marB="0" anchor="ctr">
                    <a:solidFill>
                      <a:srgbClr val="FFC000"/>
                    </a:solidFill>
                  </a:tcPr>
                </a:tc>
                <a:tc>
                  <a:txBody>
                    <a:bodyPr/>
                    <a:lstStyle/>
                    <a:p>
                      <a:pPr algn="ctr" fontAlgn="b">
                        <a:buNone/>
                      </a:pPr>
                      <a:r>
                        <a:rPr lang="en-US" sz="1800" u="none" strike="noStrike">
                          <a:effectLst/>
                        </a:rPr>
                        <a:t>AFG</a:t>
                      </a:r>
                      <a:endParaRPr lang="en-US" sz="1800" b="0" i="0" u="none" strike="noStrike">
                        <a:solidFill>
                          <a:srgbClr val="000000"/>
                        </a:solidFill>
                        <a:effectLst/>
                        <a:latin typeface="Times New Roman" panose="02020603050405020304" pitchFamily="18" charset="0"/>
                      </a:endParaRPr>
                    </a:p>
                  </a:txBody>
                  <a:tcPr marL="5209" marR="5209" marT="5209" marB="0" anchor="ctr">
                    <a:solidFill>
                      <a:srgbClr val="FFC000"/>
                    </a:solidFill>
                  </a:tcPr>
                </a:tc>
                <a:tc>
                  <a:txBody>
                    <a:bodyPr/>
                    <a:lstStyle/>
                    <a:p>
                      <a:pPr algn="ctr" fontAlgn="b">
                        <a:buNone/>
                      </a:pPr>
                      <a:r>
                        <a:rPr lang="en-US" sz="1800" u="none" strike="noStrike">
                          <a:solidFill>
                            <a:schemeClr val="bg1"/>
                          </a:solidFill>
                          <a:effectLst/>
                        </a:rPr>
                        <a:t>Norway</a:t>
                      </a:r>
                      <a:endParaRPr lang="en-US" sz="1800" b="0" i="0" u="none" strike="noStrike">
                        <a:solidFill>
                          <a:schemeClr val="bg1"/>
                        </a:solidFill>
                        <a:effectLst/>
                        <a:latin typeface="Times New Roman" panose="02020603050405020304" pitchFamily="18" charset="0"/>
                      </a:endParaRPr>
                    </a:p>
                  </a:txBody>
                  <a:tcPr marL="5209" marR="5209" marT="5209" marB="0" anchor="ctr">
                    <a:solidFill>
                      <a:srgbClr val="7030A0"/>
                    </a:solidFill>
                  </a:tcPr>
                </a:tc>
                <a:tc>
                  <a:txBody>
                    <a:bodyPr/>
                    <a:lstStyle/>
                    <a:p>
                      <a:pPr algn="ctr" fontAlgn="b">
                        <a:buNone/>
                      </a:pPr>
                      <a:r>
                        <a:rPr lang="en-US" sz="1800" u="none" strike="noStrike">
                          <a:solidFill>
                            <a:schemeClr val="bg1"/>
                          </a:solidFill>
                          <a:effectLst/>
                        </a:rPr>
                        <a:t>Norway</a:t>
                      </a:r>
                      <a:endParaRPr lang="en-US" sz="1800" b="0" i="0" u="none" strike="noStrike">
                        <a:solidFill>
                          <a:schemeClr val="bg1"/>
                        </a:solidFill>
                        <a:effectLst/>
                        <a:latin typeface="Times New Roman" panose="02020603050405020304" pitchFamily="18" charset="0"/>
                      </a:endParaRPr>
                    </a:p>
                  </a:txBody>
                  <a:tcPr marL="5209" marR="5209" marT="5209" marB="0" anchor="ctr">
                    <a:solidFill>
                      <a:srgbClr val="7030A0"/>
                    </a:solidFill>
                  </a:tcPr>
                </a:tc>
                <a:extLst>
                  <a:ext uri="{0D108BD9-81ED-4DB2-BD59-A6C34878D82A}">
                    <a16:rowId xmlns:a16="http://schemas.microsoft.com/office/drawing/2014/main" val="3515656413"/>
                  </a:ext>
                </a:extLst>
              </a:tr>
              <a:tr h="474178">
                <a:tc>
                  <a:txBody>
                    <a:bodyPr/>
                    <a:lstStyle/>
                    <a:p>
                      <a:pPr algn="l" fontAlgn="b">
                        <a:buNone/>
                      </a:pPr>
                      <a:r>
                        <a:rPr lang="en-US" sz="1800" b="1" u="none" strike="noStrike">
                          <a:effectLst/>
                        </a:rPr>
                        <a:t>Method</a:t>
                      </a:r>
                      <a:endParaRPr lang="en-US" sz="1800" b="1" i="0" u="none" strike="noStrike">
                        <a:solidFill>
                          <a:srgbClr val="000000"/>
                        </a:solidFill>
                        <a:effectLst/>
                        <a:latin typeface="Times New Roman" panose="02020603050405020304" pitchFamily="18" charset="0"/>
                      </a:endParaRPr>
                    </a:p>
                  </a:txBody>
                  <a:tcPr marL="5209" marR="5209" marT="5209" marB="0" anchor="ctr"/>
                </a:tc>
                <a:tc>
                  <a:txBody>
                    <a:bodyPr/>
                    <a:lstStyle/>
                    <a:p>
                      <a:pPr algn="ctr" fontAlgn="b">
                        <a:buNone/>
                      </a:pPr>
                      <a:r>
                        <a:rPr lang="en-US" sz="1800" u="none" strike="noStrike">
                          <a:effectLst/>
                        </a:rPr>
                        <a:t>Solids</a:t>
                      </a:r>
                      <a:endParaRPr lang="en-US" sz="1800" b="0" i="0" u="none" strike="noStrike">
                        <a:solidFill>
                          <a:srgbClr val="000000"/>
                        </a:solidFill>
                        <a:effectLst/>
                        <a:latin typeface="Times New Roman" panose="02020603050405020304" pitchFamily="18" charset="0"/>
                      </a:endParaRPr>
                    </a:p>
                  </a:txBody>
                  <a:tcPr marL="5209" marR="5209" marT="5209" marB="0" anchor="ctr">
                    <a:solidFill>
                      <a:srgbClr val="92D050"/>
                    </a:solidFill>
                  </a:tcPr>
                </a:tc>
                <a:tc>
                  <a:txBody>
                    <a:bodyPr/>
                    <a:lstStyle/>
                    <a:p>
                      <a:pPr algn="ctr" fontAlgn="b">
                        <a:buNone/>
                      </a:pPr>
                      <a:r>
                        <a:rPr lang="en-US" sz="1800" u="none" strike="noStrike">
                          <a:effectLst/>
                        </a:rPr>
                        <a:t>Solutes</a:t>
                      </a:r>
                      <a:endParaRPr lang="en-US" sz="1800" b="0" i="0" u="none" strike="noStrike">
                        <a:solidFill>
                          <a:srgbClr val="000000"/>
                        </a:solidFill>
                        <a:effectLst/>
                        <a:latin typeface="Times New Roman" panose="02020603050405020304" pitchFamily="18" charset="0"/>
                      </a:endParaRPr>
                    </a:p>
                  </a:txBody>
                  <a:tcPr marL="5209" marR="5209" marT="5209" marB="0" anchor="ctr">
                    <a:solidFill>
                      <a:srgbClr val="92D050"/>
                    </a:solidFill>
                  </a:tcPr>
                </a:tc>
                <a:tc>
                  <a:txBody>
                    <a:bodyPr/>
                    <a:lstStyle/>
                    <a:p>
                      <a:pPr algn="ctr" fontAlgn="b">
                        <a:buNone/>
                      </a:pPr>
                      <a:r>
                        <a:rPr lang="en-US" sz="1800" u="none" strike="noStrike">
                          <a:effectLst/>
                        </a:rPr>
                        <a:t>Solids</a:t>
                      </a:r>
                      <a:endParaRPr lang="en-US" sz="1800" b="0" i="0" u="none" strike="noStrike">
                        <a:solidFill>
                          <a:srgbClr val="000000"/>
                        </a:solidFill>
                        <a:effectLst/>
                        <a:latin typeface="Times New Roman" panose="02020603050405020304" pitchFamily="18" charset="0"/>
                      </a:endParaRPr>
                    </a:p>
                  </a:txBody>
                  <a:tcPr marL="5209" marR="5209" marT="5209" marB="0" anchor="ctr">
                    <a:solidFill>
                      <a:srgbClr val="00B0F0"/>
                    </a:solidFill>
                  </a:tcPr>
                </a:tc>
                <a:tc>
                  <a:txBody>
                    <a:bodyPr/>
                    <a:lstStyle/>
                    <a:p>
                      <a:pPr algn="ctr" fontAlgn="b">
                        <a:buNone/>
                      </a:pPr>
                      <a:r>
                        <a:rPr lang="en-US" sz="1800" u="none" strike="noStrike">
                          <a:effectLst/>
                        </a:rPr>
                        <a:t>Solutes</a:t>
                      </a:r>
                      <a:endParaRPr lang="en-US" sz="1800" b="0" i="0" u="none" strike="noStrike">
                        <a:solidFill>
                          <a:srgbClr val="000000"/>
                        </a:solidFill>
                        <a:effectLst/>
                        <a:latin typeface="Aptos Narrow" panose="020B0004020202020204" pitchFamily="34" charset="0"/>
                      </a:endParaRPr>
                    </a:p>
                  </a:txBody>
                  <a:tcPr marL="5209" marR="5209" marT="5209" marB="0" anchor="ctr">
                    <a:solidFill>
                      <a:srgbClr val="00B0F0"/>
                    </a:solidFill>
                  </a:tcPr>
                </a:tc>
                <a:tc>
                  <a:txBody>
                    <a:bodyPr/>
                    <a:lstStyle/>
                    <a:p>
                      <a:pPr algn="ctr" fontAlgn="b">
                        <a:buNone/>
                      </a:pPr>
                      <a:r>
                        <a:rPr lang="en-US" sz="1800" u="none" strike="noStrike">
                          <a:effectLst/>
                        </a:rPr>
                        <a:t>Solids</a:t>
                      </a:r>
                      <a:endParaRPr lang="en-US" sz="1800" b="0" i="0" u="none" strike="noStrike">
                        <a:solidFill>
                          <a:srgbClr val="000000"/>
                        </a:solidFill>
                        <a:effectLst/>
                        <a:latin typeface="Times New Roman" panose="02020603050405020304" pitchFamily="18" charset="0"/>
                      </a:endParaRPr>
                    </a:p>
                  </a:txBody>
                  <a:tcPr marL="5209" marR="5209" marT="5209" marB="0" anchor="ctr">
                    <a:solidFill>
                      <a:srgbClr val="FFC000"/>
                    </a:solidFill>
                  </a:tcPr>
                </a:tc>
                <a:tc>
                  <a:txBody>
                    <a:bodyPr/>
                    <a:lstStyle/>
                    <a:p>
                      <a:pPr algn="ctr" fontAlgn="b">
                        <a:buNone/>
                      </a:pPr>
                      <a:r>
                        <a:rPr lang="en-US" sz="1800" u="none" strike="noStrike">
                          <a:effectLst/>
                        </a:rPr>
                        <a:t>Solutes</a:t>
                      </a:r>
                      <a:endParaRPr lang="en-US" sz="1800" b="0" i="0" u="none" strike="noStrike">
                        <a:solidFill>
                          <a:srgbClr val="000000"/>
                        </a:solidFill>
                        <a:effectLst/>
                        <a:latin typeface="Aptos Narrow" panose="020B0004020202020204" pitchFamily="34" charset="0"/>
                      </a:endParaRPr>
                    </a:p>
                  </a:txBody>
                  <a:tcPr marL="5209" marR="5209" marT="5209" marB="0" anchor="ctr">
                    <a:solidFill>
                      <a:srgbClr val="FFC000"/>
                    </a:solidFill>
                  </a:tcPr>
                </a:tc>
                <a:tc>
                  <a:txBody>
                    <a:bodyPr/>
                    <a:lstStyle/>
                    <a:p>
                      <a:pPr algn="ctr" fontAlgn="b">
                        <a:buNone/>
                      </a:pPr>
                      <a:r>
                        <a:rPr lang="en-US" sz="1800" u="none" strike="noStrike">
                          <a:solidFill>
                            <a:schemeClr val="bg1"/>
                          </a:solidFill>
                          <a:effectLst/>
                        </a:rPr>
                        <a:t>Solutes</a:t>
                      </a:r>
                      <a:endParaRPr lang="en-US" sz="1800" b="0" i="0" u="none" strike="noStrike">
                        <a:solidFill>
                          <a:schemeClr val="bg1"/>
                        </a:solidFill>
                        <a:effectLst/>
                        <a:latin typeface="Aptos Narrow" panose="020B0004020202020204" pitchFamily="34" charset="0"/>
                      </a:endParaRPr>
                    </a:p>
                  </a:txBody>
                  <a:tcPr marL="5209" marR="5209" marT="5209" marB="0" anchor="ctr">
                    <a:solidFill>
                      <a:srgbClr val="7030A0"/>
                    </a:solidFill>
                  </a:tcPr>
                </a:tc>
                <a:tc>
                  <a:txBody>
                    <a:bodyPr/>
                    <a:lstStyle/>
                    <a:p>
                      <a:pPr algn="ctr" fontAlgn="b">
                        <a:buNone/>
                      </a:pPr>
                      <a:r>
                        <a:rPr lang="en-US" sz="1800" u="none" strike="noStrike">
                          <a:solidFill>
                            <a:schemeClr val="bg1"/>
                          </a:solidFill>
                          <a:effectLst/>
                        </a:rPr>
                        <a:t>Solutes</a:t>
                      </a:r>
                      <a:endParaRPr lang="en-US" sz="1800" b="0" i="0" u="none" strike="noStrike">
                        <a:solidFill>
                          <a:schemeClr val="bg1"/>
                        </a:solidFill>
                        <a:effectLst/>
                        <a:latin typeface="Aptos Narrow" panose="020B0004020202020204" pitchFamily="34" charset="0"/>
                      </a:endParaRPr>
                    </a:p>
                  </a:txBody>
                  <a:tcPr marL="5209" marR="5209" marT="5209" marB="0" anchor="ctr">
                    <a:solidFill>
                      <a:srgbClr val="7030A0"/>
                    </a:solidFill>
                  </a:tcPr>
                </a:tc>
                <a:extLst>
                  <a:ext uri="{0D108BD9-81ED-4DB2-BD59-A6C34878D82A}">
                    <a16:rowId xmlns:a16="http://schemas.microsoft.com/office/drawing/2014/main" val="3979686002"/>
                  </a:ext>
                </a:extLst>
              </a:tr>
              <a:tr h="474178">
                <a:tc>
                  <a:txBody>
                    <a:bodyPr/>
                    <a:lstStyle/>
                    <a:p>
                      <a:pPr algn="l" fontAlgn="b">
                        <a:buNone/>
                      </a:pPr>
                      <a:r>
                        <a:rPr lang="en-US" sz="1800" b="1" u="none" strike="noStrike">
                          <a:effectLst/>
                        </a:rPr>
                        <a:t>duration (s)</a:t>
                      </a:r>
                      <a:endParaRPr lang="en-US" sz="1800" b="1" i="0" u="none" strike="noStrike">
                        <a:solidFill>
                          <a:srgbClr val="000000"/>
                        </a:solidFill>
                        <a:effectLst/>
                        <a:latin typeface="Times New Roman" panose="02020603050405020304" pitchFamily="18" charset="0"/>
                      </a:endParaRPr>
                    </a:p>
                  </a:txBody>
                  <a:tcPr marL="5209" marR="5209" marT="5209" marB="0" anchor="ctr"/>
                </a:tc>
                <a:tc>
                  <a:txBody>
                    <a:bodyPr/>
                    <a:lstStyle/>
                    <a:p>
                      <a:pPr algn="ctr" fontAlgn="b">
                        <a:buNone/>
                      </a:pPr>
                      <a:r>
                        <a:rPr lang="en-US" sz="1800" u="none" strike="noStrike" dirty="0">
                          <a:effectLst/>
                        </a:rPr>
                        <a:t>259200</a:t>
                      </a:r>
                      <a:endParaRPr lang="en-US" sz="1800" b="0" i="0" u="none" strike="noStrike" dirty="0">
                        <a:solidFill>
                          <a:srgbClr val="000000"/>
                        </a:solidFill>
                        <a:effectLst/>
                        <a:latin typeface="Times New Roman" panose="02020603050405020304" pitchFamily="18" charset="0"/>
                      </a:endParaRPr>
                    </a:p>
                  </a:txBody>
                  <a:tcPr marL="5209" marR="5209" marT="5209" marB="0" anchor="ctr">
                    <a:solidFill>
                      <a:srgbClr val="92D050"/>
                    </a:solidFill>
                  </a:tcPr>
                </a:tc>
                <a:tc>
                  <a:txBody>
                    <a:bodyPr/>
                    <a:lstStyle/>
                    <a:p>
                      <a:pPr algn="ctr" fontAlgn="b">
                        <a:buNone/>
                      </a:pPr>
                      <a:r>
                        <a:rPr lang="en-US" sz="1800" u="none" strike="noStrike">
                          <a:effectLst/>
                        </a:rPr>
                        <a:t>259200</a:t>
                      </a:r>
                      <a:endParaRPr lang="en-US" sz="1800" b="0" i="0" u="none" strike="noStrike">
                        <a:solidFill>
                          <a:srgbClr val="000000"/>
                        </a:solidFill>
                        <a:effectLst/>
                        <a:latin typeface="Times New Roman" panose="02020603050405020304" pitchFamily="18" charset="0"/>
                      </a:endParaRPr>
                    </a:p>
                  </a:txBody>
                  <a:tcPr marL="5209" marR="5209" marT="5209" marB="0" anchor="ctr">
                    <a:solidFill>
                      <a:srgbClr val="92D050"/>
                    </a:solidFill>
                  </a:tcPr>
                </a:tc>
                <a:tc>
                  <a:txBody>
                    <a:bodyPr/>
                    <a:lstStyle/>
                    <a:p>
                      <a:pPr algn="ctr" fontAlgn="b">
                        <a:buNone/>
                      </a:pPr>
                      <a:r>
                        <a:rPr lang="en-US" sz="1800" u="none" strike="noStrike">
                          <a:effectLst/>
                        </a:rPr>
                        <a:t>1641600</a:t>
                      </a:r>
                      <a:endParaRPr lang="en-US" sz="1800" b="0" i="0" u="none" strike="noStrike">
                        <a:solidFill>
                          <a:srgbClr val="000000"/>
                        </a:solidFill>
                        <a:effectLst/>
                        <a:latin typeface="Times New Roman" panose="02020603050405020304" pitchFamily="18" charset="0"/>
                      </a:endParaRPr>
                    </a:p>
                  </a:txBody>
                  <a:tcPr marL="5209" marR="5209" marT="5209" marB="0" anchor="ctr">
                    <a:solidFill>
                      <a:srgbClr val="00B0F0"/>
                    </a:solidFill>
                  </a:tcPr>
                </a:tc>
                <a:tc>
                  <a:txBody>
                    <a:bodyPr/>
                    <a:lstStyle/>
                    <a:p>
                      <a:pPr algn="ctr" fontAlgn="b">
                        <a:buNone/>
                      </a:pPr>
                      <a:r>
                        <a:rPr lang="en-US" sz="1800" u="none" strike="noStrike">
                          <a:effectLst/>
                        </a:rPr>
                        <a:t>1641600</a:t>
                      </a:r>
                      <a:endParaRPr lang="en-US" sz="1800" b="0" i="0" u="none" strike="noStrike">
                        <a:solidFill>
                          <a:srgbClr val="000000"/>
                        </a:solidFill>
                        <a:effectLst/>
                        <a:latin typeface="Aptos Narrow" panose="020B0004020202020204" pitchFamily="34" charset="0"/>
                      </a:endParaRPr>
                    </a:p>
                  </a:txBody>
                  <a:tcPr marL="5209" marR="5209" marT="5209" marB="0" anchor="ctr">
                    <a:solidFill>
                      <a:srgbClr val="00B0F0"/>
                    </a:solidFill>
                  </a:tcPr>
                </a:tc>
                <a:tc>
                  <a:txBody>
                    <a:bodyPr/>
                    <a:lstStyle/>
                    <a:p>
                      <a:pPr algn="ctr" fontAlgn="b">
                        <a:buNone/>
                      </a:pPr>
                      <a:r>
                        <a:rPr lang="en-US" sz="1800" u="none" strike="noStrike">
                          <a:effectLst/>
                        </a:rPr>
                        <a:t>604800</a:t>
                      </a:r>
                      <a:endParaRPr lang="en-US" sz="1800" b="0" i="0" u="none" strike="noStrike">
                        <a:solidFill>
                          <a:srgbClr val="000000"/>
                        </a:solidFill>
                        <a:effectLst/>
                        <a:latin typeface="Times New Roman" panose="02020603050405020304" pitchFamily="18" charset="0"/>
                      </a:endParaRPr>
                    </a:p>
                  </a:txBody>
                  <a:tcPr marL="5209" marR="5209" marT="5209" marB="0" anchor="ctr">
                    <a:solidFill>
                      <a:srgbClr val="FFC000"/>
                    </a:solidFill>
                  </a:tcPr>
                </a:tc>
                <a:tc>
                  <a:txBody>
                    <a:bodyPr/>
                    <a:lstStyle/>
                    <a:p>
                      <a:pPr algn="ctr" fontAlgn="b">
                        <a:buNone/>
                      </a:pPr>
                      <a:r>
                        <a:rPr lang="en-US" sz="1800" u="none" strike="noStrike">
                          <a:effectLst/>
                        </a:rPr>
                        <a:t>604800</a:t>
                      </a:r>
                      <a:endParaRPr lang="en-US" sz="1800" b="0" i="0" u="none" strike="noStrike">
                        <a:solidFill>
                          <a:srgbClr val="000000"/>
                        </a:solidFill>
                        <a:effectLst/>
                        <a:latin typeface="Aptos Narrow" panose="020B0004020202020204" pitchFamily="34" charset="0"/>
                      </a:endParaRPr>
                    </a:p>
                  </a:txBody>
                  <a:tcPr marL="5209" marR="5209" marT="5209" marB="0" anchor="ctr">
                    <a:solidFill>
                      <a:srgbClr val="FFC000"/>
                    </a:solidFill>
                  </a:tcPr>
                </a:tc>
                <a:tc>
                  <a:txBody>
                    <a:bodyPr/>
                    <a:lstStyle/>
                    <a:p>
                      <a:pPr algn="ctr" fontAlgn="b">
                        <a:buNone/>
                      </a:pPr>
                      <a:r>
                        <a:rPr lang="en-US" sz="1800" u="none" strike="noStrike">
                          <a:solidFill>
                            <a:schemeClr val="bg1"/>
                          </a:solidFill>
                          <a:effectLst/>
                        </a:rPr>
                        <a:t>86400</a:t>
                      </a:r>
                      <a:endParaRPr lang="en-US" sz="1800" b="0" i="0" u="none" strike="noStrike">
                        <a:solidFill>
                          <a:schemeClr val="bg1"/>
                        </a:solidFill>
                        <a:effectLst/>
                        <a:latin typeface="Aptos Narrow" panose="020B0004020202020204" pitchFamily="34" charset="0"/>
                      </a:endParaRPr>
                    </a:p>
                  </a:txBody>
                  <a:tcPr marL="5209" marR="5209" marT="5209" marB="0" anchor="ctr">
                    <a:solidFill>
                      <a:srgbClr val="7030A0"/>
                    </a:solidFill>
                  </a:tcPr>
                </a:tc>
                <a:tc>
                  <a:txBody>
                    <a:bodyPr/>
                    <a:lstStyle/>
                    <a:p>
                      <a:pPr algn="ctr" fontAlgn="b">
                        <a:buNone/>
                      </a:pPr>
                      <a:r>
                        <a:rPr lang="en-US" sz="1800" u="none" strike="noStrike">
                          <a:solidFill>
                            <a:schemeClr val="bg1"/>
                          </a:solidFill>
                          <a:effectLst/>
                        </a:rPr>
                        <a:t>86400</a:t>
                      </a:r>
                      <a:endParaRPr lang="en-US" sz="1800" b="0" i="0" u="none" strike="noStrike">
                        <a:solidFill>
                          <a:schemeClr val="bg1"/>
                        </a:solidFill>
                        <a:effectLst/>
                        <a:latin typeface="Aptos Narrow" panose="020B0004020202020204" pitchFamily="34" charset="0"/>
                      </a:endParaRPr>
                    </a:p>
                  </a:txBody>
                  <a:tcPr marL="5209" marR="5209" marT="5209" marB="0" anchor="ctr">
                    <a:solidFill>
                      <a:srgbClr val="7030A0"/>
                    </a:solidFill>
                  </a:tcPr>
                </a:tc>
                <a:extLst>
                  <a:ext uri="{0D108BD9-81ED-4DB2-BD59-A6C34878D82A}">
                    <a16:rowId xmlns:a16="http://schemas.microsoft.com/office/drawing/2014/main" val="571380961"/>
                  </a:ext>
                </a:extLst>
              </a:tr>
              <a:tr h="524642">
                <a:tc>
                  <a:txBody>
                    <a:bodyPr/>
                    <a:lstStyle/>
                    <a:p>
                      <a:pPr algn="l" fontAlgn="b">
                        <a:buNone/>
                      </a:pPr>
                      <a:r>
                        <a:rPr lang="en-US" sz="1800" b="1" u="none" strike="noStrike" dirty="0">
                          <a:effectLst/>
                        </a:rPr>
                        <a:t>replaced ZrSiO</a:t>
                      </a:r>
                      <a:r>
                        <a:rPr lang="en-US" sz="1800" b="1" u="none" strike="noStrike" baseline="-25000" dirty="0">
                          <a:effectLst/>
                        </a:rPr>
                        <a:t>4 </a:t>
                      </a:r>
                      <a:r>
                        <a:rPr lang="en-US" sz="1800" b="1" u="none" strike="noStrike" dirty="0">
                          <a:effectLst/>
                        </a:rPr>
                        <a:t>(moles)</a:t>
                      </a:r>
                      <a:endParaRPr lang="en-US" sz="1800" b="1" i="0" u="none" strike="noStrike" dirty="0">
                        <a:solidFill>
                          <a:srgbClr val="000000"/>
                        </a:solidFill>
                        <a:effectLst/>
                        <a:latin typeface="Times New Roman" panose="02020603050405020304" pitchFamily="18" charset="0"/>
                      </a:endParaRPr>
                    </a:p>
                  </a:txBody>
                  <a:tcPr marL="5209" marR="5209" marT="5209" marB="0" anchor="ctr"/>
                </a:tc>
                <a:tc>
                  <a:txBody>
                    <a:bodyPr/>
                    <a:lstStyle/>
                    <a:p>
                      <a:pPr algn="ctr" fontAlgn="b">
                        <a:buNone/>
                      </a:pPr>
                      <a:r>
                        <a:rPr lang="en-US" sz="1800" u="none" strike="noStrike">
                          <a:effectLst/>
                        </a:rPr>
                        <a:t>9.4E-05</a:t>
                      </a:r>
                      <a:endParaRPr lang="en-US" sz="1800" b="0" i="0" u="none" strike="noStrike">
                        <a:solidFill>
                          <a:srgbClr val="000000"/>
                        </a:solidFill>
                        <a:effectLst/>
                        <a:latin typeface="Times New Roman" panose="02020603050405020304" pitchFamily="18" charset="0"/>
                      </a:endParaRPr>
                    </a:p>
                  </a:txBody>
                  <a:tcPr marL="5209" marR="5209" marT="5209" marB="0" anchor="ctr">
                    <a:solidFill>
                      <a:srgbClr val="92D050"/>
                    </a:solidFill>
                  </a:tcPr>
                </a:tc>
                <a:tc>
                  <a:txBody>
                    <a:bodyPr/>
                    <a:lstStyle/>
                    <a:p>
                      <a:pPr algn="ctr" fontAlgn="b">
                        <a:buNone/>
                      </a:pPr>
                      <a:r>
                        <a:rPr lang="en-US" sz="1800" u="none" strike="noStrike">
                          <a:effectLst/>
                        </a:rPr>
                        <a:t>1.5E-05</a:t>
                      </a:r>
                      <a:endParaRPr lang="en-US" sz="1800" b="0" i="0" u="none" strike="noStrike">
                        <a:solidFill>
                          <a:srgbClr val="000000"/>
                        </a:solidFill>
                        <a:effectLst/>
                        <a:latin typeface="Times New Roman" panose="02020603050405020304" pitchFamily="18" charset="0"/>
                      </a:endParaRPr>
                    </a:p>
                  </a:txBody>
                  <a:tcPr marL="5209" marR="5209" marT="5209" marB="0" anchor="ctr">
                    <a:solidFill>
                      <a:srgbClr val="92D050"/>
                    </a:solidFill>
                  </a:tcPr>
                </a:tc>
                <a:tc>
                  <a:txBody>
                    <a:bodyPr/>
                    <a:lstStyle/>
                    <a:p>
                      <a:pPr algn="ctr" fontAlgn="b">
                        <a:buNone/>
                      </a:pPr>
                      <a:r>
                        <a:rPr lang="en-US" sz="1800" u="none" strike="noStrike">
                          <a:effectLst/>
                        </a:rPr>
                        <a:t>3.3E-05</a:t>
                      </a:r>
                      <a:endParaRPr lang="en-US" sz="1800" b="0" i="0" u="none" strike="noStrike">
                        <a:solidFill>
                          <a:srgbClr val="000000"/>
                        </a:solidFill>
                        <a:effectLst/>
                        <a:latin typeface="Times New Roman" panose="02020603050405020304" pitchFamily="18" charset="0"/>
                      </a:endParaRPr>
                    </a:p>
                  </a:txBody>
                  <a:tcPr marL="5209" marR="5209" marT="5209" marB="0" anchor="ctr">
                    <a:solidFill>
                      <a:srgbClr val="00B0F0"/>
                    </a:solidFill>
                  </a:tcPr>
                </a:tc>
                <a:tc>
                  <a:txBody>
                    <a:bodyPr/>
                    <a:lstStyle/>
                    <a:p>
                      <a:pPr algn="ctr" fontAlgn="b">
                        <a:buNone/>
                      </a:pPr>
                      <a:r>
                        <a:rPr lang="en-US" sz="1800" u="none" strike="noStrike">
                          <a:effectLst/>
                        </a:rPr>
                        <a:t>3.8E-05</a:t>
                      </a:r>
                      <a:endParaRPr lang="en-US" sz="1800" b="0" i="0" u="none" strike="noStrike">
                        <a:solidFill>
                          <a:srgbClr val="000000"/>
                        </a:solidFill>
                        <a:effectLst/>
                        <a:latin typeface="Aptos Narrow" panose="020B0004020202020204" pitchFamily="34" charset="0"/>
                      </a:endParaRPr>
                    </a:p>
                  </a:txBody>
                  <a:tcPr marL="5209" marR="5209" marT="5209" marB="0" anchor="ctr">
                    <a:solidFill>
                      <a:srgbClr val="00B0F0"/>
                    </a:solidFill>
                  </a:tcPr>
                </a:tc>
                <a:tc>
                  <a:txBody>
                    <a:bodyPr/>
                    <a:lstStyle/>
                    <a:p>
                      <a:pPr algn="ctr" fontAlgn="b">
                        <a:buNone/>
                      </a:pPr>
                      <a:r>
                        <a:rPr lang="en-US" sz="1800" u="none" strike="noStrike">
                          <a:effectLst/>
                        </a:rPr>
                        <a:t>3.9E-05</a:t>
                      </a:r>
                      <a:endParaRPr lang="en-US" sz="1800" b="0" i="0" u="none" strike="noStrike">
                        <a:solidFill>
                          <a:srgbClr val="000000"/>
                        </a:solidFill>
                        <a:effectLst/>
                        <a:latin typeface="Times New Roman" panose="02020603050405020304" pitchFamily="18" charset="0"/>
                      </a:endParaRPr>
                    </a:p>
                  </a:txBody>
                  <a:tcPr marL="5209" marR="5209" marT="5209" marB="0" anchor="ctr">
                    <a:solidFill>
                      <a:srgbClr val="FFC000"/>
                    </a:solidFill>
                  </a:tcPr>
                </a:tc>
                <a:tc>
                  <a:txBody>
                    <a:bodyPr/>
                    <a:lstStyle/>
                    <a:p>
                      <a:pPr algn="ctr" fontAlgn="b">
                        <a:buNone/>
                      </a:pPr>
                      <a:r>
                        <a:rPr lang="en-US" sz="1800" u="none" strike="noStrike">
                          <a:effectLst/>
                        </a:rPr>
                        <a:t>1.5E-05</a:t>
                      </a:r>
                      <a:endParaRPr lang="en-US" sz="1800" b="0" i="0" u="none" strike="noStrike">
                        <a:solidFill>
                          <a:srgbClr val="000000"/>
                        </a:solidFill>
                        <a:effectLst/>
                        <a:latin typeface="Aptos Narrow" panose="020B0004020202020204" pitchFamily="34" charset="0"/>
                      </a:endParaRPr>
                    </a:p>
                  </a:txBody>
                  <a:tcPr marL="5209" marR="5209" marT="5209" marB="0" anchor="ctr">
                    <a:solidFill>
                      <a:srgbClr val="FFC000"/>
                    </a:solidFill>
                  </a:tcPr>
                </a:tc>
                <a:tc>
                  <a:txBody>
                    <a:bodyPr/>
                    <a:lstStyle/>
                    <a:p>
                      <a:pPr algn="ctr" fontAlgn="b">
                        <a:buNone/>
                      </a:pPr>
                      <a:r>
                        <a:rPr lang="en-US" sz="1800" u="none" strike="noStrike">
                          <a:solidFill>
                            <a:schemeClr val="bg1"/>
                          </a:solidFill>
                          <a:effectLst/>
                        </a:rPr>
                        <a:t>2.2E+00</a:t>
                      </a:r>
                      <a:endParaRPr lang="en-US" sz="1800" b="0" i="0" u="none" strike="noStrike">
                        <a:solidFill>
                          <a:schemeClr val="bg1"/>
                        </a:solidFill>
                        <a:effectLst/>
                        <a:latin typeface="Aptos Narrow" panose="020B0004020202020204" pitchFamily="34" charset="0"/>
                      </a:endParaRPr>
                    </a:p>
                  </a:txBody>
                  <a:tcPr marL="5209" marR="5209" marT="5209" marB="0" anchor="ctr">
                    <a:solidFill>
                      <a:srgbClr val="7030A0"/>
                    </a:solidFill>
                  </a:tcPr>
                </a:tc>
                <a:tc>
                  <a:txBody>
                    <a:bodyPr/>
                    <a:lstStyle/>
                    <a:p>
                      <a:pPr algn="ctr" fontAlgn="b">
                        <a:buNone/>
                      </a:pPr>
                      <a:r>
                        <a:rPr lang="en-US" sz="1800" u="none" strike="noStrike">
                          <a:solidFill>
                            <a:schemeClr val="bg1"/>
                          </a:solidFill>
                          <a:effectLst/>
                        </a:rPr>
                        <a:t>1.7E-01</a:t>
                      </a:r>
                      <a:endParaRPr lang="en-US" sz="1800" b="0" i="0" u="none" strike="noStrike">
                        <a:solidFill>
                          <a:schemeClr val="bg1"/>
                        </a:solidFill>
                        <a:effectLst/>
                        <a:latin typeface="Aptos Narrow" panose="020B0004020202020204" pitchFamily="34" charset="0"/>
                      </a:endParaRPr>
                    </a:p>
                  </a:txBody>
                  <a:tcPr marL="5209" marR="5209" marT="5209" marB="0" anchor="ctr">
                    <a:solidFill>
                      <a:srgbClr val="7030A0"/>
                    </a:solidFill>
                  </a:tcPr>
                </a:tc>
                <a:extLst>
                  <a:ext uri="{0D108BD9-81ED-4DB2-BD59-A6C34878D82A}">
                    <a16:rowId xmlns:a16="http://schemas.microsoft.com/office/drawing/2014/main" val="1803404505"/>
                  </a:ext>
                </a:extLst>
              </a:tr>
              <a:tr h="540155">
                <a:tc>
                  <a:txBody>
                    <a:bodyPr/>
                    <a:lstStyle/>
                    <a:p>
                      <a:pPr algn="l" defTabSz="2170113" fontAlgn="b">
                        <a:buNone/>
                        <a:tabLst>
                          <a:tab pos="2117725" algn="l"/>
                        </a:tabLst>
                      </a:pPr>
                      <a:r>
                        <a:rPr lang="en-US" sz="1800" b="1" u="none" strike="noStrike" dirty="0">
                          <a:effectLst/>
                        </a:rPr>
                        <a:t>Bulk rate (moles kg </a:t>
                      </a:r>
                      <a:r>
                        <a:rPr lang="en-US" sz="1800" b="1" u="none" strike="noStrike" baseline="0" dirty="0">
                          <a:effectLst/>
                        </a:rPr>
                        <a:t>H2O</a:t>
                      </a:r>
                      <a:r>
                        <a:rPr lang="en-US" sz="1800" b="1" u="none" strike="noStrike" baseline="30000" dirty="0">
                          <a:effectLst/>
                        </a:rPr>
                        <a:t>-1</a:t>
                      </a:r>
                      <a:r>
                        <a:rPr lang="en-US" sz="1800" b="1" u="none" strike="noStrike" baseline="0" dirty="0">
                          <a:effectLst/>
                        </a:rPr>
                        <a:t> s</a:t>
                      </a:r>
                      <a:r>
                        <a:rPr lang="en-US" sz="1800" b="1" u="none" strike="noStrike" baseline="30000" dirty="0">
                          <a:effectLst/>
                        </a:rPr>
                        <a:t>-1</a:t>
                      </a:r>
                      <a:r>
                        <a:rPr lang="en-US" sz="1800" b="1" u="none" strike="noStrike" dirty="0">
                          <a:effectLst/>
                        </a:rPr>
                        <a:t>)</a:t>
                      </a:r>
                      <a:endParaRPr lang="en-US" sz="1800" b="1" i="0" u="none" strike="noStrike" dirty="0">
                        <a:solidFill>
                          <a:srgbClr val="000000"/>
                        </a:solidFill>
                        <a:effectLst/>
                        <a:latin typeface="Times New Roman" panose="02020603050405020304" pitchFamily="18" charset="0"/>
                      </a:endParaRPr>
                    </a:p>
                  </a:txBody>
                  <a:tcPr marL="5209" marR="5209" marT="5209" marB="0" anchor="ctr">
                    <a:lnB w="12700" cap="flat" cmpd="sng" algn="ctr">
                      <a:solidFill>
                        <a:schemeClr val="tx1"/>
                      </a:solidFill>
                      <a:prstDash val="solid"/>
                      <a:round/>
                      <a:headEnd type="none" w="med" len="med"/>
                      <a:tailEnd type="none" w="med" len="med"/>
                    </a:lnB>
                  </a:tcPr>
                </a:tc>
                <a:tc>
                  <a:txBody>
                    <a:bodyPr/>
                    <a:lstStyle/>
                    <a:p>
                      <a:pPr algn="ctr" fontAlgn="b">
                        <a:buNone/>
                      </a:pPr>
                      <a:r>
                        <a:rPr lang="en-US" sz="1800" u="none" strike="noStrike" dirty="0">
                          <a:solidFill>
                            <a:srgbClr val="FF0000"/>
                          </a:solidFill>
                          <a:effectLst>
                            <a:outerShdw blurRad="38100" dist="38100" dir="2700000" algn="tl">
                              <a:srgbClr val="000000">
                                <a:alpha val="43137"/>
                              </a:srgbClr>
                            </a:outerShdw>
                          </a:effectLst>
                        </a:rPr>
                        <a:t>3.0E-06</a:t>
                      </a:r>
                      <a:endParaRPr lang="en-US" sz="1800" b="0" i="0" u="none" strike="noStrike" dirty="0">
                        <a:solidFill>
                          <a:srgbClr val="FF0000"/>
                        </a:solidFill>
                        <a:effectLst>
                          <a:outerShdw blurRad="38100" dist="38100" dir="2700000" algn="tl">
                            <a:srgbClr val="000000">
                              <a:alpha val="43137"/>
                            </a:srgbClr>
                          </a:outerShdw>
                        </a:effectLst>
                        <a:latin typeface="Times New Roman" panose="02020603050405020304" pitchFamily="18" charset="0"/>
                      </a:endParaRPr>
                    </a:p>
                  </a:txBody>
                  <a:tcPr marL="5209" marR="5209" marT="5209" marB="0" anchor="ctr">
                    <a:solidFill>
                      <a:srgbClr val="92D050"/>
                    </a:solidFill>
                  </a:tcPr>
                </a:tc>
                <a:tc>
                  <a:txBody>
                    <a:bodyPr/>
                    <a:lstStyle/>
                    <a:p>
                      <a:pPr algn="ctr" fontAlgn="b">
                        <a:buNone/>
                      </a:pPr>
                      <a:r>
                        <a:rPr lang="en-US" sz="1800" u="none" strike="noStrike">
                          <a:solidFill>
                            <a:srgbClr val="FF0000"/>
                          </a:solidFill>
                          <a:effectLst>
                            <a:outerShdw blurRad="38100" dist="38100" dir="2700000" algn="tl">
                              <a:srgbClr val="000000">
                                <a:alpha val="43137"/>
                              </a:srgbClr>
                            </a:outerShdw>
                          </a:effectLst>
                        </a:rPr>
                        <a:t>4.7E-07</a:t>
                      </a:r>
                      <a:endParaRPr lang="en-US" sz="1800" b="0" i="0" u="none" strike="noStrike">
                        <a:solidFill>
                          <a:srgbClr val="FF0000"/>
                        </a:solidFill>
                        <a:effectLst>
                          <a:outerShdw blurRad="38100" dist="38100" dir="2700000" algn="tl">
                            <a:srgbClr val="000000">
                              <a:alpha val="43137"/>
                            </a:srgbClr>
                          </a:outerShdw>
                        </a:effectLst>
                        <a:latin typeface="Times New Roman" panose="02020603050405020304" pitchFamily="18" charset="0"/>
                      </a:endParaRPr>
                    </a:p>
                  </a:txBody>
                  <a:tcPr marL="5209" marR="5209" marT="5209" marB="0" anchor="ctr">
                    <a:solidFill>
                      <a:srgbClr val="92D050"/>
                    </a:solidFill>
                  </a:tcPr>
                </a:tc>
                <a:tc>
                  <a:txBody>
                    <a:bodyPr/>
                    <a:lstStyle/>
                    <a:p>
                      <a:pPr algn="ctr" fontAlgn="b">
                        <a:buNone/>
                      </a:pPr>
                      <a:r>
                        <a:rPr lang="en-US" sz="1800" u="none" strike="noStrike">
                          <a:solidFill>
                            <a:srgbClr val="FF0000"/>
                          </a:solidFill>
                          <a:effectLst>
                            <a:outerShdw blurRad="38100" dist="38100" dir="2700000" algn="tl">
                              <a:srgbClr val="000000">
                                <a:alpha val="43137"/>
                              </a:srgbClr>
                            </a:outerShdw>
                          </a:effectLst>
                        </a:rPr>
                        <a:t>1.7E-07</a:t>
                      </a:r>
                      <a:endParaRPr lang="en-US" sz="1800" b="0" i="0" u="none" strike="noStrike">
                        <a:solidFill>
                          <a:srgbClr val="FF0000"/>
                        </a:solidFill>
                        <a:effectLst>
                          <a:outerShdw blurRad="38100" dist="38100" dir="2700000" algn="tl">
                            <a:srgbClr val="000000">
                              <a:alpha val="43137"/>
                            </a:srgbClr>
                          </a:outerShdw>
                        </a:effectLst>
                        <a:latin typeface="Times New Roman" panose="02020603050405020304" pitchFamily="18" charset="0"/>
                      </a:endParaRPr>
                    </a:p>
                  </a:txBody>
                  <a:tcPr marL="5209" marR="5209" marT="5209" marB="0" anchor="ctr">
                    <a:solidFill>
                      <a:srgbClr val="00B0F0"/>
                    </a:solidFill>
                  </a:tcPr>
                </a:tc>
                <a:tc>
                  <a:txBody>
                    <a:bodyPr/>
                    <a:lstStyle/>
                    <a:p>
                      <a:pPr algn="ctr" fontAlgn="b">
                        <a:buNone/>
                      </a:pPr>
                      <a:r>
                        <a:rPr lang="en-US" sz="1800" u="none" strike="noStrike">
                          <a:solidFill>
                            <a:srgbClr val="FF0000"/>
                          </a:solidFill>
                          <a:effectLst>
                            <a:outerShdw blurRad="38100" dist="38100" dir="2700000" algn="tl">
                              <a:srgbClr val="000000">
                                <a:alpha val="43137"/>
                              </a:srgbClr>
                            </a:outerShdw>
                          </a:effectLst>
                        </a:rPr>
                        <a:t>1.9E-07</a:t>
                      </a:r>
                      <a:endParaRPr lang="en-US" sz="1800" b="0" i="0" u="none" strike="noStrike">
                        <a:solidFill>
                          <a:srgbClr val="FF0000"/>
                        </a:solidFill>
                        <a:effectLst>
                          <a:outerShdw blurRad="38100" dist="38100" dir="2700000" algn="tl">
                            <a:srgbClr val="000000">
                              <a:alpha val="43137"/>
                            </a:srgbClr>
                          </a:outerShdw>
                        </a:effectLst>
                        <a:latin typeface="Aptos Narrow" panose="020B0004020202020204" pitchFamily="34" charset="0"/>
                      </a:endParaRPr>
                    </a:p>
                  </a:txBody>
                  <a:tcPr marL="5209" marR="5209" marT="5209" marB="0" anchor="ctr">
                    <a:solidFill>
                      <a:srgbClr val="00B0F0"/>
                    </a:solidFill>
                  </a:tcPr>
                </a:tc>
                <a:tc>
                  <a:txBody>
                    <a:bodyPr/>
                    <a:lstStyle/>
                    <a:p>
                      <a:pPr algn="ctr" fontAlgn="b">
                        <a:buNone/>
                      </a:pPr>
                      <a:r>
                        <a:rPr lang="en-US" sz="1800" u="none" strike="noStrike">
                          <a:solidFill>
                            <a:srgbClr val="FF0000"/>
                          </a:solidFill>
                          <a:effectLst>
                            <a:outerShdw blurRad="38100" dist="38100" dir="2700000" algn="tl">
                              <a:srgbClr val="000000">
                                <a:alpha val="43137"/>
                              </a:srgbClr>
                            </a:outerShdw>
                          </a:effectLst>
                        </a:rPr>
                        <a:t>5.4E-07</a:t>
                      </a:r>
                      <a:endParaRPr lang="en-US" sz="1800" b="0" i="0" u="none" strike="noStrike">
                        <a:solidFill>
                          <a:srgbClr val="FF0000"/>
                        </a:solidFill>
                        <a:effectLst>
                          <a:outerShdw blurRad="38100" dist="38100" dir="2700000" algn="tl">
                            <a:srgbClr val="000000">
                              <a:alpha val="43137"/>
                            </a:srgbClr>
                          </a:outerShdw>
                        </a:effectLst>
                        <a:latin typeface="Times New Roman" panose="02020603050405020304" pitchFamily="18" charset="0"/>
                      </a:endParaRPr>
                    </a:p>
                  </a:txBody>
                  <a:tcPr marL="5209" marR="5209" marT="5209" marB="0" anchor="ctr">
                    <a:solidFill>
                      <a:srgbClr val="FFC000"/>
                    </a:solidFill>
                  </a:tcPr>
                </a:tc>
                <a:tc>
                  <a:txBody>
                    <a:bodyPr/>
                    <a:lstStyle/>
                    <a:p>
                      <a:pPr algn="ctr" fontAlgn="b">
                        <a:buNone/>
                      </a:pPr>
                      <a:r>
                        <a:rPr lang="en-US" sz="1800" u="none" strike="noStrike">
                          <a:solidFill>
                            <a:srgbClr val="FF0000"/>
                          </a:solidFill>
                          <a:effectLst>
                            <a:outerShdw blurRad="38100" dist="38100" dir="2700000" algn="tl">
                              <a:srgbClr val="000000">
                                <a:alpha val="43137"/>
                              </a:srgbClr>
                            </a:outerShdw>
                          </a:effectLst>
                        </a:rPr>
                        <a:t>2.1E-07</a:t>
                      </a:r>
                      <a:endParaRPr lang="en-US" sz="1800" b="0" i="0" u="none" strike="noStrike">
                        <a:solidFill>
                          <a:srgbClr val="FF0000"/>
                        </a:solidFill>
                        <a:effectLst>
                          <a:outerShdw blurRad="38100" dist="38100" dir="2700000" algn="tl">
                            <a:srgbClr val="000000">
                              <a:alpha val="43137"/>
                            </a:srgbClr>
                          </a:outerShdw>
                        </a:effectLst>
                        <a:latin typeface="Aptos Narrow" panose="020B0004020202020204" pitchFamily="34" charset="0"/>
                      </a:endParaRPr>
                    </a:p>
                  </a:txBody>
                  <a:tcPr marL="5209" marR="5209" marT="5209" marB="0" anchor="ctr">
                    <a:solidFill>
                      <a:srgbClr val="FFC000"/>
                    </a:solidFill>
                  </a:tcPr>
                </a:tc>
                <a:tc>
                  <a:txBody>
                    <a:bodyPr/>
                    <a:lstStyle/>
                    <a:p>
                      <a:pPr algn="ctr" fontAlgn="b">
                        <a:buNone/>
                      </a:pPr>
                      <a:r>
                        <a:rPr lang="en-US" sz="1800" u="none" strike="noStrike">
                          <a:solidFill>
                            <a:schemeClr val="bg1"/>
                          </a:solidFill>
                          <a:effectLst/>
                        </a:rPr>
                        <a:t>2.1E-01</a:t>
                      </a:r>
                      <a:endParaRPr lang="en-US" sz="1800" b="0" i="0" u="none" strike="noStrike">
                        <a:solidFill>
                          <a:schemeClr val="bg1"/>
                        </a:solidFill>
                        <a:effectLst/>
                        <a:latin typeface="Aptos Narrow" panose="020B0004020202020204" pitchFamily="34" charset="0"/>
                      </a:endParaRPr>
                    </a:p>
                  </a:txBody>
                  <a:tcPr marL="5209" marR="5209" marT="5209" marB="0" anchor="ctr">
                    <a:solidFill>
                      <a:srgbClr val="7030A0"/>
                    </a:solidFill>
                  </a:tcPr>
                </a:tc>
                <a:tc>
                  <a:txBody>
                    <a:bodyPr/>
                    <a:lstStyle/>
                    <a:p>
                      <a:pPr algn="ctr" fontAlgn="b">
                        <a:buNone/>
                      </a:pPr>
                      <a:r>
                        <a:rPr lang="en-US" sz="1800" u="none" strike="noStrike" dirty="0">
                          <a:solidFill>
                            <a:schemeClr val="bg1"/>
                          </a:solidFill>
                          <a:effectLst/>
                        </a:rPr>
                        <a:t>1.7E-02</a:t>
                      </a:r>
                      <a:endParaRPr lang="en-US" sz="1800" b="0" i="0" u="none" strike="noStrike" dirty="0">
                        <a:solidFill>
                          <a:schemeClr val="bg1"/>
                        </a:solidFill>
                        <a:effectLst/>
                        <a:latin typeface="Aptos Narrow" panose="020B0004020202020204" pitchFamily="34" charset="0"/>
                      </a:endParaRPr>
                    </a:p>
                  </a:txBody>
                  <a:tcPr marL="5209" marR="5209" marT="5209" marB="0" anchor="ctr">
                    <a:solidFill>
                      <a:srgbClr val="7030A0"/>
                    </a:solidFill>
                  </a:tcPr>
                </a:tc>
                <a:extLst>
                  <a:ext uri="{0D108BD9-81ED-4DB2-BD59-A6C34878D82A}">
                    <a16:rowId xmlns:a16="http://schemas.microsoft.com/office/drawing/2014/main" val="1412282040"/>
                  </a:ext>
                </a:extLst>
              </a:tr>
            </a:tbl>
          </a:graphicData>
        </a:graphic>
      </p:graphicFrame>
      <p:sp>
        <p:nvSpPr>
          <p:cNvPr id="3" name="TextBox 2">
            <a:extLst>
              <a:ext uri="{FF2B5EF4-FFF2-40B4-BE49-F238E27FC236}">
                <a16:creationId xmlns:a16="http://schemas.microsoft.com/office/drawing/2014/main" id="{295F0479-2FF5-4DD7-7C86-653E78136967}"/>
              </a:ext>
            </a:extLst>
          </p:cNvPr>
          <p:cNvSpPr txBox="1"/>
          <p:nvPr/>
        </p:nvSpPr>
        <p:spPr>
          <a:xfrm>
            <a:off x="527505" y="5556738"/>
            <a:ext cx="11009745" cy="707886"/>
          </a:xfrm>
          <a:prstGeom prst="rect">
            <a:avLst/>
          </a:prstGeom>
          <a:noFill/>
        </p:spPr>
        <p:txBody>
          <a:bodyPr wrap="none" rtlCol="0">
            <a:spAutoFit/>
          </a:bodyPr>
          <a:lstStyle/>
          <a:p>
            <a:pPr marL="285750" indent="-285750">
              <a:buFont typeface="Arial" panose="020B0604020202020204" pitchFamily="34" charset="0"/>
              <a:buChar char="•"/>
            </a:pPr>
            <a:r>
              <a:rPr lang="en-US" sz="2000" dirty="0"/>
              <a:t>Replacement rate much higher for Norway due to higher alpha dose and higher surface area.</a:t>
            </a:r>
          </a:p>
          <a:p>
            <a:pPr marL="285750" indent="-285750">
              <a:buFont typeface="Arial" panose="020B0604020202020204" pitchFamily="34" charset="0"/>
              <a:buChar char="•"/>
            </a:pPr>
            <a:r>
              <a:rPr lang="en-US" sz="2000" dirty="0"/>
              <a:t>Norway was completely replaced, so rate estimate is a minimum.</a:t>
            </a:r>
          </a:p>
        </p:txBody>
      </p:sp>
    </p:spTree>
    <p:extLst>
      <p:ext uri="{BB962C8B-B14F-4D97-AF65-F5344CB8AC3E}">
        <p14:creationId xmlns:p14="http://schemas.microsoft.com/office/powerpoint/2010/main" val="18661540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EB1B5-98AA-5745-610D-E8E4DBA125B3}"/>
              </a:ext>
            </a:extLst>
          </p:cNvPr>
          <p:cNvSpPr>
            <a:spLocks noGrp="1"/>
          </p:cNvSpPr>
          <p:nvPr>
            <p:ph type="title"/>
          </p:nvPr>
        </p:nvSpPr>
        <p:spPr/>
        <p:txBody>
          <a:bodyPr/>
          <a:lstStyle/>
          <a:p>
            <a:pPr algn="ctr"/>
            <a:r>
              <a:rPr lang="en-US" dirty="0"/>
              <a:t>Reaction zone morphology: Zir-015</a:t>
            </a:r>
          </a:p>
        </p:txBody>
      </p:sp>
      <p:sp>
        <p:nvSpPr>
          <p:cNvPr id="9" name="Text Placeholder 8">
            <a:extLst>
              <a:ext uri="{FF2B5EF4-FFF2-40B4-BE49-F238E27FC236}">
                <a16:creationId xmlns:a16="http://schemas.microsoft.com/office/drawing/2014/main" id="{39611F2E-2054-2303-B158-18275E2524CE}"/>
              </a:ext>
            </a:extLst>
          </p:cNvPr>
          <p:cNvSpPr>
            <a:spLocks noGrp="1"/>
          </p:cNvSpPr>
          <p:nvPr>
            <p:ph type="body" idx="1"/>
          </p:nvPr>
        </p:nvSpPr>
        <p:spPr/>
        <p:txBody>
          <a:bodyPr>
            <a:normAutofit fontScale="92500" lnSpcReduction="20000"/>
          </a:bodyPr>
          <a:lstStyle/>
          <a:p>
            <a:r>
              <a:rPr lang="en-US" dirty="0"/>
              <a:t>SE image shows parallel pore channels in replacement zone</a:t>
            </a:r>
          </a:p>
        </p:txBody>
      </p:sp>
      <p:pic>
        <p:nvPicPr>
          <p:cNvPr id="7" name="Content Placeholder 6" descr="A close-up of a black and white image&#10;&#10;AI-generated content may be incorrect.">
            <a:extLst>
              <a:ext uri="{FF2B5EF4-FFF2-40B4-BE49-F238E27FC236}">
                <a16:creationId xmlns:a16="http://schemas.microsoft.com/office/drawing/2014/main" id="{552A4CDC-41CA-CEB4-70CC-95234AFEA35A}"/>
              </a:ext>
            </a:extLst>
          </p:cNvPr>
          <p:cNvPicPr>
            <a:picLocks noGrp="1" noChangeAspect="1"/>
          </p:cNvPicPr>
          <p:nvPr>
            <p:ph sz="half" idx="2"/>
          </p:nvPr>
        </p:nvPicPr>
        <p:blipFill>
          <a:blip r:embed="rId2"/>
          <a:stretch>
            <a:fillRect/>
          </a:stretch>
        </p:blipFill>
        <p:spPr>
          <a:xfrm>
            <a:off x="1294234" y="2505075"/>
            <a:ext cx="4248894" cy="3684588"/>
          </a:xfrm>
        </p:spPr>
      </p:pic>
      <p:sp>
        <p:nvSpPr>
          <p:cNvPr id="10" name="Text Placeholder 9">
            <a:extLst>
              <a:ext uri="{FF2B5EF4-FFF2-40B4-BE49-F238E27FC236}">
                <a16:creationId xmlns:a16="http://schemas.microsoft.com/office/drawing/2014/main" id="{51DF8A94-10E3-253A-5076-A94BE27A7E33}"/>
              </a:ext>
            </a:extLst>
          </p:cNvPr>
          <p:cNvSpPr>
            <a:spLocks noGrp="1"/>
          </p:cNvSpPr>
          <p:nvPr>
            <p:ph type="body" sz="quarter" idx="3"/>
          </p:nvPr>
        </p:nvSpPr>
        <p:spPr/>
        <p:txBody>
          <a:bodyPr>
            <a:normAutofit fontScale="92500" lnSpcReduction="20000"/>
          </a:bodyPr>
          <a:lstStyle/>
          <a:p>
            <a:r>
              <a:rPr lang="en-US" dirty="0"/>
              <a:t>CL image with showing how analysis points projected to blue line and distance from cube corner measured</a:t>
            </a:r>
          </a:p>
        </p:txBody>
      </p:sp>
      <p:pic>
        <p:nvPicPr>
          <p:cNvPr id="8" name="图片 5">
            <a:extLst>
              <a:ext uri="{FF2B5EF4-FFF2-40B4-BE49-F238E27FC236}">
                <a16:creationId xmlns:a16="http://schemas.microsoft.com/office/drawing/2014/main" id="{ED3A53C5-8F50-C917-9850-3B18FA039863}"/>
              </a:ext>
            </a:extLst>
          </p:cNvPr>
          <p:cNvPicPr>
            <a:picLocks noGrp="1" noChangeAspect="1"/>
          </p:cNvPicPr>
          <p:nvPr>
            <p:ph sz="quarter" idx="4"/>
          </p:nvPr>
        </p:nvPicPr>
        <p:blipFill>
          <a:blip r:embed="rId3"/>
          <a:stretch>
            <a:fillRect/>
          </a:stretch>
        </p:blipFill>
        <p:spPr>
          <a:xfrm>
            <a:off x="6357314" y="2505075"/>
            <a:ext cx="4812959" cy="3684588"/>
          </a:xfrm>
          <a:prstGeom prst="rect">
            <a:avLst/>
          </a:prstGeom>
        </p:spPr>
      </p:pic>
      <p:sp>
        <p:nvSpPr>
          <p:cNvPr id="5" name="Slide Number Placeholder 4">
            <a:extLst>
              <a:ext uri="{FF2B5EF4-FFF2-40B4-BE49-F238E27FC236}">
                <a16:creationId xmlns:a16="http://schemas.microsoft.com/office/drawing/2014/main" id="{D1DA64A1-B898-140E-05F5-791294AB8DC2}"/>
              </a:ext>
            </a:extLst>
          </p:cNvPr>
          <p:cNvSpPr>
            <a:spLocks noGrp="1"/>
          </p:cNvSpPr>
          <p:nvPr>
            <p:ph type="sldNum" sz="quarter" idx="12"/>
          </p:nvPr>
        </p:nvSpPr>
        <p:spPr/>
        <p:txBody>
          <a:bodyPr/>
          <a:lstStyle/>
          <a:p>
            <a:fld id="{18D65601-5AE2-46FC-B138-694DDD2B510D}" type="slidenum">
              <a:rPr lang="en-US" smtClean="0"/>
              <a:pPr/>
              <a:t>22</a:t>
            </a:fld>
            <a:endParaRPr lang="en-US"/>
          </a:p>
        </p:txBody>
      </p:sp>
    </p:spTree>
    <p:extLst>
      <p:ext uri="{BB962C8B-B14F-4D97-AF65-F5344CB8AC3E}">
        <p14:creationId xmlns:p14="http://schemas.microsoft.com/office/powerpoint/2010/main" val="352163462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CF0DAB-19A3-64CA-9768-CBC99351F504}"/>
              </a:ext>
            </a:extLst>
          </p:cNvPr>
          <p:cNvSpPr>
            <a:spLocks noGrp="1"/>
          </p:cNvSpPr>
          <p:nvPr>
            <p:ph type="title"/>
          </p:nvPr>
        </p:nvSpPr>
        <p:spPr>
          <a:xfrm>
            <a:off x="692332" y="503852"/>
            <a:ext cx="11044744" cy="1427585"/>
          </a:xfrm>
        </p:spPr>
        <p:txBody>
          <a:bodyPr/>
          <a:lstStyle/>
          <a:p>
            <a:pPr algn="ctr"/>
            <a:r>
              <a:rPr lang="en-US" dirty="0"/>
              <a:t>Homogeneous or heterogeneous model of replacement?</a:t>
            </a:r>
          </a:p>
        </p:txBody>
      </p:sp>
      <p:sp>
        <p:nvSpPr>
          <p:cNvPr id="6" name="Content Placeholder 5">
            <a:extLst>
              <a:ext uri="{FF2B5EF4-FFF2-40B4-BE49-F238E27FC236}">
                <a16:creationId xmlns:a16="http://schemas.microsoft.com/office/drawing/2014/main" id="{97A03063-F22E-A4EE-C900-D1CEDB7DF4B9}"/>
              </a:ext>
            </a:extLst>
          </p:cNvPr>
          <p:cNvSpPr>
            <a:spLocks noGrp="1"/>
          </p:cNvSpPr>
          <p:nvPr>
            <p:ph sz="quarter" idx="12"/>
          </p:nvPr>
        </p:nvSpPr>
        <p:spPr>
          <a:xfrm>
            <a:off x="692331" y="2057401"/>
            <a:ext cx="5403669" cy="4538112"/>
          </a:xfrm>
        </p:spPr>
        <p:txBody>
          <a:bodyPr vert="horz" lIns="0" tIns="45720" rIns="91440" bIns="45720" rtlCol="0" anchor="t">
            <a:normAutofit fontScale="85000" lnSpcReduction="20000"/>
          </a:bodyPr>
          <a:lstStyle/>
          <a:p>
            <a:pPr marL="342900" indent="-342900">
              <a:buFont typeface="Arial" panose="020B0604020202020204" pitchFamily="34" charset="0"/>
              <a:buChar char="•"/>
            </a:pPr>
            <a:r>
              <a:rPr lang="en-US" dirty="0"/>
              <a:t>In a </a:t>
            </a:r>
            <a:r>
              <a:rPr lang="en-US" b="1" dirty="0"/>
              <a:t>homogeneous model</a:t>
            </a:r>
            <a:r>
              <a:rPr lang="en-US" dirty="0"/>
              <a:t> (batch equilibrium) the precipitated phases will continuously </a:t>
            </a:r>
            <a:r>
              <a:rPr lang="en-US" dirty="0" err="1"/>
              <a:t>reequilibrate</a:t>
            </a:r>
            <a:r>
              <a:rPr lang="en-US" dirty="0"/>
              <a:t> with the fluid as the isotopic composition of the fluid evolves.</a:t>
            </a:r>
          </a:p>
          <a:p>
            <a:pPr marL="342900" indent="-342900">
              <a:buFont typeface="Arial" panose="020B0604020202020204" pitchFamily="34" charset="0"/>
              <a:buChar char="•"/>
            </a:pPr>
            <a:r>
              <a:rPr lang="en-US" dirty="0"/>
              <a:t>In the </a:t>
            </a:r>
            <a:r>
              <a:rPr lang="en-US" b="1" dirty="0"/>
              <a:t>heterogeneous model </a:t>
            </a:r>
            <a:r>
              <a:rPr lang="en-US" dirty="0"/>
              <a:t>there is no back-reaction of precipitated minerals with fluid.</a:t>
            </a:r>
          </a:p>
          <a:p>
            <a:pPr marL="342900" indent="-342900">
              <a:buFont typeface="Arial" panose="020B0604020202020204" pitchFamily="34" charset="0"/>
              <a:buChar char="•"/>
            </a:pPr>
            <a:r>
              <a:rPr lang="en-US" dirty="0"/>
              <a:t>SIMS analysis of the Zir-015 run product cube shows the replacement zone is relatively flat at high </a:t>
            </a:r>
            <a:r>
              <a:rPr lang="el-GR" dirty="0">
                <a:latin typeface="Calibri" panose="020F0502020204030204" pitchFamily="34" charset="0"/>
                <a:ea typeface="Calibri" panose="020F0502020204030204" pitchFamily="34" charset="0"/>
                <a:cs typeface="Calibri" panose="020F0502020204030204" pitchFamily="34" charset="0"/>
              </a:rPr>
              <a:t>δ</a:t>
            </a:r>
            <a:r>
              <a:rPr lang="en-US" baseline="30000" dirty="0"/>
              <a:t>29</a:t>
            </a:r>
            <a:r>
              <a:rPr lang="en-US" dirty="0"/>
              <a:t>Si, transitions to lower values across a ~50 um -wide reaction front, then plateaus at a low value in the unaltered zone.</a:t>
            </a:r>
          </a:p>
          <a:p>
            <a:pPr marL="342900" indent="-342900">
              <a:buFont typeface="Arial" panose="020B0604020202020204" pitchFamily="34" charset="0"/>
              <a:buChar char="•"/>
            </a:pPr>
            <a:r>
              <a:rPr lang="en-US" sz="2100" dirty="0"/>
              <a:t>Oxygen isotopes show a similar pattern.</a:t>
            </a:r>
          </a:p>
          <a:p>
            <a:pPr marL="342900" indent="-342900">
              <a:buFont typeface="Arial" panose="020B0604020202020204" pitchFamily="34" charset="0"/>
              <a:buChar char="•"/>
            </a:pPr>
            <a:r>
              <a:rPr lang="en-US" sz="2100" dirty="0"/>
              <a:t>The large isotopic shifts in our experiments can be explained using a homogeneous model. </a:t>
            </a:r>
          </a:p>
          <a:p>
            <a:endParaRPr lang="en-US" dirty="0"/>
          </a:p>
        </p:txBody>
      </p:sp>
      <p:pic>
        <p:nvPicPr>
          <p:cNvPr id="11" name="Content Placeholder 10">
            <a:extLst>
              <a:ext uri="{FF2B5EF4-FFF2-40B4-BE49-F238E27FC236}">
                <a16:creationId xmlns:a16="http://schemas.microsoft.com/office/drawing/2014/main" id="{3E0915E6-FAA1-00F7-4CBC-D229C90F8F0F}"/>
              </a:ext>
            </a:extLst>
          </p:cNvPr>
          <p:cNvPicPr>
            <a:picLocks noGrp="1" noChangeAspect="1"/>
          </p:cNvPicPr>
          <p:nvPr>
            <p:ph sz="quarter" idx="11"/>
          </p:nvPr>
        </p:nvPicPr>
        <p:blipFill>
          <a:blip r:embed="rId2"/>
          <a:stretch>
            <a:fillRect/>
          </a:stretch>
        </p:blipFill>
        <p:spPr>
          <a:xfrm>
            <a:off x="6096000" y="2387416"/>
            <a:ext cx="5902484" cy="3549360"/>
          </a:xfrm>
          <a:prstGeom prst="rect">
            <a:avLst/>
          </a:prstGeom>
        </p:spPr>
      </p:pic>
      <p:pic>
        <p:nvPicPr>
          <p:cNvPr id="12" name="Picture 11">
            <a:extLst>
              <a:ext uri="{FF2B5EF4-FFF2-40B4-BE49-F238E27FC236}">
                <a16:creationId xmlns:a16="http://schemas.microsoft.com/office/drawing/2014/main" id="{E66E2369-8DA5-6DB5-C5D9-224A890A17CB}"/>
              </a:ext>
            </a:extLst>
          </p:cNvPr>
          <p:cNvPicPr>
            <a:picLocks noChangeAspect="1"/>
          </p:cNvPicPr>
          <p:nvPr/>
        </p:nvPicPr>
        <p:blipFill>
          <a:blip r:embed="rId3"/>
          <a:stretch>
            <a:fillRect/>
          </a:stretch>
        </p:blipFill>
        <p:spPr>
          <a:xfrm>
            <a:off x="6095999" y="3177669"/>
            <a:ext cx="5641077" cy="3543808"/>
          </a:xfrm>
          <a:prstGeom prst="rect">
            <a:avLst/>
          </a:prstGeom>
        </p:spPr>
      </p:pic>
    </p:spTree>
    <p:extLst>
      <p:ext uri="{BB962C8B-B14F-4D97-AF65-F5344CB8AC3E}">
        <p14:creationId xmlns:p14="http://schemas.microsoft.com/office/powerpoint/2010/main" val="17867208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A2D807-7FFB-4ADA-9D48-4A72CA7DA73D}"/>
              </a:ext>
            </a:extLst>
          </p:cNvPr>
          <p:cNvSpPr>
            <a:spLocks noGrp="1"/>
          </p:cNvSpPr>
          <p:nvPr>
            <p:ph type="title"/>
          </p:nvPr>
        </p:nvSpPr>
        <p:spPr>
          <a:xfrm>
            <a:off x="0" y="-422353"/>
            <a:ext cx="8188960" cy="1929384"/>
          </a:xfrm>
        </p:spPr>
        <p:txBody>
          <a:bodyPr anchor="ctr">
            <a:normAutofit/>
          </a:bodyPr>
          <a:lstStyle/>
          <a:p>
            <a:pPr algn="ctr"/>
            <a:r>
              <a:rPr lang="en-US" sz="3200" dirty="0">
                <a:latin typeface="Arial" panose="020B0604020202020204" pitchFamily="34" charset="0"/>
                <a:cs typeface="Arial" panose="020B0604020202020204" pitchFamily="34" charset="0"/>
              </a:rPr>
              <a:t>Trace element and U-Pb geochronology</a:t>
            </a:r>
          </a:p>
        </p:txBody>
      </p:sp>
      <p:sp>
        <p:nvSpPr>
          <p:cNvPr id="3" name="Content Placeholder 2">
            <a:extLst>
              <a:ext uri="{FF2B5EF4-FFF2-40B4-BE49-F238E27FC236}">
                <a16:creationId xmlns:a16="http://schemas.microsoft.com/office/drawing/2014/main" id="{71E2E81F-4B39-2466-3990-6AAEB36B1C1F}"/>
              </a:ext>
            </a:extLst>
          </p:cNvPr>
          <p:cNvSpPr>
            <a:spLocks noGrp="1"/>
          </p:cNvSpPr>
          <p:nvPr>
            <p:ph idx="1"/>
          </p:nvPr>
        </p:nvSpPr>
        <p:spPr>
          <a:xfrm>
            <a:off x="5664916" y="1562935"/>
            <a:ext cx="6080044" cy="2164944"/>
          </a:xfrm>
        </p:spPr>
        <p:txBody>
          <a:bodyPr anchor="ctr">
            <a:normAutofit fontScale="92500"/>
          </a:bodyPr>
          <a:lstStyle/>
          <a:p>
            <a:r>
              <a:rPr lang="en-US" altLang="zh-CN" sz="2200" dirty="0">
                <a:latin typeface="Arial"/>
                <a:ea typeface="Baskerville" panose="02020502070401020303" pitchFamily="18" charset="0"/>
                <a:cs typeface="Arial"/>
              </a:rPr>
              <a:t>EDS and results demonstrate the replacement of </a:t>
            </a:r>
            <a:r>
              <a:rPr lang="en-US" altLang="zh-CN" sz="2200">
                <a:latin typeface="Arial"/>
                <a:ea typeface="Baskerville" panose="02020502070401020303" pitchFamily="18" charset="0"/>
                <a:cs typeface="Arial"/>
              </a:rPr>
              <a:t>hydrothermal zircon </a:t>
            </a:r>
            <a:r>
              <a:rPr lang="en-US" altLang="zh-CN" sz="2200" dirty="0">
                <a:latin typeface="Arial"/>
                <a:ea typeface="Baskerville" panose="02020502070401020303" pitchFamily="18" charset="0"/>
                <a:cs typeface="Arial"/>
              </a:rPr>
              <a:t>is accompanied by the expulsion of trace elements. </a:t>
            </a:r>
          </a:p>
          <a:p>
            <a:r>
              <a:rPr lang="en-US" altLang="zh-CN" sz="2200" dirty="0">
                <a:latin typeface="Arial" panose="020B0604020202020204" pitchFamily="34" charset="0"/>
                <a:ea typeface="Baskerville" panose="02020502070401020303" pitchFamily="18" charset="0"/>
                <a:cs typeface="Arial" panose="020B0604020202020204" pitchFamily="34" charset="0"/>
              </a:rPr>
              <a:t>Preliminary results from SIMS analysis show recrystallized domain have less U, Th, and Pb.</a:t>
            </a:r>
          </a:p>
          <a:p>
            <a:r>
              <a:rPr lang="en-US" altLang="zh-CN" sz="2200" dirty="0">
                <a:latin typeface="Arial" panose="020B0604020202020204" pitchFamily="34" charset="0"/>
                <a:ea typeface="Baskerville" panose="02020502070401020303" pitchFamily="18" charset="0"/>
                <a:cs typeface="Arial" panose="020B0604020202020204" pitchFamily="34" charset="0"/>
              </a:rPr>
              <a:t>The replacement phase is more discordant.</a:t>
            </a:r>
            <a:endParaRPr lang="en-US" sz="2200" dirty="0">
              <a:latin typeface="Arial" panose="020B0604020202020204" pitchFamily="34" charset="0"/>
              <a:cs typeface="Arial" panose="020B0604020202020204" pitchFamily="34" charset="0"/>
            </a:endParaRPr>
          </a:p>
        </p:txBody>
      </p:sp>
      <p:grpSp>
        <p:nvGrpSpPr>
          <p:cNvPr id="13" name="组合 12">
            <a:extLst>
              <a:ext uri="{FF2B5EF4-FFF2-40B4-BE49-F238E27FC236}">
                <a16:creationId xmlns:a16="http://schemas.microsoft.com/office/drawing/2014/main" id="{C5851357-4CDC-50E4-42ED-128E5C8AE8BD}"/>
              </a:ext>
            </a:extLst>
          </p:cNvPr>
          <p:cNvGrpSpPr>
            <a:grpSpLocks noChangeAspect="1"/>
          </p:cNvGrpSpPr>
          <p:nvPr/>
        </p:nvGrpSpPr>
        <p:grpSpPr>
          <a:xfrm>
            <a:off x="10473753" y="164059"/>
            <a:ext cx="1626023" cy="1507500"/>
            <a:chOff x="9129476" y="3967413"/>
            <a:chExt cx="2930867" cy="2717232"/>
          </a:xfrm>
        </p:grpSpPr>
        <p:pic>
          <p:nvPicPr>
            <p:cNvPr id="5" name="图片 4">
              <a:extLst>
                <a:ext uri="{FF2B5EF4-FFF2-40B4-BE49-F238E27FC236}">
                  <a16:creationId xmlns:a16="http://schemas.microsoft.com/office/drawing/2014/main" id="{74F1FC31-F9C7-7800-2246-6056C5600494}"/>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9129476" y="3967413"/>
              <a:ext cx="2844142" cy="2164944"/>
            </a:xfrm>
            <a:prstGeom prst="rect">
              <a:avLst/>
            </a:prstGeom>
          </p:spPr>
        </p:pic>
        <p:pic>
          <p:nvPicPr>
            <p:cNvPr id="8" name="Picture 6" descr="KOREA BASIC SCIENCE INSTITUE">
              <a:extLst>
                <a:ext uri="{FF2B5EF4-FFF2-40B4-BE49-F238E27FC236}">
                  <a16:creationId xmlns:a16="http://schemas.microsoft.com/office/drawing/2014/main" id="{670EC145-098A-C67C-D385-6566D2767F88}"/>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9150076" y="6259550"/>
              <a:ext cx="2910267" cy="425095"/>
            </a:xfrm>
            <a:prstGeom prst="rect">
              <a:avLst/>
            </a:prstGeom>
            <a:noFill/>
            <a:extLst>
              <a:ext uri="{909E8E84-426E-40DD-AFC4-6F175D3DCCD1}">
                <a14:hiddenFill xmlns:a14="http://schemas.microsoft.com/office/drawing/2010/main">
                  <a:solidFill>
                    <a:srgbClr val="FFFFFF"/>
                  </a:solidFill>
                </a14:hiddenFill>
              </a:ext>
            </a:extLst>
          </p:spPr>
        </p:pic>
      </p:grpSp>
      <p:graphicFrame>
        <p:nvGraphicFramePr>
          <p:cNvPr id="11" name="对象 10">
            <a:extLst>
              <a:ext uri="{FF2B5EF4-FFF2-40B4-BE49-F238E27FC236}">
                <a16:creationId xmlns:a16="http://schemas.microsoft.com/office/drawing/2014/main" id="{1740FFCC-EB4C-2583-6ECC-ED3BF5DC14CA}"/>
              </a:ext>
            </a:extLst>
          </p:cNvPr>
          <p:cNvGraphicFramePr>
            <a:graphicFrameLocks noChangeAspect="1"/>
          </p:cNvGraphicFramePr>
          <p:nvPr/>
        </p:nvGraphicFramePr>
        <p:xfrm>
          <a:off x="447040" y="1154448"/>
          <a:ext cx="4967193" cy="2637553"/>
        </p:xfrm>
        <a:graphic>
          <a:graphicData uri="http://schemas.openxmlformats.org/presentationml/2006/ole">
            <mc:AlternateContent xmlns:mc="http://schemas.openxmlformats.org/markup-compatibility/2006">
              <mc:Choice xmlns:v="urn:schemas-microsoft-com:vml" Requires="v">
                <p:oleObj name="CorelDRAW" r:id="rId5" imgW="6607354" imgH="3508759" progId="CorelDraw.Graphic.25">
                  <p:embed/>
                </p:oleObj>
              </mc:Choice>
              <mc:Fallback>
                <p:oleObj name="CorelDRAW" r:id="rId5" imgW="6607354" imgH="3508759" progId="CorelDraw.Graphic.25">
                  <p:embed/>
                  <p:pic>
                    <p:nvPicPr>
                      <p:cNvPr id="11" name="对象 10">
                        <a:extLst>
                          <a:ext uri="{FF2B5EF4-FFF2-40B4-BE49-F238E27FC236}">
                            <a16:creationId xmlns:a16="http://schemas.microsoft.com/office/drawing/2014/main" id="{1740FFCC-EB4C-2583-6ECC-ED3BF5DC14CA}"/>
                          </a:ext>
                        </a:extLst>
                      </p:cNvPr>
                      <p:cNvPicPr/>
                      <p:nvPr/>
                    </p:nvPicPr>
                    <p:blipFill>
                      <a:blip r:embed="rId6"/>
                      <a:stretch>
                        <a:fillRect/>
                      </a:stretch>
                    </p:blipFill>
                    <p:spPr>
                      <a:xfrm>
                        <a:off x="447040" y="1154448"/>
                        <a:ext cx="4967193" cy="2637553"/>
                      </a:xfrm>
                      <a:prstGeom prst="rect">
                        <a:avLst/>
                      </a:prstGeom>
                    </p:spPr>
                  </p:pic>
                </p:oleObj>
              </mc:Fallback>
            </mc:AlternateContent>
          </a:graphicData>
        </a:graphic>
      </p:graphicFrame>
      <p:graphicFrame>
        <p:nvGraphicFramePr>
          <p:cNvPr id="12" name="对象 11">
            <a:extLst>
              <a:ext uri="{FF2B5EF4-FFF2-40B4-BE49-F238E27FC236}">
                <a16:creationId xmlns:a16="http://schemas.microsoft.com/office/drawing/2014/main" id="{D8D26A58-E401-6BB4-5434-D853CF3B95AD}"/>
              </a:ext>
            </a:extLst>
          </p:cNvPr>
          <p:cNvGraphicFramePr>
            <a:graphicFrameLocks noChangeAspect="1"/>
          </p:cNvGraphicFramePr>
          <p:nvPr/>
        </p:nvGraphicFramePr>
        <p:xfrm>
          <a:off x="447040" y="3792001"/>
          <a:ext cx="4967193" cy="2671541"/>
        </p:xfrm>
        <a:graphic>
          <a:graphicData uri="http://schemas.openxmlformats.org/presentationml/2006/ole">
            <mc:AlternateContent xmlns:mc="http://schemas.openxmlformats.org/markup-compatibility/2006">
              <mc:Choice xmlns:v="urn:schemas-microsoft-com:vml" Requires="v">
                <p:oleObj name="CorelDRAW" r:id="rId7" imgW="6650440" imgH="3576308" progId="CorelDraw.Graphic.25">
                  <p:embed/>
                </p:oleObj>
              </mc:Choice>
              <mc:Fallback>
                <p:oleObj name="CorelDRAW" r:id="rId7" imgW="6650440" imgH="3576308" progId="CorelDraw.Graphic.25">
                  <p:embed/>
                  <p:pic>
                    <p:nvPicPr>
                      <p:cNvPr id="12" name="对象 11">
                        <a:extLst>
                          <a:ext uri="{FF2B5EF4-FFF2-40B4-BE49-F238E27FC236}">
                            <a16:creationId xmlns:a16="http://schemas.microsoft.com/office/drawing/2014/main" id="{D8D26A58-E401-6BB4-5434-D853CF3B95AD}"/>
                          </a:ext>
                        </a:extLst>
                      </p:cNvPr>
                      <p:cNvPicPr/>
                      <p:nvPr/>
                    </p:nvPicPr>
                    <p:blipFill>
                      <a:blip r:embed="rId8"/>
                      <a:stretch>
                        <a:fillRect/>
                      </a:stretch>
                    </p:blipFill>
                    <p:spPr>
                      <a:xfrm>
                        <a:off x="447040" y="3792001"/>
                        <a:ext cx="4967193" cy="2671541"/>
                      </a:xfrm>
                      <a:prstGeom prst="rect">
                        <a:avLst/>
                      </a:prstGeom>
                    </p:spPr>
                  </p:pic>
                </p:oleObj>
              </mc:Fallback>
            </mc:AlternateContent>
          </a:graphicData>
        </a:graphic>
      </p:graphicFrame>
      <p:graphicFrame>
        <p:nvGraphicFramePr>
          <p:cNvPr id="14" name="对象 13">
            <a:extLst>
              <a:ext uri="{FF2B5EF4-FFF2-40B4-BE49-F238E27FC236}">
                <a16:creationId xmlns:a16="http://schemas.microsoft.com/office/drawing/2014/main" id="{055D277C-8EC8-9742-A929-0C7F76A436F7}"/>
              </a:ext>
            </a:extLst>
          </p:cNvPr>
          <p:cNvGraphicFramePr>
            <a:graphicFrameLocks noChangeAspect="1"/>
          </p:cNvGraphicFramePr>
          <p:nvPr/>
        </p:nvGraphicFramePr>
        <p:xfrm>
          <a:off x="6096000" y="3792001"/>
          <a:ext cx="4972430" cy="2671200"/>
        </p:xfrm>
        <a:graphic>
          <a:graphicData uri="http://schemas.openxmlformats.org/presentationml/2006/ole">
            <mc:AlternateContent xmlns:mc="http://schemas.openxmlformats.org/markup-compatibility/2006">
              <mc:Choice xmlns:v="urn:schemas-microsoft-com:vml" Requires="v">
                <p:oleObj name="CorelDRAW" r:id="rId9" imgW="6593623" imgH="3541106" progId="CorelDraw.Graphic.25">
                  <p:embed/>
                </p:oleObj>
              </mc:Choice>
              <mc:Fallback>
                <p:oleObj name="CorelDRAW" r:id="rId9" imgW="6593623" imgH="3541106" progId="CorelDraw.Graphic.25">
                  <p:embed/>
                  <p:pic>
                    <p:nvPicPr>
                      <p:cNvPr id="14" name="对象 13">
                        <a:extLst>
                          <a:ext uri="{FF2B5EF4-FFF2-40B4-BE49-F238E27FC236}">
                            <a16:creationId xmlns:a16="http://schemas.microsoft.com/office/drawing/2014/main" id="{055D277C-8EC8-9742-A929-0C7F76A436F7}"/>
                          </a:ext>
                        </a:extLst>
                      </p:cNvPr>
                      <p:cNvPicPr/>
                      <p:nvPr/>
                    </p:nvPicPr>
                    <p:blipFill>
                      <a:blip r:embed="rId10"/>
                      <a:stretch>
                        <a:fillRect/>
                      </a:stretch>
                    </p:blipFill>
                    <p:spPr>
                      <a:xfrm>
                        <a:off x="6096000" y="3792001"/>
                        <a:ext cx="4972430" cy="2671200"/>
                      </a:xfrm>
                      <a:prstGeom prst="rect">
                        <a:avLst/>
                      </a:prstGeom>
                    </p:spPr>
                  </p:pic>
                </p:oleObj>
              </mc:Fallback>
            </mc:AlternateContent>
          </a:graphicData>
        </a:graphic>
      </p:graphicFrame>
    </p:spTree>
    <p:extLst>
      <p:ext uri="{BB962C8B-B14F-4D97-AF65-F5344CB8AC3E}">
        <p14:creationId xmlns:p14="http://schemas.microsoft.com/office/powerpoint/2010/main" val="112479937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97580-531E-D73E-0FAF-C02FE274D30A}"/>
              </a:ext>
            </a:extLst>
          </p:cNvPr>
          <p:cNvSpPr>
            <a:spLocks noGrp="1"/>
          </p:cNvSpPr>
          <p:nvPr>
            <p:ph type="title"/>
          </p:nvPr>
        </p:nvSpPr>
        <p:spPr/>
        <p:txBody>
          <a:bodyPr/>
          <a:lstStyle/>
          <a:p>
            <a:pPr algn="ctr"/>
            <a:r>
              <a:rPr lang="en-US"/>
              <a:t>Conclusions</a:t>
            </a:r>
          </a:p>
        </p:txBody>
      </p:sp>
      <p:sp>
        <p:nvSpPr>
          <p:cNvPr id="3" name="Content Placeholder 2">
            <a:extLst>
              <a:ext uri="{FF2B5EF4-FFF2-40B4-BE49-F238E27FC236}">
                <a16:creationId xmlns:a16="http://schemas.microsoft.com/office/drawing/2014/main" id="{FAA45A6A-B294-871C-16D3-11B220358528}"/>
              </a:ext>
            </a:extLst>
          </p:cNvPr>
          <p:cNvSpPr>
            <a:spLocks noGrp="1"/>
          </p:cNvSpPr>
          <p:nvPr>
            <p:ph sz="quarter" idx="12"/>
          </p:nvPr>
        </p:nvSpPr>
        <p:spPr>
          <a:xfrm>
            <a:off x="1450153" y="2108722"/>
            <a:ext cx="10214978" cy="4119463"/>
          </a:xfrm>
        </p:spPr>
        <p:txBody>
          <a:bodyPr>
            <a:normAutofit/>
          </a:bodyPr>
          <a:lstStyle/>
          <a:p>
            <a:r>
              <a:rPr lang="en-US" sz="2400" dirty="0"/>
              <a:t>Hydrothermal fluids can cause replacement of radiation-damaged zircon by crystalline hydrothermal zircon. </a:t>
            </a:r>
          </a:p>
          <a:p>
            <a:r>
              <a:rPr lang="en-US" sz="2400" dirty="0"/>
              <a:t>A new stable isotope method was used to measure the rate of replacement.</a:t>
            </a:r>
          </a:p>
          <a:p>
            <a:r>
              <a:rPr lang="en-US" sz="2400" dirty="0"/>
              <a:t>Replacement rate increases as degree of radiation damage increases.</a:t>
            </a:r>
          </a:p>
          <a:p>
            <a:r>
              <a:rPr lang="en-US" sz="2400" dirty="0"/>
              <a:t>Hydrothermal zircon may form through replacement of metamict ZrSiO</a:t>
            </a:r>
            <a:r>
              <a:rPr lang="en-US" sz="2400" baseline="-25000" dirty="0"/>
              <a:t>4</a:t>
            </a:r>
            <a:r>
              <a:rPr lang="en-US" sz="2400" dirty="0"/>
              <a:t>.</a:t>
            </a:r>
          </a:p>
          <a:p>
            <a:r>
              <a:rPr lang="en-US" sz="2400" dirty="0"/>
              <a:t>Replacement zone U-Pb age = timing of fluid event.</a:t>
            </a:r>
          </a:p>
          <a:p>
            <a:r>
              <a:rPr lang="en-US" sz="2400" dirty="0"/>
              <a:t>Future work: use SIMS to measure oxygen isotope composition of quenched solutes and do depth profiling on thin rims.</a:t>
            </a:r>
          </a:p>
        </p:txBody>
      </p:sp>
    </p:spTree>
    <p:extLst>
      <p:ext uri="{BB962C8B-B14F-4D97-AF65-F5344CB8AC3E}">
        <p14:creationId xmlns:p14="http://schemas.microsoft.com/office/powerpoint/2010/main" val="38898211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0F0A7C-474B-67F0-5702-5C788DCECB65}"/>
              </a:ext>
            </a:extLst>
          </p:cNvPr>
          <p:cNvSpPr>
            <a:spLocks noGrp="1"/>
          </p:cNvSpPr>
          <p:nvPr>
            <p:ph type="title"/>
          </p:nvPr>
        </p:nvSpPr>
        <p:spPr/>
        <p:txBody>
          <a:bodyPr/>
          <a:lstStyle/>
          <a:p>
            <a:pPr algn="ctr"/>
            <a:r>
              <a:rPr lang="en-US" dirty="0"/>
              <a:t>Acknowledgements</a:t>
            </a:r>
          </a:p>
        </p:txBody>
      </p:sp>
      <p:sp>
        <p:nvSpPr>
          <p:cNvPr id="3" name="Content Placeholder 2">
            <a:extLst>
              <a:ext uri="{FF2B5EF4-FFF2-40B4-BE49-F238E27FC236}">
                <a16:creationId xmlns:a16="http://schemas.microsoft.com/office/drawing/2014/main" id="{07CB0A6E-50DF-A291-576A-026A3F716B2C}"/>
              </a:ext>
            </a:extLst>
          </p:cNvPr>
          <p:cNvSpPr>
            <a:spLocks noGrp="1"/>
          </p:cNvSpPr>
          <p:nvPr>
            <p:ph sz="quarter" idx="10"/>
          </p:nvPr>
        </p:nvSpPr>
        <p:spPr/>
        <p:txBody>
          <a:bodyPr>
            <a:normAutofit/>
          </a:bodyPr>
          <a:lstStyle/>
          <a:p>
            <a:r>
              <a:rPr lang="en-US" sz="2400" dirty="0"/>
              <a:t>Funding provided by funded by NSF EAR (2221906, 2221907) to Ayers and Zhu.</a:t>
            </a:r>
          </a:p>
          <a:p>
            <a:r>
              <a:rPr lang="en-US" sz="2400" dirty="0"/>
              <a:t>Thanks to Yunbin Guan at Caltech for help with SIMS analyses, James McBride at Vanderbilt Institute for Nanoscale Science and Engineering for SEM assistance, and Anthony Menicucci and Morgan Harris in Vanderbilt Earth and Environmental Sciences for SEM assistance. </a:t>
            </a:r>
          </a:p>
        </p:txBody>
      </p:sp>
      <p:pic>
        <p:nvPicPr>
          <p:cNvPr id="7" name="Content Placeholder 6" descr="A close up of logos&#10;&#10;AI-generated content may be incorrect.">
            <a:extLst>
              <a:ext uri="{FF2B5EF4-FFF2-40B4-BE49-F238E27FC236}">
                <a16:creationId xmlns:a16="http://schemas.microsoft.com/office/drawing/2014/main" id="{53BC1870-62D3-E740-ED6F-7302BAC3102A}"/>
              </a:ext>
            </a:extLst>
          </p:cNvPr>
          <p:cNvPicPr>
            <a:picLocks noGrp="1" noChangeAspect="1"/>
          </p:cNvPicPr>
          <p:nvPr>
            <p:ph sz="quarter" idx="11"/>
          </p:nvPr>
        </p:nvPicPr>
        <p:blipFill>
          <a:blip r:embed="rId2"/>
          <a:stretch>
            <a:fillRect/>
          </a:stretch>
        </p:blipFill>
        <p:spPr>
          <a:xfrm>
            <a:off x="8127697" y="2618509"/>
            <a:ext cx="3975726" cy="2308055"/>
          </a:xfrm>
        </p:spPr>
      </p:pic>
    </p:spTree>
    <p:extLst>
      <p:ext uri="{BB962C8B-B14F-4D97-AF65-F5344CB8AC3E}">
        <p14:creationId xmlns:p14="http://schemas.microsoft.com/office/powerpoint/2010/main" val="2375375111"/>
      </p:ext>
    </p:extLst>
  </p:cSld>
  <p:clrMapOvr>
    <a:masterClrMapping/>
  </p:clrMapOvr>
</p:sld>
</file>

<file path=ppt/theme/theme1.xml><?xml version="1.0" encoding="utf-8"?>
<a:theme xmlns:a="http://schemas.openxmlformats.org/drawingml/2006/main" name="Custom">
  <a:themeElements>
    <a:clrScheme name="Custom 23">
      <a:dk1>
        <a:sysClr val="windowText" lastClr="000000"/>
      </a:dk1>
      <a:lt1>
        <a:sysClr val="window" lastClr="FFFFFF"/>
      </a:lt1>
      <a:dk2>
        <a:srgbClr val="44546A"/>
      </a:dk2>
      <a:lt2>
        <a:srgbClr val="E7E6E6"/>
      </a:lt2>
      <a:accent1>
        <a:srgbClr val="58696B"/>
      </a:accent1>
      <a:accent2>
        <a:srgbClr val="95B8BF"/>
      </a:accent2>
      <a:accent3>
        <a:srgbClr val="BFD4D9"/>
      </a:accent3>
      <a:accent4>
        <a:srgbClr val="5B4839"/>
      </a:accent4>
      <a:accent5>
        <a:srgbClr val="C3A398"/>
      </a:accent5>
      <a:accent6>
        <a:srgbClr val="CA553E"/>
      </a:accent6>
      <a:hlink>
        <a:srgbClr val="0563C1"/>
      </a:hlink>
      <a:folHlink>
        <a:srgbClr val="954F72"/>
      </a:folHlink>
    </a:clrScheme>
    <a:fontScheme name="Custom 30">
      <a:majorFont>
        <a:latin typeface="Tisa Offc Serif Pro"/>
        <a:ea typeface=""/>
        <a:cs typeface=""/>
      </a:majorFont>
      <a:minorFont>
        <a:latin typeface="Univers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ln>
          <a:solidFill>
            <a:schemeClr val="accent5">
              <a:lumMod val="20000"/>
              <a:lumOff val="80000"/>
            </a:schemeClr>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TM78544816_Win32_SL_V10" id="{8934A6D9-B969-498F-A646-4B502FD69C4E}" vid="{AA78C1C8-456D-41A9-83FC-BC8B9A8EE3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Narrow"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B69E9DE5-EFFE-4262-A023-32732F0B666C}">
  <ds:schemaRefs>
    <ds:schemaRef ds:uri="16c05727-aa75-4e4a-9b5f-8a80a1165891"/>
    <ds:schemaRef ds:uri="230e9df3-be65-4c73-a93b-d1236ebd677e"/>
    <ds:schemaRef ds:uri="71af3243-3dd4-4a8d-8c0d-dd76da1f02a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6DE3707C-8CAB-4302-B7E1-D32E1543E05C}">
  <ds:schemaRefs>
    <ds:schemaRef ds:uri="http://schemas.microsoft.com/sharepoint/v3/contenttype/forms"/>
  </ds:schemaRefs>
</ds:datastoreItem>
</file>

<file path=customXml/itemProps3.xml><?xml version="1.0" encoding="utf-8"?>
<ds:datastoreItem xmlns:ds="http://schemas.openxmlformats.org/officeDocument/2006/customXml" ds:itemID="{3FDB7358-0BCB-4DEB-B717-C1D7CC555F05}">
  <ds:schemaRefs>
    <ds:schemaRef ds:uri="230e9df3-be65-4c73-a93b-d1236ebd677e"/>
    <ds:schemaRef ds:uri="71af3243-3dd4-4a8d-8c0d-dd76da1f02a5"/>
    <ds:schemaRef ds:uri="http://schemas.microsoft.com/office/2006/metadata/properties"/>
    <ds:schemaRef ds:uri="http://schemas.microsoft.com/office/infopath/2007/PartnerControls"/>
    <ds:schemaRef ds:uri="http://schemas.microsoft.com/sharepoint/v3"/>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357</TotalTime>
  <Words>1421</Words>
  <Application>Microsoft Office PowerPoint</Application>
  <PresentationFormat>Widescreen</PresentationFormat>
  <Paragraphs>276</Paragraphs>
  <Slides>26</Slides>
  <Notes>8</Notes>
  <HiddenSlides>3</HiddenSlides>
  <MMClips>0</MMClips>
  <ScaleCrop>false</ScaleCrop>
  <HeadingPairs>
    <vt:vector size="8" baseType="variant">
      <vt:variant>
        <vt:lpstr>Fonts Used</vt:lpstr>
      </vt:variant>
      <vt:variant>
        <vt:i4>9</vt:i4>
      </vt:variant>
      <vt:variant>
        <vt:lpstr>Theme</vt:lpstr>
      </vt:variant>
      <vt:variant>
        <vt:i4>2</vt:i4>
      </vt:variant>
      <vt:variant>
        <vt:lpstr>Embedded OLE Servers</vt:lpstr>
      </vt:variant>
      <vt:variant>
        <vt:i4>1</vt:i4>
      </vt:variant>
      <vt:variant>
        <vt:lpstr>Slide Titles</vt:lpstr>
      </vt:variant>
      <vt:variant>
        <vt:i4>26</vt:i4>
      </vt:variant>
    </vt:vector>
  </HeadingPairs>
  <TitlesOfParts>
    <vt:vector size="38" baseType="lpstr">
      <vt:lpstr>Aptos</vt:lpstr>
      <vt:lpstr>Aptos Display</vt:lpstr>
      <vt:lpstr>Aptos Narrow</vt:lpstr>
      <vt:lpstr>Arial</vt:lpstr>
      <vt:lpstr>Baskerville</vt:lpstr>
      <vt:lpstr>Calibri</vt:lpstr>
      <vt:lpstr>Times New Roman</vt:lpstr>
      <vt:lpstr>Tisa Offc Serif Pro</vt:lpstr>
      <vt:lpstr>Univers Light</vt:lpstr>
      <vt:lpstr>Custom</vt:lpstr>
      <vt:lpstr>Office Theme</vt:lpstr>
      <vt:lpstr>CorelDRAW</vt:lpstr>
      <vt:lpstr>Stable isotope dilution approach to measuring mineral replacement rates at high P-T conditions: Replacement of metamict zircon by hydrothermal zircon</vt:lpstr>
      <vt:lpstr>Introduction</vt:lpstr>
      <vt:lpstr>Previous Research</vt:lpstr>
      <vt:lpstr>Zirconium phase solubilities: the driving force for replacement</vt:lpstr>
      <vt:lpstr>How we aim to better characterize the replacement of metamict zircon</vt:lpstr>
      <vt:lpstr>Solids characterization</vt:lpstr>
      <vt:lpstr>Degree of radiation damage from Raman spectroscopy</vt:lpstr>
      <vt:lpstr>AFG metamict ZrSiO4 heterogeneity</vt:lpstr>
      <vt:lpstr>Starting Materials</vt:lpstr>
      <vt:lpstr>PowerPoint Presentation</vt:lpstr>
      <vt:lpstr>List of experiments</vt:lpstr>
      <vt:lpstr>Evidence for dissolution of metamict zircon</vt:lpstr>
      <vt:lpstr>CL imaging of the replacement domain in run product grains</vt:lpstr>
      <vt:lpstr>Raman spectroscopy of different domains</vt:lpstr>
      <vt:lpstr>PowerPoint Presentation</vt:lpstr>
      <vt:lpstr>Stable Isotope Analysis</vt:lpstr>
      <vt:lpstr>Oxygen isotope results from capsule fluid</vt:lpstr>
      <vt:lpstr>PowerPoint Presentation</vt:lpstr>
      <vt:lpstr>Quenched solutes</vt:lpstr>
      <vt:lpstr>Percent Replacement Results for AFG at 800°C</vt:lpstr>
      <vt:lpstr>Replacement rates</vt:lpstr>
      <vt:lpstr>Reaction zone morphology: Zir-015</vt:lpstr>
      <vt:lpstr>Homogeneous or heterogeneous model of replacement?</vt:lpstr>
      <vt:lpstr>Trace element and U-Pb geochronology</vt:lpstr>
      <vt:lpstr>Conclusions</vt:lpstr>
      <vt:lpstr>Acknowledgements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Stable isotope dilution approach to measuring mineral replacement rates at high P-T conditions: Replacement of metamict zircon by hydrothermal zircon</dc:title>
  <dc:creator>Ayers, John C</dc:creator>
  <cp:lastModifiedBy>John Ayers</cp:lastModifiedBy>
  <cp:revision>3</cp:revision>
  <dcterms:created xsi:type="dcterms:W3CDTF">2025-12-08T13:42:52Z</dcterms:created>
  <dcterms:modified xsi:type="dcterms:W3CDTF">2026-08-10T15:37:46Z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